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ba147e6144263" /><Relationship Type="http://schemas.openxmlformats.org/officeDocument/2006/relationships/extended-properties" Target="/docProps/app.xml" Id="Rcc389943a1a540ca" /><Relationship Type="http://schemas.openxmlformats.org/officeDocument/2006/relationships/officeDocument" Target="/ppt/presentation.xml" Id="R0bd6216a54ce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0dbe597c684518"/>
  </p:sldMasterIdLst>
  <p:notesMasterIdLst>
    <p:notesMasterId xmlns:r="http://schemas.openxmlformats.org/officeDocument/2006/relationships" r:id="Rd4ac801d330f43dc"/>
  </p:notesMasterIdLst>
  <p:sldIdLst>
    <p:sldId xmlns:r="http://schemas.openxmlformats.org/officeDocument/2006/relationships" id="256" r:id="R30fe84bb060247b6"/>
    <p:sldId xmlns:r="http://schemas.openxmlformats.org/officeDocument/2006/relationships" id="257" r:id="R450a341e09804733"/>
    <p:sldId xmlns:r="http://schemas.openxmlformats.org/officeDocument/2006/relationships" id="258" r:id="R37c469a1fe5741b8"/>
    <p:sldId xmlns:r="http://schemas.openxmlformats.org/officeDocument/2006/relationships" id="259" r:id="R8825547f04f74772"/>
    <p:sldId xmlns:r="http://schemas.openxmlformats.org/officeDocument/2006/relationships" id="260" r:id="R6e7afa6a7ae74297"/>
    <p:sldId xmlns:r="http://schemas.openxmlformats.org/officeDocument/2006/relationships" id="261" r:id="R04fc80df30774240"/>
    <p:sldId xmlns:r="http://schemas.openxmlformats.org/officeDocument/2006/relationships" id="262" r:id="R467c0b398cec4a0e"/>
    <p:sldId xmlns:r="http://schemas.openxmlformats.org/officeDocument/2006/relationships" id="263" r:id="R68aca526247a47f0"/>
    <p:sldId xmlns:r="http://schemas.openxmlformats.org/officeDocument/2006/relationships" id="264" r:id="Rb7f94f7b2105496e"/>
    <p:sldId xmlns:r="http://schemas.openxmlformats.org/officeDocument/2006/relationships" id="265" r:id="Rf1eb7832c1914b65"/>
    <p:sldId xmlns:r="http://schemas.openxmlformats.org/officeDocument/2006/relationships" id="266" r:id="Rbc8c6ea1fb1940b6"/>
    <p:sldId xmlns:r="http://schemas.openxmlformats.org/officeDocument/2006/relationships" id="267" r:id="R65176bad8a294f37"/>
    <p:sldId xmlns:r="http://schemas.openxmlformats.org/officeDocument/2006/relationships" id="268" r:id="R13f668d0297f4d51"/>
    <p:sldId xmlns:r="http://schemas.openxmlformats.org/officeDocument/2006/relationships" id="269" r:id="R77c947030e6a4b14"/>
    <p:sldId xmlns:r="http://schemas.openxmlformats.org/officeDocument/2006/relationships" id="270" r:id="R3cd0103f0a374624"/>
    <p:sldId xmlns:r="http://schemas.openxmlformats.org/officeDocument/2006/relationships" id="271" r:id="R2cf44f1da13047fc"/>
    <p:sldId xmlns:r="http://schemas.openxmlformats.org/officeDocument/2006/relationships" id="272" r:id="R6db1a473bd1c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ff282894d4fb0" /><Relationship Type="http://schemas.openxmlformats.org/officeDocument/2006/relationships/slideMaster" Target="/ppt/slideMasters/slideMaster1.xml" Id="R240dbe597c684518" /><Relationship Type="http://schemas.openxmlformats.org/officeDocument/2006/relationships/notesMaster" Target="/ppt/notesMasters/notesMaster1.xml" Id="Rd4ac801d330f43dc" /><Relationship Type="http://schemas.openxmlformats.org/officeDocument/2006/relationships/presProps" Target="/ppt/presProps.xml" Id="Rd3cbc6ece99741d5" /><Relationship Type="http://schemas.openxmlformats.org/officeDocument/2006/relationships/tableStyles" Target="/ppt/tableStyles.xml" Id="R8488e12cfea7475d" /><Relationship Type="http://schemas.openxmlformats.org/officeDocument/2006/relationships/slide" Target="/ppt/slides/slide1.xml" Id="R30fe84bb060247b6" /><Relationship Type="http://schemas.openxmlformats.org/officeDocument/2006/relationships/slide" Target="/ppt/slides/slide2.xml" Id="R450a341e09804733" /><Relationship Type="http://schemas.openxmlformats.org/officeDocument/2006/relationships/slide" Target="/ppt/slides/slide3.xml" Id="R37c469a1fe5741b8" /><Relationship Type="http://schemas.openxmlformats.org/officeDocument/2006/relationships/slide" Target="/ppt/slides/slide4.xml" Id="R8825547f04f74772" /><Relationship Type="http://schemas.openxmlformats.org/officeDocument/2006/relationships/slide" Target="/ppt/slides/slide5.xml" Id="R6e7afa6a7ae74297" /><Relationship Type="http://schemas.openxmlformats.org/officeDocument/2006/relationships/slide" Target="/ppt/slides/slide6.xml" Id="R04fc80df30774240" /><Relationship Type="http://schemas.openxmlformats.org/officeDocument/2006/relationships/slide" Target="/ppt/slides/slide7.xml" Id="R467c0b398cec4a0e" /><Relationship Type="http://schemas.openxmlformats.org/officeDocument/2006/relationships/slide" Target="/ppt/slides/slide8.xml" Id="R68aca526247a47f0" /><Relationship Type="http://schemas.openxmlformats.org/officeDocument/2006/relationships/slide" Target="/ppt/slides/slide9.xml" Id="Rb7f94f7b2105496e" /><Relationship Type="http://schemas.openxmlformats.org/officeDocument/2006/relationships/slide" Target="/ppt/slides/slide10.xml" Id="Rf1eb7832c1914b65" /><Relationship Type="http://schemas.openxmlformats.org/officeDocument/2006/relationships/slide" Target="/ppt/slides/slide11.xml" Id="Rbc8c6ea1fb1940b6" /><Relationship Type="http://schemas.openxmlformats.org/officeDocument/2006/relationships/slide" Target="/ppt/slides/slide12.xml" Id="R65176bad8a294f37" /><Relationship Type="http://schemas.openxmlformats.org/officeDocument/2006/relationships/slide" Target="/ppt/slides/slide13.xml" Id="R13f668d0297f4d51" /><Relationship Type="http://schemas.openxmlformats.org/officeDocument/2006/relationships/slide" Target="/ppt/slides/slide14.xml" Id="R77c947030e6a4b14" /><Relationship Type="http://schemas.openxmlformats.org/officeDocument/2006/relationships/slide" Target="/ppt/slides/slide15.xml" Id="R3cd0103f0a374624" /><Relationship Type="http://schemas.openxmlformats.org/officeDocument/2006/relationships/slide" Target="/ppt/slides/slide16.xml" Id="R2cf44f1da13047fc" /><Relationship Type="http://schemas.openxmlformats.org/officeDocument/2006/relationships/slide" Target="/ppt/slides/slide17.xml" Id="R6db1a473bd1c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c252fa390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942ee046cb4602" /><Relationship Type="http://schemas.openxmlformats.org/officeDocument/2006/relationships/notesMaster" Target="/ppt/notesMasters/notesMaster1.xml" Id="Rf26a70f3a78d41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25a6fb40d4c7b" /><Relationship Type="http://schemas.openxmlformats.org/officeDocument/2006/relationships/notesMaster" Target="/ppt/notesMasters/notesMaster1.xml" Id="R0a2ff98f426e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69f326f8b483a" /><Relationship Type="http://schemas.openxmlformats.org/officeDocument/2006/relationships/notesMaster" Target="/ppt/notesMasters/notesMaster1.xml" Id="R5441b0c3082148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516a6b35424f5e" /><Relationship Type="http://schemas.openxmlformats.org/officeDocument/2006/relationships/notesMaster" Target="/ppt/notesMasters/notesMaster1.xml" Id="Rf8939a8b9c79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dd90f2f0ec4399" /><Relationship Type="http://schemas.openxmlformats.org/officeDocument/2006/relationships/notesMaster" Target="/ppt/notesMasters/notesMaster1.xml" Id="R8ed2f928ecdf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6d55bab9bc4a5e" /><Relationship Type="http://schemas.openxmlformats.org/officeDocument/2006/relationships/notesMaster" Target="/ppt/notesMasters/notesMaster1.xml" Id="R26b564209a404f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b4a4665dee4517" /><Relationship Type="http://schemas.openxmlformats.org/officeDocument/2006/relationships/notesMaster" Target="/ppt/notesMasters/notesMaster1.xml" Id="Rfb7470256be44f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5acb2d82964313" /><Relationship Type="http://schemas.openxmlformats.org/officeDocument/2006/relationships/notesMaster" Target="/ppt/notesMasters/notesMaster1.xml" Id="R30b1d087ff0f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4c702c07064cb1" /><Relationship Type="http://schemas.openxmlformats.org/officeDocument/2006/relationships/notesMaster" Target="/ppt/notesMasters/notesMaster1.xml" Id="R0c3cd8eaaaab49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950a51a6064283" /><Relationship Type="http://schemas.openxmlformats.org/officeDocument/2006/relationships/notesMaster" Target="/ppt/notesMasters/notesMaster1.xml" Id="R891fca77290a46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176a9ef9524a43" /><Relationship Type="http://schemas.openxmlformats.org/officeDocument/2006/relationships/notesMaster" Target="/ppt/notesMasters/notesMaster1.xml" Id="R5c20cf4beb5544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c5cb75a7ff41be" /><Relationship Type="http://schemas.openxmlformats.org/officeDocument/2006/relationships/notesMaster" Target="/ppt/notesMasters/notesMaster1.xml" Id="Ra0830b6c947647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8a89b3ed6b4699" /><Relationship Type="http://schemas.openxmlformats.org/officeDocument/2006/relationships/notesMaster" Target="/ppt/notesMasters/notesMaster1.xml" Id="Rdb112e66230d4b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9400ef31414a92" /><Relationship Type="http://schemas.openxmlformats.org/officeDocument/2006/relationships/notesMaster" Target="/ppt/notesMasters/notesMaster1.xml" Id="R26a7a9c51a6a4b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b834b8faed4016" /><Relationship Type="http://schemas.openxmlformats.org/officeDocument/2006/relationships/notesMaster" Target="/ppt/notesMasters/notesMaster1.xml" Id="R44903924533a44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8982ab90634ec5" /><Relationship Type="http://schemas.openxmlformats.org/officeDocument/2006/relationships/notesMaster" Target="/ppt/notesMasters/notesMaster1.xml" Id="R7da01607bc4b48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74b135e52f42ca" /><Relationship Type="http://schemas.openxmlformats.org/officeDocument/2006/relationships/notesMaster" Target="/ppt/notesMasters/notesMaster1.xml" Id="Rd159c204bbad42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e39417ec84d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0d4f0e4e524e9d" /><Relationship Type="http://schemas.openxmlformats.org/officeDocument/2006/relationships/slideLayout" Target="/ppt/slideLayouts/slideLayout1.xml" Id="Rc43ba2151e2543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ba2151e2543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b073fcea445fc" /><Relationship Type="http://schemas.openxmlformats.org/officeDocument/2006/relationships/notesSlide" Target="/ppt/notesSlides/notesSlide1.xml" Id="Ra894765fa65844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c8e2f672548c1" /><Relationship Type="http://schemas.openxmlformats.org/officeDocument/2006/relationships/notesSlide" Target="/ppt/notesSlides/notesSlide2.xml" Id="R95141939952243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ec1a0f3840cc" /><Relationship Type="http://schemas.openxmlformats.org/officeDocument/2006/relationships/notesSlide" Target="/ppt/notesSlides/notesSlide3.xml" Id="R5d09dae600f5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3254f15784057" /><Relationship Type="http://schemas.openxmlformats.org/officeDocument/2006/relationships/notesSlide" Target="/ppt/notesSlides/notesSlide4.xml" Id="R62a7014a8bd445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a30d7b438444c" /><Relationship Type="http://schemas.openxmlformats.org/officeDocument/2006/relationships/image" Target="/ppt/media/image.png" Id="R7803975f6dc54076" /><Relationship Type="http://schemas.openxmlformats.org/officeDocument/2006/relationships/notesSlide" Target="/ppt/notesSlides/notesSlide5.xml" Id="R986df955fb7849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d1646fb584a41" /><Relationship Type="http://schemas.openxmlformats.org/officeDocument/2006/relationships/image" Target="/ppt/media/image2.png" Id="Rc1f46dadea434b57" /><Relationship Type="http://schemas.openxmlformats.org/officeDocument/2006/relationships/notesSlide" Target="/ppt/notesSlides/notesSlide6.xml" Id="R83eab29d37c64c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65b45d2184aa0" /><Relationship Type="http://schemas.openxmlformats.org/officeDocument/2006/relationships/notesSlide" Target="/ppt/notesSlides/notesSlide7.xml" Id="R4cee4b76bffb4d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17d00b3344414" /><Relationship Type="http://schemas.openxmlformats.org/officeDocument/2006/relationships/notesSlide" Target="/ppt/notesSlides/notesSlide8.xml" Id="R9507cb5b014d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2c4a0e9b34613" /><Relationship Type="http://schemas.openxmlformats.org/officeDocument/2006/relationships/notesSlide" Target="/ppt/notesSlides/notesSlide9.xml" Id="Rc78e20b331d1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04debbbc54718" /><Relationship Type="http://schemas.openxmlformats.org/officeDocument/2006/relationships/image" Target="/ppt/media/image3.png" Id="R8531dc7054f9448f" /><Relationship Type="http://schemas.openxmlformats.org/officeDocument/2006/relationships/image" Target="/ppt/media/image4.png" Id="R5753d4b7dbdd4ef1" /><Relationship Type="http://schemas.openxmlformats.org/officeDocument/2006/relationships/notesSlide" Target="/ppt/notesSlides/notesSlide10.xml" Id="R2f1b9252248c40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f32e386a54228" /><Relationship Type="http://schemas.openxmlformats.org/officeDocument/2006/relationships/notesSlide" Target="/ppt/notesSlides/notesSlide11.xml" Id="Rd62e3ad9f2a94e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24b39ddfa4c39" /><Relationship Type="http://schemas.openxmlformats.org/officeDocument/2006/relationships/notesSlide" Target="/ppt/notesSlides/notesSlide12.xml" Id="R941edb90312343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3ec67bbe543e6" /><Relationship Type="http://schemas.openxmlformats.org/officeDocument/2006/relationships/notesSlide" Target="/ppt/notesSlides/notesSlide13.xml" Id="R4520c6b14d114f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1f0c5ab414539" /><Relationship Type="http://schemas.openxmlformats.org/officeDocument/2006/relationships/notesSlide" Target="/ppt/notesSlides/notesSlide14.xml" Id="R3ada9423195540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0cc603114b21" /><Relationship Type="http://schemas.openxmlformats.org/officeDocument/2006/relationships/image" Target="/ppt/media/image5.png" Id="Rc6bd0c9225e2497b" /><Relationship Type="http://schemas.openxmlformats.org/officeDocument/2006/relationships/notesSlide" Target="/ppt/notesSlides/notesSlide15.xml" Id="Rc691f2a084e642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274b345ed419f" /><Relationship Type="http://schemas.openxmlformats.org/officeDocument/2006/relationships/notesSlide" Target="/ppt/notesSlides/notesSlide16.xml" Id="R60518e97d3e044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d0df7b59340a5" /><Relationship Type="http://schemas.openxmlformats.org/officeDocument/2006/relationships/notesSlide" Target="/ppt/notesSlides/notesSlide17.xml" Id="R38fe34faf0954a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il">
            <a:extLst xmlns:a="http://schemas.openxmlformats.org/drawingml/2006/main">
              <a:ext uri="{FF2B5EF4-FFF2-40B4-BE49-F238E27FC236}">
                <a16:creationId xmlns:a16="http://schemas.microsoft.com/office/drawing/2014/main" id="{77CBA306-F42A-4E3A-90FC-C23F1C6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43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76F10B4-5871-4C79-8B89-754330F1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8FF"/>
                </a:solidFill>
              </a:defRPr>
            </a:pPr>
            <a:r>
              <a:rPr sz="1875" b="1">
                <a:solidFill>
                  <a:srgbClr val="2878FF"/>
                </a:solidFill>
              </a:rPr>
              <a:t>MerchantMesh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B88414-E5F9-4769-95EF-CE2C1A6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049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A0D12"/>
                </a:solidFill>
              </a:defRPr>
            </a:pPr>
            <a:r>
              <a:rPr sz="4200" b="1">
                <a:solidFill>
                  <a:srgbClr val="0A0D12"/>
                </a:solidFill>
              </a:rPr>
              <a:t>Agent-to-agent local commerce,</a:t>
            </a:r>
          </a:p>
          <a:p xmlns:a="http://schemas.openxmlformats.org/drawingml/2006/main">
            <a:pPr algn="l">
              <a:defRPr sz="4200" b="1">
                <a:solidFill>
                  <a:srgbClr val="0A0D12"/>
                </a:solidFill>
              </a:defRPr>
            </a:pPr>
            <a:r>
              <a:rPr sz="4200" b="1">
                <a:solidFill>
                  <a:srgbClr val="0A0D12"/>
                </a:solidFill>
              </a:rPr>
              <a:t>settled on Solana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E948439E-026C-425F-9F87-DE6883B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70"/>
                </a:solidFill>
              </a:defRPr>
            </a:pPr>
            <a:r>
              <a:rPr sz="1800" b="0">
                <a:solidFill>
                  <a:srgbClr val="596170"/>
                </a:solidFill>
              </a:rPr>
              <a:t>Natural-language demand → paid merchant-agent discovery → signed quotes → buyer-funded escrow → pickup release</a:t>
            </a:r>
          </a:p>
        </p:txBody>
      </p:sp>
      <p:sp>
        <p:nvSpPr>
          <p:cNvPr id="5" name="mvp-b">
            <a:extLst xmlns:a="http://schemas.openxmlformats.org/drawingml/2006/main">
              <a:ext uri="{FF2B5EF4-FFF2-40B4-BE49-F238E27FC236}">
                <a16:creationId xmlns:a16="http://schemas.microsoft.com/office/drawing/2014/main" id="{D09B0F32-5E57-493F-8865-7F8180CD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333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vp-t">
            <a:extLst xmlns:a="http://schemas.openxmlformats.org/drawingml/2006/main">
              <a:ext uri="{FF2B5EF4-FFF2-40B4-BE49-F238E27FC236}">
                <a16:creationId xmlns:a16="http://schemas.microsoft.com/office/drawing/2014/main" id="{DF94A05A-A192-47D1-AE3E-F3131AB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768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WORKING DEVNET MVP</a:t>
            </a:r>
          </a:p>
        </p:txBody>
      </p:sp>
      <p:sp>
        <p:nvSpPr>
          <p:cNvPr id="7" name="stack-b">
            <a:extLst xmlns:a="http://schemas.openxmlformats.org/drawingml/2006/main">
              <a:ext uri="{FF2B5EF4-FFF2-40B4-BE49-F238E27FC236}">
                <a16:creationId xmlns:a16="http://schemas.microsoft.com/office/drawing/2014/main" id="{1EFFED71-E32B-4429-90E9-DDC6149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57750"/>
            <a:ext cx="2619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ck-t">
            <a:extLst xmlns:a="http://schemas.openxmlformats.org/drawingml/2006/main">
              <a:ext uri="{FF2B5EF4-FFF2-40B4-BE49-F238E27FC236}">
                <a16:creationId xmlns:a16="http://schemas.microsoft.com/office/drawing/2014/main" id="{2EF1D3CA-E000-42B5-8D0E-35821BF9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768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NEXT.JS · SOLANA · USDC</a:t>
            </a:r>
          </a:p>
        </p:txBody>
      </p:sp>
      <p:sp>
        <p:nvSpPr>
          <p:cNvPr id="9" name="tag">
            <a:extLst xmlns:a="http://schemas.openxmlformats.org/drawingml/2006/main">
              <a:ext uri="{FF2B5EF4-FFF2-40B4-BE49-F238E27FC236}">
                <a16:creationId xmlns:a16="http://schemas.microsoft.com/office/drawing/2014/main" id="{FA03D677-28D0-4FA7-A64D-B459A56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9625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gt">
            <a:extLst xmlns:a="http://schemas.openxmlformats.org/drawingml/2006/main">
              <a:ext uri="{FF2B5EF4-FFF2-40B4-BE49-F238E27FC236}">
                <a16:creationId xmlns:a16="http://schemas.microsoft.com/office/drawing/2014/main" id="{A2AC7DBB-3046-4811-BF92-17E6F445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48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Commerce APIs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for autonomous agents</a:t>
            </a:r>
          </a:p>
        </p:txBody>
      </p:sp>
      <p:sp>
        <p:nvSpPr>
          <p:cNvPr id="11" name="foot">
            <a:extLst xmlns:a="http://schemas.openxmlformats.org/drawingml/2006/main">
              <a:ext uri="{FF2B5EF4-FFF2-40B4-BE49-F238E27FC236}">
                <a16:creationId xmlns:a16="http://schemas.microsoft.com/office/drawing/2014/main" id="{A5708745-3418-44AE-98B7-7619F30C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4205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8EF4A479-3F0F-41CF-912E-3FEEAE5A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9A2510-C53C-4525-B4E4-65C7D68B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Local commerce has demand — but no shared machine layer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0761A4C-C9B6-4CB3-AE7B-A2EB050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86FA7678-1948-4825-A6CE-D49AD0C2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</a:defRPr>
            </a:pPr>
            <a:r>
              <a:rPr sz="2100" b="1">
                <a:solidFill>
                  <a:srgbClr val="0A0D12"/>
                </a:solidFill>
              </a:rPr>
              <a:t>Today, every transaction repeats the same manual coordination loop.</a:t>
            </a:r>
          </a:p>
        </p:txBody>
      </p:sp>
      <p:sp>
        <p:nvSpPr>
          <p:cNvPr id="5" name="p1-bg">
            <a:extLst xmlns:a="http://schemas.openxmlformats.org/drawingml/2006/main">
              <a:ext uri="{FF2B5EF4-FFF2-40B4-BE49-F238E27FC236}">
                <a16:creationId xmlns:a16="http://schemas.microsoft.com/office/drawing/2014/main" id="{EED2B293-28DF-4B4E-A7AA-718991E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-a">
            <a:extLst xmlns:a="http://schemas.openxmlformats.org/drawingml/2006/main">
              <a:ext uri="{FF2B5EF4-FFF2-40B4-BE49-F238E27FC236}">
                <a16:creationId xmlns:a16="http://schemas.microsoft.com/office/drawing/2014/main" id="{B2EE9656-E6DF-47CD-841A-A0548E37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-t">
            <a:extLst xmlns:a="http://schemas.openxmlformats.org/drawingml/2006/main">
              <a:ext uri="{FF2B5EF4-FFF2-40B4-BE49-F238E27FC236}">
                <a16:creationId xmlns:a16="http://schemas.microsoft.com/office/drawing/2014/main" id="{BB17C31D-9031-4064-9C07-078FF993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03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Fragmented discovery</a:t>
            </a:r>
          </a:p>
        </p:txBody>
      </p:sp>
      <p:sp>
        <p:nvSpPr>
          <p:cNvPr id="8" name="p1-b">
            <a:extLst xmlns:a="http://schemas.openxmlformats.org/drawingml/2006/main">
              <a:ext uri="{FF2B5EF4-FFF2-40B4-BE49-F238E27FC236}">
                <a16:creationId xmlns:a16="http://schemas.microsoft.com/office/drawing/2014/main" id="{DD8E8440-4FA6-4A56-B4A1-6689643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290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Inventory, availability, and price live across calls, messages, and separate storefronts.</a:t>
            </a:r>
          </a:p>
        </p:txBody>
      </p:sp>
      <p:sp>
        <p:nvSpPr>
          <p:cNvPr id="9" name="p2-bg">
            <a:extLst xmlns:a="http://schemas.openxmlformats.org/drawingml/2006/main">
              <a:ext uri="{FF2B5EF4-FFF2-40B4-BE49-F238E27FC236}">
                <a16:creationId xmlns:a16="http://schemas.microsoft.com/office/drawing/2014/main" id="{B0AA9C17-81C3-4133-AFC3-F98A363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a">
            <a:extLst xmlns:a="http://schemas.openxmlformats.org/drawingml/2006/main">
              <a:ext uri="{FF2B5EF4-FFF2-40B4-BE49-F238E27FC236}">
                <a16:creationId xmlns:a16="http://schemas.microsoft.com/office/drawing/2014/main" id="{6ECF2D7F-1ADC-43D6-8C5C-88167FD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D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2-t">
            <a:extLst xmlns:a="http://schemas.openxmlformats.org/drawingml/2006/main">
              <a:ext uri="{FF2B5EF4-FFF2-40B4-BE49-F238E27FC236}">
                <a16:creationId xmlns:a16="http://schemas.microsoft.com/office/drawing/2014/main" id="{C3FF78A4-E134-436F-B11E-DCB0024F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03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Trust before payment</a:t>
            </a:r>
          </a:p>
        </p:txBody>
      </p:sp>
      <p:sp>
        <p:nvSpPr>
          <p:cNvPr id="12" name="p2-b">
            <a:extLst xmlns:a="http://schemas.openxmlformats.org/drawingml/2006/main">
              <a:ext uri="{FF2B5EF4-FFF2-40B4-BE49-F238E27FC236}">
                <a16:creationId xmlns:a16="http://schemas.microsoft.com/office/drawing/2014/main" id="{12E63B8C-F7BE-4F2A-B1E3-591C3DE6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90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Buyers fear prepayment; merchants fear preparing an order without commitment.</a:t>
            </a:r>
          </a:p>
        </p:txBody>
      </p:sp>
      <p:sp>
        <p:nvSpPr>
          <p:cNvPr id="13" name="p3-bg">
            <a:extLst xmlns:a="http://schemas.openxmlformats.org/drawingml/2006/main">
              <a:ext uri="{FF2B5EF4-FFF2-40B4-BE49-F238E27FC236}">
                <a16:creationId xmlns:a16="http://schemas.microsoft.com/office/drawing/2014/main" id="{35ADFEF2-84FD-4387-87E0-BFBF98D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3-a">
            <a:extLst xmlns:a="http://schemas.openxmlformats.org/drawingml/2006/main">
              <a:ext uri="{FF2B5EF4-FFF2-40B4-BE49-F238E27FC236}">
                <a16:creationId xmlns:a16="http://schemas.microsoft.com/office/drawing/2014/main" id="{BAB7BBBE-996E-4A72-9481-82BB02F2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3-t">
            <a:extLst xmlns:a="http://schemas.openxmlformats.org/drawingml/2006/main">
              <a:ext uri="{FF2B5EF4-FFF2-40B4-BE49-F238E27FC236}">
                <a16:creationId xmlns:a16="http://schemas.microsoft.com/office/drawing/2014/main" id="{ED4DDEBA-1F39-4C40-A366-7D470F2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03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AI without authority</a:t>
            </a:r>
          </a:p>
        </p:txBody>
      </p:sp>
      <p:sp>
        <p:nvSpPr>
          <p:cNvPr id="16" name="p3-b">
            <a:extLst xmlns:a="http://schemas.openxmlformats.org/drawingml/2006/main">
              <a:ext uri="{FF2B5EF4-FFF2-40B4-BE49-F238E27FC236}">
                <a16:creationId xmlns:a16="http://schemas.microsoft.com/office/drawing/2014/main" id="{197F05A9-1AC3-4827-B873-2BD21C8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90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A model can interpret intent, but it cannot be trusted to invent stock, price, or settlement state.</a:t>
            </a:r>
          </a:p>
        </p:txBody>
      </p:sp>
      <p:sp>
        <p:nvSpPr>
          <p:cNvPr id="17" name="claim-bg">
            <a:extLst xmlns:a="http://schemas.openxmlformats.org/drawingml/2006/main">
              <a:ext uri="{FF2B5EF4-FFF2-40B4-BE49-F238E27FC236}">
                <a16:creationId xmlns:a16="http://schemas.microsoft.com/office/drawing/2014/main" id="{6797A340-7385-48C1-BB54-45DED1B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aim-tx">
            <a:extLst xmlns:a="http://schemas.openxmlformats.org/drawingml/2006/main">
              <a:ext uri="{FF2B5EF4-FFF2-40B4-BE49-F238E27FC236}">
                <a16:creationId xmlns:a16="http://schemas.microsoft.com/office/drawing/2014/main" id="{ECD15951-E049-4FC7-9FC0-B7D0E13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MerchantMesh turns coordination into verifiable, paid agent interactions.</a:t>
            </a:r>
          </a:p>
        </p:txBody>
      </p:sp>
      <p:sp>
        <p:nvSpPr>
          <p:cNvPr id="19" name="foot">
            <a:extLst xmlns:a="http://schemas.openxmlformats.org/drawingml/2006/main">
              <a:ext uri="{FF2B5EF4-FFF2-40B4-BE49-F238E27FC236}">
                <a16:creationId xmlns:a16="http://schemas.microsoft.com/office/drawing/2014/main" id="{0F0ED12D-1927-405C-A5E4-1F11197F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6635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D8FE9EE3-2897-4A69-B565-609122A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48D2BE-8B93-449B-87DC-41F2C12F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One buyer agent can negotiate with an entire local market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39CC445-3637-4737-B558-E0BA73B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0-line">
            <a:extLst xmlns:a="http://schemas.openxmlformats.org/drawingml/2006/main">
              <a:ext uri="{FF2B5EF4-FFF2-40B4-BE49-F238E27FC236}">
                <a16:creationId xmlns:a16="http://schemas.microsoft.com/office/drawing/2014/main" id="{0578651C-5FDA-4713-9EA6-3C7E140F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0-head">
            <a:extLst xmlns:a="http://schemas.openxmlformats.org/drawingml/2006/main">
              <a:ext uri="{FF2B5EF4-FFF2-40B4-BE49-F238E27FC236}">
                <a16:creationId xmlns:a16="http://schemas.microsoft.com/office/drawing/2014/main" id="{40A5A579-7465-40B4-8C21-45CBD17A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0">
            <a:extLst xmlns:a="http://schemas.openxmlformats.org/drawingml/2006/main">
              <a:ext uri="{FF2B5EF4-FFF2-40B4-BE49-F238E27FC236}">
                <a16:creationId xmlns:a16="http://schemas.microsoft.com/office/drawing/2014/main" id="{C3CBFE20-5262-42DB-86F7-A6853009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t0">
            <a:extLst xmlns:a="http://schemas.openxmlformats.org/drawingml/2006/main">
              <a:ext uri="{FF2B5EF4-FFF2-40B4-BE49-F238E27FC236}">
                <a16:creationId xmlns:a16="http://schemas.microsoft.com/office/drawing/2014/main" id="{BDA07143-8B6F-4B27-A65D-D805BAF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BUYER INTENT</a:t>
            </a:r>
          </a:p>
        </p:txBody>
      </p:sp>
      <p:sp>
        <p:nvSpPr>
          <p:cNvPr id="8" name="nb0">
            <a:extLst xmlns:a="http://schemas.openxmlformats.org/drawingml/2006/main">
              <a:ext uri="{FF2B5EF4-FFF2-40B4-BE49-F238E27FC236}">
                <a16:creationId xmlns:a16="http://schemas.microsoft.com/office/drawing/2014/main" id="{07A394FF-4966-46A3-A1F1-E16B2338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Meal or shopping request</a:t>
            </a:r>
          </a:p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List approval</a:t>
            </a:r>
          </a:p>
        </p:txBody>
      </p:sp>
      <p:sp>
        <p:nvSpPr>
          <p:cNvPr id="9" name="a1-line">
            <a:extLst xmlns:a="http://schemas.openxmlformats.org/drawingml/2006/main">
              <a:ext uri="{FF2B5EF4-FFF2-40B4-BE49-F238E27FC236}">
                <a16:creationId xmlns:a16="http://schemas.microsoft.com/office/drawing/2014/main" id="{7F06BDE3-F9A5-48AE-B139-7A08ACC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1-head">
            <a:extLst xmlns:a="http://schemas.openxmlformats.org/drawingml/2006/main">
              <a:ext uri="{FF2B5EF4-FFF2-40B4-BE49-F238E27FC236}">
                <a16:creationId xmlns:a16="http://schemas.microsoft.com/office/drawing/2014/main" id="{A3DC6992-177B-4A8E-8AAA-C4C02E7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1">
            <a:extLst xmlns:a="http://schemas.openxmlformats.org/drawingml/2006/main">
              <a:ext uri="{FF2B5EF4-FFF2-40B4-BE49-F238E27FC236}">
                <a16:creationId xmlns:a16="http://schemas.microsoft.com/office/drawing/2014/main" id="{D4D5D718-4C24-4CEF-BF22-E2AE136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t1">
            <a:extLst xmlns:a="http://schemas.openxmlformats.org/drawingml/2006/main">
              <a:ext uri="{FF2B5EF4-FFF2-40B4-BE49-F238E27FC236}">
                <a16:creationId xmlns:a16="http://schemas.microsoft.com/office/drawing/2014/main" id="{7DE912E2-FE45-4297-AC87-22C365F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PERSONAL AGENT</a:t>
            </a:r>
          </a:p>
        </p:txBody>
      </p:sp>
      <p:sp>
        <p:nvSpPr>
          <p:cNvPr id="13" name="nb1">
            <a:extLst xmlns:a="http://schemas.openxmlformats.org/drawingml/2006/main">
              <a:ext uri="{FF2B5EF4-FFF2-40B4-BE49-F238E27FC236}">
                <a16:creationId xmlns:a16="http://schemas.microsoft.com/office/drawing/2014/main" id="{7CC3F9EF-2FA3-4435-B9A3-B830E7A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Plan + orchestration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Budget enforcement</a:t>
            </a:r>
          </a:p>
        </p:txBody>
      </p:sp>
      <p:sp>
        <p:nvSpPr>
          <p:cNvPr id="14" name="a2-line">
            <a:extLst xmlns:a="http://schemas.openxmlformats.org/drawingml/2006/main">
              <a:ext uri="{FF2B5EF4-FFF2-40B4-BE49-F238E27FC236}">
                <a16:creationId xmlns:a16="http://schemas.microsoft.com/office/drawing/2014/main" id="{0656C5CA-EC5B-44CA-9DF4-2AD7050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2-head">
            <a:extLst xmlns:a="http://schemas.openxmlformats.org/drawingml/2006/main">
              <a:ext uri="{FF2B5EF4-FFF2-40B4-BE49-F238E27FC236}">
                <a16:creationId xmlns:a16="http://schemas.microsoft.com/office/drawing/2014/main" id="{0456EA4C-EE6C-4954-9023-D90D85DB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2">
            <a:extLst xmlns:a="http://schemas.openxmlformats.org/drawingml/2006/main">
              <a:ext uri="{FF2B5EF4-FFF2-40B4-BE49-F238E27FC236}">
                <a16:creationId xmlns:a16="http://schemas.microsoft.com/office/drawing/2014/main" id="{3582283D-C76E-48F5-BC3D-DCC954DD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t2">
            <a:extLst xmlns:a="http://schemas.openxmlformats.org/drawingml/2006/main">
              <a:ext uri="{FF2B5EF4-FFF2-40B4-BE49-F238E27FC236}">
                <a16:creationId xmlns:a16="http://schemas.microsoft.com/office/drawing/2014/main" id="{33F915B6-F125-414F-B3F2-1DFB0402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MERCHANT AGENTS</a:t>
            </a:r>
          </a:p>
        </p:txBody>
      </p:sp>
      <p:sp>
        <p:nvSpPr>
          <p:cNvPr id="18" name="nb2">
            <a:extLst xmlns:a="http://schemas.openxmlformats.org/drawingml/2006/main">
              <a:ext uri="{FF2B5EF4-FFF2-40B4-BE49-F238E27FC236}">
                <a16:creationId xmlns:a16="http://schemas.microsoft.com/office/drawing/2014/main" id="{5F2EF0F0-48FB-4FD7-A05D-C2236E0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Inventory-backed quotes</a:t>
            </a:r>
          </a:p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Merchant signatures</a:t>
            </a:r>
          </a:p>
        </p:txBody>
      </p:sp>
      <p:sp>
        <p:nvSpPr>
          <p:cNvPr id="19" name="n3">
            <a:extLst xmlns:a="http://schemas.openxmlformats.org/drawingml/2006/main">
              <a:ext uri="{FF2B5EF4-FFF2-40B4-BE49-F238E27FC236}">
                <a16:creationId xmlns:a16="http://schemas.microsoft.com/office/drawing/2014/main" id="{5F70AD9C-67BC-4317-BCF9-3B1512E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t3">
            <a:extLst xmlns:a="http://schemas.openxmlformats.org/drawingml/2006/main">
              <a:ext uri="{FF2B5EF4-FFF2-40B4-BE49-F238E27FC236}">
                <a16:creationId xmlns:a16="http://schemas.microsoft.com/office/drawing/2014/main" id="{FE0866AF-ED94-4E61-8724-608D628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SOLANA</a:t>
            </a:r>
          </a:p>
        </p:txBody>
      </p:sp>
      <p:sp>
        <p:nvSpPr>
          <p:cNvPr id="21" name="nb3">
            <a:extLst xmlns:a="http://schemas.openxmlformats.org/drawingml/2006/main">
              <a:ext uri="{FF2B5EF4-FFF2-40B4-BE49-F238E27FC236}">
                <a16:creationId xmlns:a16="http://schemas.microsoft.com/office/drawing/2014/main" id="{07B1BE46-3FA6-4469-9D15-477FAD2B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USDC escrow</a:t>
            </a:r>
          </a:p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Receipt + release</a:t>
            </a:r>
          </a:p>
        </p:txBody>
      </p:sp>
      <p:sp>
        <p:nvSpPr>
          <p:cNvPr id="22" name="principle">
            <a:extLst xmlns:a="http://schemas.openxmlformats.org/drawingml/2006/main">
              <a:ext uri="{FF2B5EF4-FFF2-40B4-BE49-F238E27FC236}">
                <a16:creationId xmlns:a16="http://schemas.microsoft.com/office/drawing/2014/main" id="{2253C188-5C5C-4CD1-98C2-9A334218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D12"/>
                </a:solidFill>
              </a:defRPr>
            </a:pPr>
            <a:r>
              <a:rPr sz="1800" b="1">
                <a:solidFill>
                  <a:srgbClr val="0A0D12"/>
                </a:solidFill>
              </a:rPr>
              <a:t>The LLM interprets intent. Databases, signatures, deterministic policies, and on-chain programs remain the commercial authority.</a:t>
            </a:r>
          </a:p>
        </p:txBody>
      </p:sp>
      <p:sp>
        <p:nvSpPr>
          <p:cNvPr id="23" name="foot">
            <a:extLst xmlns:a="http://schemas.openxmlformats.org/drawingml/2006/main">
              <a:ext uri="{FF2B5EF4-FFF2-40B4-BE49-F238E27FC236}">
                <a16:creationId xmlns:a16="http://schemas.microsoft.com/office/drawing/2014/main" id="{7E355DFD-719F-446E-B80B-DDEB4E2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4115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5028824C-D09C-426E-B5C7-DFE195D8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A93A0F-EB47-4805-94CD-25BFBCB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Three buyer approvals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2CA6526-A7D1-419B-976C-8C8C0D95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0">
            <a:extLst xmlns:a="http://schemas.openxmlformats.org/drawingml/2006/main">
              <a:ext uri="{FF2B5EF4-FFF2-40B4-BE49-F238E27FC236}">
                <a16:creationId xmlns:a16="http://schemas.microsoft.com/office/drawing/2014/main" id="{A7BB008C-D8BE-4E17-A727-7791FC2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8FF"/>
                </a:solidFill>
              </a:defRPr>
            </a:pPr>
            <a:r>
              <a:rPr sz="1950" b="1">
                <a:solidFill>
                  <a:srgbClr val="2878FF"/>
                </a:solidFill>
              </a:rPr>
              <a:t>01</a:t>
            </a:r>
          </a:p>
        </p:txBody>
      </p:sp>
      <p:sp>
        <p:nvSpPr>
          <p:cNvPr id="5" name="rt0">
            <a:extLst xmlns:a="http://schemas.openxmlformats.org/drawingml/2006/main">
              <a:ext uri="{FF2B5EF4-FFF2-40B4-BE49-F238E27FC236}">
                <a16:creationId xmlns:a16="http://schemas.microsoft.com/office/drawing/2014/main" id="{ABF25902-0358-480F-8465-6BD545FD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Approve the basket</a:t>
            </a:r>
          </a:p>
        </p:txBody>
      </p:sp>
      <p:sp>
        <p:nvSpPr>
          <p:cNvPr id="6" name="rb0">
            <a:extLst xmlns:a="http://schemas.openxmlformats.org/drawingml/2006/main">
              <a:ext uri="{FF2B5EF4-FFF2-40B4-BE49-F238E27FC236}">
                <a16:creationId xmlns:a16="http://schemas.microsoft.com/office/drawing/2014/main" id="{8068DCA8-77BF-47EF-AB77-9891E4C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0"/>
                </a:solidFill>
              </a:defRPr>
            </a:pPr>
            <a:r>
              <a:rPr sz="1350" b="0">
                <a:solidFill>
                  <a:srgbClr val="596170"/>
                </a:solidFill>
              </a:rPr>
              <a:t>After the LLM conversation, confirm exactly what should be searched.</a:t>
            </a:r>
          </a:p>
        </p:txBody>
      </p:sp>
      <p:sp>
        <p:nvSpPr>
          <p:cNvPr id="7" name="sep0">
            <a:extLst xmlns:a="http://schemas.openxmlformats.org/drawingml/2006/main">
              <a:ext uri="{FF2B5EF4-FFF2-40B4-BE49-F238E27FC236}">
                <a16:creationId xmlns:a16="http://schemas.microsoft.com/office/drawing/2014/main" id="{3004F77D-00FF-4364-92EC-53F8FF84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1">
            <a:extLst xmlns:a="http://schemas.openxmlformats.org/drawingml/2006/main">
              <a:ext uri="{FF2B5EF4-FFF2-40B4-BE49-F238E27FC236}">
                <a16:creationId xmlns:a16="http://schemas.microsoft.com/office/drawing/2014/main" id="{8B90831D-0316-4B98-9CF2-2C23BF2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8FF"/>
                </a:solidFill>
              </a:defRPr>
            </a:pPr>
            <a:r>
              <a:rPr sz="1950" b="1">
                <a:solidFill>
                  <a:srgbClr val="2878FF"/>
                </a:solidFill>
              </a:rPr>
              <a:t>02</a:t>
            </a:r>
          </a:p>
        </p:txBody>
      </p:sp>
      <p:sp>
        <p:nvSpPr>
          <p:cNvPr id="9" name="rt1">
            <a:extLst xmlns:a="http://schemas.openxmlformats.org/drawingml/2006/main">
              <a:ext uri="{FF2B5EF4-FFF2-40B4-BE49-F238E27FC236}">
                <a16:creationId xmlns:a16="http://schemas.microsoft.com/office/drawing/2014/main" id="{55930EED-104C-45E2-8AEC-E9D9DAAD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Choose signed offers</a:t>
            </a:r>
          </a:p>
        </p:txBody>
      </p:sp>
      <p:sp>
        <p:nvSpPr>
          <p:cNvPr id="10" name="rb1">
            <a:extLst xmlns:a="http://schemas.openxmlformats.org/drawingml/2006/main">
              <a:ext uri="{FF2B5EF4-FFF2-40B4-BE49-F238E27FC236}">
                <a16:creationId xmlns:a16="http://schemas.microsoft.com/office/drawing/2014/main" id="{EEC71DDF-2680-4050-A07C-A5661B4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0"/>
                </a:solidFill>
              </a:defRPr>
            </a:pPr>
            <a:r>
              <a:rPr sz="1350" b="0">
                <a:solidFill>
                  <a:srgbClr val="596170"/>
                </a:solidFill>
              </a:rPr>
              <a:t>Compare merchant quotes and select the best allocation per product.</a:t>
            </a:r>
          </a:p>
        </p:txBody>
      </p:sp>
      <p:sp>
        <p:nvSpPr>
          <p:cNvPr id="11" name="sep1">
            <a:extLst xmlns:a="http://schemas.openxmlformats.org/drawingml/2006/main">
              <a:ext uri="{FF2B5EF4-FFF2-40B4-BE49-F238E27FC236}">
                <a16:creationId xmlns:a16="http://schemas.microsoft.com/office/drawing/2014/main" id="{9EC9A070-1F97-48D6-A0CA-B595F074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2">
            <a:extLst xmlns:a="http://schemas.openxmlformats.org/drawingml/2006/main">
              <a:ext uri="{FF2B5EF4-FFF2-40B4-BE49-F238E27FC236}">
                <a16:creationId xmlns:a16="http://schemas.microsoft.com/office/drawing/2014/main" id="{327C4568-F419-42EF-8EEF-D88861D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8FF"/>
                </a:solidFill>
              </a:defRPr>
            </a:pPr>
            <a:r>
              <a:rPr sz="1950" b="1">
                <a:solidFill>
                  <a:srgbClr val="2878FF"/>
                </a:solidFill>
              </a:rPr>
              <a:t>03</a:t>
            </a:r>
          </a:p>
        </p:txBody>
      </p:sp>
      <p:sp>
        <p:nvSpPr>
          <p:cNvPr id="13" name="rt2">
            <a:extLst xmlns:a="http://schemas.openxmlformats.org/drawingml/2006/main">
              <a:ext uri="{FF2B5EF4-FFF2-40B4-BE49-F238E27FC236}">
                <a16:creationId xmlns:a16="http://schemas.microsoft.com/office/drawing/2014/main" id="{37C95C1B-FAA2-4751-B443-31570163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Fund all escrows</a:t>
            </a:r>
          </a:p>
        </p:txBody>
      </p:sp>
      <p:sp>
        <p:nvSpPr>
          <p:cNvPr id="14" name="rb2">
            <a:extLst xmlns:a="http://schemas.openxmlformats.org/drawingml/2006/main">
              <a:ext uri="{FF2B5EF4-FFF2-40B4-BE49-F238E27FC236}">
                <a16:creationId xmlns:a16="http://schemas.microsoft.com/office/drawing/2014/main" id="{C76F5E8E-515F-4C18-85C1-F78CCDC9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0"/>
                </a:solidFill>
              </a:defRPr>
            </a:pPr>
            <a:r>
              <a:rPr sz="1350" b="0">
                <a:solidFill>
                  <a:srgbClr val="596170"/>
                </a:solidFill>
              </a:rPr>
              <a:t>After merchants accept, sign the USDC escrow transactions in Phantom.</a:t>
            </a:r>
          </a:p>
        </p:txBody>
      </p:sp>
      <p:sp>
        <p:nvSpPr>
          <p:cNvPr id="15" name="sep2">
            <a:extLst xmlns:a="http://schemas.openxmlformats.org/drawingml/2006/main">
              <a:ext uri="{FF2B5EF4-FFF2-40B4-BE49-F238E27FC236}">
                <a16:creationId xmlns:a16="http://schemas.microsoft.com/office/drawing/2014/main" id="{73AC6F05-BEF2-4F36-B23B-E6939E8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3">
            <a:extLst xmlns:a="http://schemas.openxmlformats.org/drawingml/2006/main">
              <a:ext uri="{FF2B5EF4-FFF2-40B4-BE49-F238E27FC236}">
                <a16:creationId xmlns:a16="http://schemas.microsoft.com/office/drawing/2014/main" id="{9825D036-7FE7-48C2-8EC4-AD9A427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8FF"/>
                </a:solidFill>
              </a:defRPr>
            </a:pPr>
            <a:r>
              <a:rPr sz="1950" b="1">
                <a:solidFill>
                  <a:srgbClr val="2878FF"/>
                </a:solidFill>
              </a:rPr>
              <a:t>04</a:t>
            </a:r>
          </a:p>
        </p:txBody>
      </p:sp>
      <p:sp>
        <p:nvSpPr>
          <p:cNvPr id="17" name="rt3">
            <a:extLst xmlns:a="http://schemas.openxmlformats.org/drawingml/2006/main">
              <a:ext uri="{FF2B5EF4-FFF2-40B4-BE49-F238E27FC236}">
                <a16:creationId xmlns:a16="http://schemas.microsoft.com/office/drawing/2014/main" id="{500DE4C9-A64C-4033-B3ED-7948FDA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67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Release on pickup</a:t>
            </a:r>
          </a:p>
        </p:txBody>
      </p:sp>
      <p:sp>
        <p:nvSpPr>
          <p:cNvPr id="18" name="rb3">
            <a:extLst xmlns:a="http://schemas.openxmlformats.org/drawingml/2006/main">
              <a:ext uri="{FF2B5EF4-FFF2-40B4-BE49-F238E27FC236}">
                <a16:creationId xmlns:a16="http://schemas.microsoft.com/office/drawing/2014/main" id="{708EA557-EF42-44D4-9D2F-4F545A35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672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0"/>
                </a:solidFill>
              </a:defRPr>
            </a:pPr>
            <a:r>
              <a:rPr sz="1350" b="0">
                <a:solidFill>
                  <a:srgbClr val="596170"/>
                </a:solidFill>
              </a:rPr>
              <a:t>As each product is received in person, release its escrowed value to the merchant.</a:t>
            </a:r>
          </a:p>
        </p:txBody>
      </p:sp>
      <p:sp>
        <p:nvSpPr>
          <p:cNvPr id="19" name="stay-bg">
            <a:extLst xmlns:a="http://schemas.openxmlformats.org/drawingml/2006/main">
              <a:ext uri="{FF2B5EF4-FFF2-40B4-BE49-F238E27FC236}">
                <a16:creationId xmlns:a16="http://schemas.microsoft.com/office/drawing/2014/main" id="{5D8E9B7B-82B1-44A4-BE61-6A4AF65D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y-tx">
            <a:extLst xmlns:a="http://schemas.openxmlformats.org/drawingml/2006/main">
              <a:ext uri="{FF2B5EF4-FFF2-40B4-BE49-F238E27FC236}">
                <a16:creationId xmlns:a16="http://schemas.microsoft.com/office/drawing/2014/main" id="{1C46D0D8-1E7A-407D-842C-A52F9E6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0007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 merchant-console navigation is required for the buyer flow.</a:t>
            </a:r>
          </a:p>
        </p:txBody>
      </p:sp>
      <p:sp>
        <p:nvSpPr>
          <p:cNvPr id="21" name="foot">
            <a:extLst xmlns:a="http://schemas.openxmlformats.org/drawingml/2006/main">
              <a:ext uri="{FF2B5EF4-FFF2-40B4-BE49-F238E27FC236}">
                <a16:creationId xmlns:a16="http://schemas.microsoft.com/office/drawing/2014/main" id="{1864E0A2-848D-430D-ACE0-77A85EF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0848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2F1C9B2-6D68-4CEF-8656-58CF251B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F56535-59CC-41F9-B4BE-32A0CDB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Working product: wallet-connected shopping starts from one prompt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73EB1CB-19D0-458A-BE8B-4B8B313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3975f6dc54076"/>
          <a:stretch xmlns:a="http://schemas.openxmlformats.org/drawingml/2006/main"/>
        </p:blipFill>
        <p:spPr>
          <a:xfrm xmlns:a="http://schemas.openxmlformats.org/drawingml/2006/main">
            <a:off x="571500" y="2774955"/>
            <a:ext cx="7524750" cy="1784340"/>
          </a:xfrm>
          <a:prstGeom xmlns:a="http://schemas.openxmlformats.org/drawingml/2006/main" prst="rect">
            <a:avLst/>
          </a:prstGeom>
        </p:spPr>
      </p:pic>
      <p:sp>
        <p:nvSpPr>
          <p:cNvPr id="5" name="side">
            <a:extLst xmlns:a="http://schemas.openxmlformats.org/drawingml/2006/main">
              <a:ext uri="{FF2B5EF4-FFF2-40B4-BE49-F238E27FC236}">
                <a16:creationId xmlns:a16="http://schemas.microsoft.com/office/drawing/2014/main" id="{D817D175-FCFA-4B48-ACE6-E5A7B45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3095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det">
            <a:extLst xmlns:a="http://schemas.openxmlformats.org/drawingml/2006/main">
              <a:ext uri="{FF2B5EF4-FFF2-40B4-BE49-F238E27FC236}">
                <a16:creationId xmlns:a16="http://schemas.microsoft.com/office/drawing/2014/main" id="{2B5379DA-81C4-4029-BF23-F1D93176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FF"/>
                </a:solidFill>
              </a:defRPr>
            </a:pPr>
            <a:r>
              <a:rPr sz="1275" b="1">
                <a:solidFill>
                  <a:srgbClr val="2878FF"/>
                </a:solidFill>
              </a:rPr>
              <a:t>LIVE APP SURFACE</a:t>
            </a:r>
          </a:p>
        </p:txBody>
      </p:sp>
      <p:sp>
        <p:nvSpPr>
          <p:cNvPr id="7" name="sideb">
            <a:extLst xmlns:a="http://schemas.openxmlformats.org/drawingml/2006/main">
              <a:ext uri="{FF2B5EF4-FFF2-40B4-BE49-F238E27FC236}">
                <a16:creationId xmlns:a16="http://schemas.microsoft.com/office/drawing/2014/main" id="{39B91315-740E-4335-BA8D-60E30CA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571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Solana wallet sign-in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Natural-language shopping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User-approved basket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Live task timeline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One-page funding and pickup flow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74391F5-78E2-49BB-A3AA-0ED4F14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95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70"/>
                </a:solidFill>
              </a:defRPr>
            </a:pPr>
            <a:r>
              <a:rPr sz="1125" b="1">
                <a:solidFill>
                  <a:srgbClr val="596170"/>
                </a:solidFill>
              </a:rPr>
              <a:t>Captured from localhost:3000</a:t>
            </a:r>
          </a:p>
        </p:txBody>
      </p:sp>
      <p:sp>
        <p:nvSpPr>
          <p:cNvPr id="9" name="foot">
            <a:extLst xmlns:a="http://schemas.openxmlformats.org/drawingml/2006/main">
              <a:ext uri="{FF2B5EF4-FFF2-40B4-BE49-F238E27FC236}">
                <a16:creationId xmlns:a16="http://schemas.microsoft.com/office/drawing/2014/main" id="{04058B20-6FC3-4694-B6C0-0FD1734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890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9D9FF122-B23A-4B0A-A99B-4CEF6FF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9700C2-59D8-4059-BA83-3D8ACD1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Signed merchant quotes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E0D78B9-7FFD-4BE8-A16C-C7242DCD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46dadea434b57"/>
          <a:stretch xmlns:a="http://schemas.openxmlformats.org/drawingml/2006/main"/>
        </p:blipFill>
        <p:spPr>
          <a:xfrm xmlns:a="http://schemas.openxmlformats.org/drawingml/2006/main">
            <a:off x="571500" y="2213021"/>
            <a:ext cx="7239000" cy="3098709"/>
          </a:xfrm>
          <a:prstGeom xmlns:a="http://schemas.openxmlformats.org/drawingml/2006/main" prst="rect">
            <a:avLst/>
          </a:prstGeom>
        </p:spPr>
      </p:pic>
      <p:sp>
        <p:nvSpPr>
          <p:cNvPr id="5" name="side">
            <a:extLst xmlns:a="http://schemas.openxmlformats.org/drawingml/2006/main">
              <a:ext uri="{FF2B5EF4-FFF2-40B4-BE49-F238E27FC236}">
                <a16:creationId xmlns:a16="http://schemas.microsoft.com/office/drawing/2014/main" id="{00DAF944-AC0E-41C7-87A6-8F7DB17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381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deh">
            <a:extLst xmlns:a="http://schemas.openxmlformats.org/drawingml/2006/main">
              <a:ext uri="{FF2B5EF4-FFF2-40B4-BE49-F238E27FC236}">
                <a16:creationId xmlns:a16="http://schemas.microsoft.com/office/drawing/2014/main" id="{77AF7EF9-BD86-476F-9FF9-8885503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FF"/>
                </a:solidFill>
              </a:defRPr>
            </a:pPr>
            <a:r>
              <a:rPr sz="1275" b="1">
                <a:solidFill>
                  <a:srgbClr val="2878FF"/>
                </a:solidFill>
              </a:rPr>
              <a:t>COMMERCIAL FACTS</a:t>
            </a:r>
          </a:p>
        </p:txBody>
      </p:sp>
      <p:sp>
        <p:nvSpPr>
          <p:cNvPr id="7" name="sideb">
            <a:extLst xmlns:a="http://schemas.openxmlformats.org/drawingml/2006/main">
              <a:ext uri="{FF2B5EF4-FFF2-40B4-BE49-F238E27FC236}">
                <a16:creationId xmlns:a16="http://schemas.microsoft.com/office/drawing/2014/main" id="{70B12DEB-5073-48F6-8BA6-21A7DCFB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85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Inventory and prices come from merchant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Each quote has a TTL, reservation state, and Ed25519 signature.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The buyer agent ranks verified offers; it never accepts an unsigned price.</a:t>
            </a:r>
          </a:p>
        </p:txBody>
      </p:sp>
      <p:sp>
        <p:nvSpPr>
          <p:cNvPr id="8" name="truth-bg">
            <a:extLst xmlns:a="http://schemas.openxmlformats.org/drawingml/2006/main">
              <a:ext uri="{FF2B5EF4-FFF2-40B4-BE49-F238E27FC236}">
                <a16:creationId xmlns:a16="http://schemas.microsoft.com/office/drawing/2014/main" id="{3F05581C-52F8-4700-8058-46B3E2F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95875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uth-tx">
            <a:extLst xmlns:a="http://schemas.openxmlformats.org/drawingml/2006/main">
              <a:ext uri="{FF2B5EF4-FFF2-40B4-BE49-F238E27FC236}">
                <a16:creationId xmlns:a16="http://schemas.microsoft.com/office/drawing/2014/main" id="{677F61E9-0EE0-41E0-A22B-D711139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339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LLM plans products — it does not price them.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E3550468-A09D-4D2E-A043-3672CD97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021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DF8CC673-8577-4470-B735-10BFAB34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A79EF0-8C63-4E8E-B3F4-080E412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Agent-to-agent payment makes every merchant capability callable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06B5179-ED4C-4CDF-BB80-CB38E59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0-line">
            <a:extLst xmlns:a="http://schemas.openxmlformats.org/drawingml/2006/main">
              <a:ext uri="{FF2B5EF4-FFF2-40B4-BE49-F238E27FC236}">
                <a16:creationId xmlns:a16="http://schemas.microsoft.com/office/drawing/2014/main" id="{9BEB01BF-F6E7-439E-8A01-5F8F24D4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0-head">
            <a:extLst xmlns:a="http://schemas.openxmlformats.org/drawingml/2006/main">
              <a:ext uri="{FF2B5EF4-FFF2-40B4-BE49-F238E27FC236}">
                <a16:creationId xmlns:a16="http://schemas.microsoft.com/office/drawing/2014/main" id="{3BE49BB3-49DE-40AA-A100-C90A784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b0">
            <a:extLst xmlns:a="http://schemas.openxmlformats.org/drawingml/2006/main">
              <a:ext uri="{FF2B5EF4-FFF2-40B4-BE49-F238E27FC236}">
                <a16:creationId xmlns:a16="http://schemas.microsoft.com/office/drawing/2014/main" id="{BED54D75-CA19-47BC-8A77-AF325E1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n0">
            <a:extLst xmlns:a="http://schemas.openxmlformats.org/drawingml/2006/main">
              <a:ext uri="{FF2B5EF4-FFF2-40B4-BE49-F238E27FC236}">
                <a16:creationId xmlns:a16="http://schemas.microsoft.com/office/drawing/2014/main" id="{F9025B2C-9BC7-4B62-834C-BC9A3AD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8FF"/>
                </a:solidFill>
              </a:defRPr>
            </a:pPr>
            <a:r>
              <a:rPr sz="1800" b="1">
                <a:solidFill>
                  <a:srgbClr val="2878FF"/>
                </a:solidFill>
              </a:rPr>
              <a:t>1</a:t>
            </a:r>
          </a:p>
        </p:txBody>
      </p:sp>
      <p:sp>
        <p:nvSpPr>
          <p:cNvPr id="8" name="pt0">
            <a:extLst xmlns:a="http://schemas.openxmlformats.org/drawingml/2006/main">
              <a:ext uri="{FF2B5EF4-FFF2-40B4-BE49-F238E27FC236}">
                <a16:creationId xmlns:a16="http://schemas.microsoft.com/office/drawing/2014/main" id="{50F6577D-A09C-4CE0-993B-B7A8117A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REQUEST</a:t>
            </a:r>
          </a:p>
        </p:txBody>
      </p:sp>
      <p:sp>
        <p:nvSpPr>
          <p:cNvPr id="9" name="pd0">
            <a:extLst xmlns:a="http://schemas.openxmlformats.org/drawingml/2006/main">
              <a:ext uri="{FF2B5EF4-FFF2-40B4-BE49-F238E27FC236}">
                <a16:creationId xmlns:a16="http://schemas.microsoft.com/office/drawing/2014/main" id="{B97CFE1D-1618-4C0E-88E3-96BEC25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Buyer agent calls /quote with an idempotency key.</a:t>
            </a:r>
          </a:p>
        </p:txBody>
      </p:sp>
      <p:sp>
        <p:nvSpPr>
          <p:cNvPr id="10" name="pa1-line">
            <a:extLst xmlns:a="http://schemas.openxmlformats.org/drawingml/2006/main">
              <a:ext uri="{FF2B5EF4-FFF2-40B4-BE49-F238E27FC236}">
                <a16:creationId xmlns:a16="http://schemas.microsoft.com/office/drawing/2014/main" id="{43761317-5BCF-4272-88A4-D8DFBCD6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1-head">
            <a:extLst xmlns:a="http://schemas.openxmlformats.org/drawingml/2006/main">
              <a:ext uri="{FF2B5EF4-FFF2-40B4-BE49-F238E27FC236}">
                <a16:creationId xmlns:a16="http://schemas.microsoft.com/office/drawing/2014/main" id="{4AF82377-528D-4E14-B99D-F6BA69C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b1">
            <a:extLst xmlns:a="http://schemas.openxmlformats.org/drawingml/2006/main">
              <a:ext uri="{FF2B5EF4-FFF2-40B4-BE49-F238E27FC236}">
                <a16:creationId xmlns:a16="http://schemas.microsoft.com/office/drawing/2014/main" id="{77287812-0EAB-4571-900D-BC6B3198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n1">
            <a:extLst xmlns:a="http://schemas.openxmlformats.org/drawingml/2006/main">
              <a:ext uri="{FF2B5EF4-FFF2-40B4-BE49-F238E27FC236}">
                <a16:creationId xmlns:a16="http://schemas.microsoft.com/office/drawing/2014/main" id="{ECD16914-5988-4196-965F-933CD362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8FF"/>
                </a:solidFill>
              </a:defRPr>
            </a:pPr>
            <a:r>
              <a:rPr sz="1800" b="1">
                <a:solidFill>
                  <a:srgbClr val="2878FF"/>
                </a:solidFill>
              </a:rPr>
              <a:t>2</a:t>
            </a:r>
          </a:p>
        </p:txBody>
      </p:sp>
      <p:sp>
        <p:nvSpPr>
          <p:cNvPr id="14" name="pt1">
            <a:extLst xmlns:a="http://schemas.openxmlformats.org/drawingml/2006/main">
              <a:ext uri="{FF2B5EF4-FFF2-40B4-BE49-F238E27FC236}">
                <a16:creationId xmlns:a16="http://schemas.microsoft.com/office/drawing/2014/main" id="{206D55A1-C48B-4E62-B4E4-ACAFF3A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402 PRICE</a:t>
            </a:r>
          </a:p>
        </p:txBody>
      </p:sp>
      <p:sp>
        <p:nvSpPr>
          <p:cNvPr id="15" name="pd1">
            <a:extLst xmlns:a="http://schemas.openxmlformats.org/drawingml/2006/main">
              <a:ext uri="{FF2B5EF4-FFF2-40B4-BE49-F238E27FC236}">
                <a16:creationId xmlns:a16="http://schemas.microsoft.com/office/drawing/2014/main" id="{A598F6FC-CF34-4EBC-AB34-A5CCE8E9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Merchant returns amount, USDC mint, payee, endpoint, and expiry.</a:t>
            </a:r>
          </a:p>
        </p:txBody>
      </p:sp>
      <p:sp>
        <p:nvSpPr>
          <p:cNvPr id="16" name="pa2-line">
            <a:extLst xmlns:a="http://schemas.openxmlformats.org/drawingml/2006/main">
              <a:ext uri="{FF2B5EF4-FFF2-40B4-BE49-F238E27FC236}">
                <a16:creationId xmlns:a16="http://schemas.microsoft.com/office/drawing/2014/main" id="{55329B19-44FA-43E7-9FE3-5AFDEEB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2-head">
            <a:extLst xmlns:a="http://schemas.openxmlformats.org/drawingml/2006/main">
              <a:ext uri="{FF2B5EF4-FFF2-40B4-BE49-F238E27FC236}">
                <a16:creationId xmlns:a16="http://schemas.microsoft.com/office/drawing/2014/main" id="{0AEECC00-A758-44CA-898F-5387ED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b2">
            <a:extLst xmlns:a="http://schemas.openxmlformats.org/drawingml/2006/main">
              <a:ext uri="{FF2B5EF4-FFF2-40B4-BE49-F238E27FC236}">
                <a16:creationId xmlns:a16="http://schemas.microsoft.com/office/drawing/2014/main" id="{FA5D2004-AD53-4A23-BD62-8B2F114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n2">
            <a:extLst xmlns:a="http://schemas.openxmlformats.org/drawingml/2006/main">
              <a:ext uri="{FF2B5EF4-FFF2-40B4-BE49-F238E27FC236}">
                <a16:creationId xmlns:a16="http://schemas.microsoft.com/office/drawing/2014/main" id="{51888BF4-DB04-4424-B51B-097C2FB1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pt2">
            <a:extLst xmlns:a="http://schemas.openxmlformats.org/drawingml/2006/main">
              <a:ext uri="{FF2B5EF4-FFF2-40B4-BE49-F238E27FC236}">
                <a16:creationId xmlns:a16="http://schemas.microsoft.com/office/drawing/2014/main" id="{082C7507-5765-4542-8373-F3974215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PAY</a:t>
            </a:r>
          </a:p>
        </p:txBody>
      </p:sp>
      <p:sp>
        <p:nvSpPr>
          <p:cNvPr id="21" name="pd2">
            <a:extLst xmlns:a="http://schemas.openxmlformats.org/drawingml/2006/main">
              <a:ext uri="{FF2B5EF4-FFF2-40B4-BE49-F238E27FC236}">
                <a16:creationId xmlns:a16="http://schemas.microsoft.com/office/drawing/2014/main" id="{5F026C87-2F66-4801-9215-86650275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Session wallet signs a budget-capped SPL USDC transfer.</a:t>
            </a:r>
          </a:p>
        </p:txBody>
      </p:sp>
      <p:sp>
        <p:nvSpPr>
          <p:cNvPr id="22" name="pa3-line">
            <a:extLst xmlns:a="http://schemas.openxmlformats.org/drawingml/2006/main">
              <a:ext uri="{FF2B5EF4-FFF2-40B4-BE49-F238E27FC236}">
                <a16:creationId xmlns:a16="http://schemas.microsoft.com/office/drawing/2014/main" id="{DA83547F-C797-481F-9A94-1BB83F1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194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3-head">
            <a:extLst xmlns:a="http://schemas.openxmlformats.org/drawingml/2006/main">
              <a:ext uri="{FF2B5EF4-FFF2-40B4-BE49-F238E27FC236}">
                <a16:creationId xmlns:a16="http://schemas.microsoft.com/office/drawing/2014/main" id="{967D96CF-4EDD-47D7-BA71-1D0BC05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b3">
            <a:extLst xmlns:a="http://schemas.openxmlformats.org/drawingml/2006/main">
              <a:ext uri="{FF2B5EF4-FFF2-40B4-BE49-F238E27FC236}">
                <a16:creationId xmlns:a16="http://schemas.microsoft.com/office/drawing/2014/main" id="{1A844EB9-D17B-496D-93F1-8F73FBB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n3">
            <a:extLst xmlns:a="http://schemas.openxmlformats.org/drawingml/2006/main">
              <a:ext uri="{FF2B5EF4-FFF2-40B4-BE49-F238E27FC236}">
                <a16:creationId xmlns:a16="http://schemas.microsoft.com/office/drawing/2014/main" id="{C9FCFFAD-8883-4B20-B3B1-D5E7654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8FF"/>
                </a:solidFill>
              </a:defRPr>
            </a:pPr>
            <a:r>
              <a:rPr sz="1800" b="1">
                <a:solidFill>
                  <a:srgbClr val="2878FF"/>
                </a:solidFill>
              </a:rPr>
              <a:t>4</a:t>
            </a:r>
          </a:p>
        </p:txBody>
      </p:sp>
      <p:sp>
        <p:nvSpPr>
          <p:cNvPr id="26" name="pt3">
            <a:extLst xmlns:a="http://schemas.openxmlformats.org/drawingml/2006/main">
              <a:ext uri="{FF2B5EF4-FFF2-40B4-BE49-F238E27FC236}">
                <a16:creationId xmlns:a16="http://schemas.microsoft.com/office/drawing/2014/main" id="{8EE3C428-4CF0-4919-BDC5-93CBF28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PROVE</a:t>
            </a:r>
          </a:p>
        </p:txBody>
      </p:sp>
      <p:sp>
        <p:nvSpPr>
          <p:cNvPr id="27" name="pd3">
            <a:extLst xmlns:a="http://schemas.openxmlformats.org/drawingml/2006/main">
              <a:ext uri="{FF2B5EF4-FFF2-40B4-BE49-F238E27FC236}">
                <a16:creationId xmlns:a16="http://schemas.microsoft.com/office/drawing/2014/main" id="{918934E6-F001-4C8B-BC44-3AE4B46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Agent retries with the transaction proof in X-Payment.</a:t>
            </a:r>
          </a:p>
        </p:txBody>
      </p:sp>
      <p:sp>
        <p:nvSpPr>
          <p:cNvPr id="28" name="pb4">
            <a:extLst xmlns:a="http://schemas.openxmlformats.org/drawingml/2006/main">
              <a:ext uri="{FF2B5EF4-FFF2-40B4-BE49-F238E27FC236}">
                <a16:creationId xmlns:a16="http://schemas.microsoft.com/office/drawing/2014/main" id="{BDE9CB79-DF9E-4196-8A98-1889CB0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95500"/>
            <a:ext cx="1866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n4">
            <a:extLst xmlns:a="http://schemas.openxmlformats.org/drawingml/2006/main">
              <a:ext uri="{FF2B5EF4-FFF2-40B4-BE49-F238E27FC236}">
                <a16:creationId xmlns:a16="http://schemas.microsoft.com/office/drawing/2014/main" id="{D1B07BB1-B27A-4554-97A8-35B23C83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66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8FF"/>
                </a:solidFill>
              </a:defRPr>
            </a:pPr>
            <a:r>
              <a:rPr sz="1800" b="1">
                <a:solidFill>
                  <a:srgbClr val="2878FF"/>
                </a:solidFill>
              </a:rPr>
              <a:t>5</a:t>
            </a:r>
          </a:p>
        </p:txBody>
      </p:sp>
      <p:sp>
        <p:nvSpPr>
          <p:cNvPr id="30" name="pt4">
            <a:extLst xmlns:a="http://schemas.openxmlformats.org/drawingml/2006/main">
              <a:ext uri="{FF2B5EF4-FFF2-40B4-BE49-F238E27FC236}">
                <a16:creationId xmlns:a16="http://schemas.microsoft.com/office/drawing/2014/main" id="{753C5CC8-A49E-44A3-BE88-4CD477F5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RESPOND</a:t>
            </a:r>
          </a:p>
        </p:txBody>
      </p:sp>
      <p:sp>
        <p:nvSpPr>
          <p:cNvPr id="31" name="pd4">
            <a:extLst xmlns:a="http://schemas.openxmlformats.org/drawingml/2006/main">
              <a:ext uri="{FF2B5EF4-FFF2-40B4-BE49-F238E27FC236}">
                <a16:creationId xmlns:a16="http://schemas.microsoft.com/office/drawing/2014/main" id="{CF71AA1E-9B22-478B-8F54-E73D52F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62300"/>
            <a:ext cx="152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Merchant verifies the transfer and returns a signed quote.</a:t>
            </a:r>
          </a:p>
        </p:txBody>
      </p:sp>
      <p:sp>
        <p:nvSpPr>
          <p:cNvPr id="32" name="micro-bg">
            <a:extLst xmlns:a="http://schemas.openxmlformats.org/drawingml/2006/main">
              <a:ext uri="{FF2B5EF4-FFF2-40B4-BE49-F238E27FC236}">
                <a16:creationId xmlns:a16="http://schemas.microsoft.com/office/drawing/2014/main" id="{85B2FF69-4EE5-4C5F-A2EE-7E5F9025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icro-tx">
            <a:extLst xmlns:a="http://schemas.openxmlformats.org/drawingml/2006/main">
              <a:ext uri="{FF2B5EF4-FFF2-40B4-BE49-F238E27FC236}">
                <a16:creationId xmlns:a16="http://schemas.microsoft.com/office/drawing/2014/main" id="{E938EBF4-CC51-483C-BAD4-61E8FB17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292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Micropayments use a constrained session wallet; final escrow funding always uses the buyer’s connected wallet.</a:t>
            </a:r>
          </a:p>
        </p:txBody>
      </p:sp>
      <p:sp>
        <p:nvSpPr>
          <p:cNvPr id="34" name="foot">
            <a:extLst xmlns:a="http://schemas.openxmlformats.org/drawingml/2006/main">
              <a:ext uri="{FF2B5EF4-FFF2-40B4-BE49-F238E27FC236}">
                <a16:creationId xmlns:a16="http://schemas.microsoft.com/office/drawing/2014/main" id="{0C630D7B-BE5F-48CF-9368-92CD915B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5898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CFC1A8A7-8013-4463-88E7-E82FB1B5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30CDE6-E0DC-4956-8909-65D86ECD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Why paid agent APIs are different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5B7BD7A-CE49-48C9-818C-AC228E14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1-bg">
            <a:extLst xmlns:a="http://schemas.openxmlformats.org/drawingml/2006/main">
              <a:ext uri="{FF2B5EF4-FFF2-40B4-BE49-F238E27FC236}">
                <a16:creationId xmlns:a16="http://schemas.microsoft.com/office/drawing/2014/main" id="{408B756D-CCA7-43EA-8EEB-8B4DA2E7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1-a">
            <a:extLst xmlns:a="http://schemas.openxmlformats.org/drawingml/2006/main">
              <a:ext uri="{FF2B5EF4-FFF2-40B4-BE49-F238E27FC236}">
                <a16:creationId xmlns:a16="http://schemas.microsoft.com/office/drawing/2014/main" id="{2D111C02-5A89-4CF2-BA56-1FA09947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1-t">
            <a:extLst xmlns:a="http://schemas.openxmlformats.org/drawingml/2006/main">
              <a:ext uri="{FF2B5EF4-FFF2-40B4-BE49-F238E27FC236}">
                <a16:creationId xmlns:a16="http://schemas.microsoft.com/office/drawing/2014/main" id="{EFA8E631-497E-450E-99BF-ACDE9C9A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Price is part of the protocol</a:t>
            </a:r>
          </a:p>
        </p:txBody>
      </p:sp>
      <p:sp>
        <p:nvSpPr>
          <p:cNvPr id="7" name="a1-b">
            <a:extLst xmlns:a="http://schemas.openxmlformats.org/drawingml/2006/main">
              <a:ext uri="{FF2B5EF4-FFF2-40B4-BE49-F238E27FC236}">
                <a16:creationId xmlns:a16="http://schemas.microsoft.com/office/drawing/2014/main" id="{34088926-B1D6-483B-AF80-A516A3B4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The service tells the calling agent exactly what the capability costs before work begins.</a:t>
            </a:r>
          </a:p>
        </p:txBody>
      </p:sp>
      <p:sp>
        <p:nvSpPr>
          <p:cNvPr id="8" name="a2-bg">
            <a:extLst xmlns:a="http://schemas.openxmlformats.org/drawingml/2006/main">
              <a:ext uri="{FF2B5EF4-FFF2-40B4-BE49-F238E27FC236}">
                <a16:creationId xmlns:a16="http://schemas.microsoft.com/office/drawing/2014/main" id="{E32C6BC8-0ED2-4C05-8CE7-834AEF5E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2-a">
            <a:extLst xmlns:a="http://schemas.openxmlformats.org/drawingml/2006/main">
              <a:ext uri="{FF2B5EF4-FFF2-40B4-BE49-F238E27FC236}">
                <a16:creationId xmlns:a16="http://schemas.microsoft.com/office/drawing/2014/main" id="{CA3B0A89-E0D5-47E0-A2EA-CC6AFB0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2-t">
            <a:extLst xmlns:a="http://schemas.openxmlformats.org/drawingml/2006/main">
              <a:ext uri="{FF2B5EF4-FFF2-40B4-BE49-F238E27FC236}">
                <a16:creationId xmlns:a16="http://schemas.microsoft.com/office/drawing/2014/main" id="{103983EF-EE7A-492B-A14C-02AB2134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Budgets are enforceable</a:t>
            </a:r>
          </a:p>
        </p:txBody>
      </p:sp>
      <p:sp>
        <p:nvSpPr>
          <p:cNvPr id="11" name="a2-b">
            <a:extLst xmlns:a="http://schemas.openxmlformats.org/drawingml/2006/main">
              <a:ext uri="{FF2B5EF4-FFF2-40B4-BE49-F238E27FC236}">
                <a16:creationId xmlns:a16="http://schemas.microsoft.com/office/drawing/2014/main" id="{65C2CAE5-1DC0-4822-AAAC-E03E235B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Per-call, per-task, daily, payment-count, and distinct-merchant limits stop runaway spend.</a:t>
            </a:r>
          </a:p>
        </p:txBody>
      </p:sp>
      <p:sp>
        <p:nvSpPr>
          <p:cNvPr id="12" name="a3-bg">
            <a:extLst xmlns:a="http://schemas.openxmlformats.org/drawingml/2006/main">
              <a:ext uri="{FF2B5EF4-FFF2-40B4-BE49-F238E27FC236}">
                <a16:creationId xmlns:a16="http://schemas.microsoft.com/office/drawing/2014/main" id="{1936E11A-A43E-4543-8BA4-7F5D641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3-a">
            <a:extLst xmlns:a="http://schemas.openxmlformats.org/drawingml/2006/main">
              <a:ext uri="{FF2B5EF4-FFF2-40B4-BE49-F238E27FC236}">
                <a16:creationId xmlns:a16="http://schemas.microsoft.com/office/drawing/2014/main" id="{59FD92C3-10D8-4F56-BCBD-327503C2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3-t">
            <a:extLst xmlns:a="http://schemas.openxmlformats.org/drawingml/2006/main">
              <a:ext uri="{FF2B5EF4-FFF2-40B4-BE49-F238E27FC236}">
                <a16:creationId xmlns:a16="http://schemas.microsoft.com/office/drawing/2014/main" id="{3D45F8D6-E5BF-4D19-B5F1-9AAC399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Proof is portable</a:t>
            </a:r>
          </a:p>
        </p:txBody>
      </p:sp>
      <p:sp>
        <p:nvSpPr>
          <p:cNvPr id="15" name="a3-b">
            <a:extLst xmlns:a="http://schemas.openxmlformats.org/drawingml/2006/main">
              <a:ext uri="{FF2B5EF4-FFF2-40B4-BE49-F238E27FC236}">
                <a16:creationId xmlns:a16="http://schemas.microsoft.com/office/drawing/2014/main" id="{1AD891E5-6032-4443-8CA0-2CA13F14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A Solana transaction signature can be verified independently instead of trusting an internal platform ledger.</a:t>
            </a:r>
          </a:p>
        </p:txBody>
      </p:sp>
      <p:sp>
        <p:nvSpPr>
          <p:cNvPr id="16" name="a4-bg">
            <a:extLst xmlns:a="http://schemas.openxmlformats.org/drawingml/2006/main">
              <a:ext uri="{FF2B5EF4-FFF2-40B4-BE49-F238E27FC236}">
                <a16:creationId xmlns:a16="http://schemas.microsoft.com/office/drawing/2014/main" id="{673A758A-D9E5-4AB5-928B-3E138ED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4-a">
            <a:extLst xmlns:a="http://schemas.openxmlformats.org/drawingml/2006/main">
              <a:ext uri="{FF2B5EF4-FFF2-40B4-BE49-F238E27FC236}">
                <a16:creationId xmlns:a16="http://schemas.microsoft.com/office/drawing/2014/main" id="{2D37E9EC-449C-45D2-AA67-8399BCF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D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4-t">
            <a:extLst xmlns:a="http://schemas.openxmlformats.org/drawingml/2006/main">
              <a:ext uri="{FF2B5EF4-FFF2-40B4-BE49-F238E27FC236}">
                <a16:creationId xmlns:a16="http://schemas.microsoft.com/office/drawing/2014/main" id="{B271ECDB-33C2-4980-8F3B-DA25DBD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719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Agents can retry safely</a:t>
            </a:r>
          </a:p>
        </p:txBody>
      </p:sp>
      <p:sp>
        <p:nvSpPr>
          <p:cNvPr id="19" name="a4-b">
            <a:extLst xmlns:a="http://schemas.openxmlformats.org/drawingml/2006/main">
              <a:ext uri="{FF2B5EF4-FFF2-40B4-BE49-F238E27FC236}">
                <a16:creationId xmlns:a16="http://schemas.microsoft.com/office/drawing/2014/main" id="{64677A40-48EB-4F75-8F9B-18F5E4F6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7200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Idempotency binds payment, request payload, and response; replayed proofs are rejected.</a:t>
            </a:r>
          </a:p>
        </p:txBody>
      </p:sp>
      <p:sp>
        <p:nvSpPr>
          <p:cNvPr id="20" name="a5-bg">
            <a:extLst xmlns:a="http://schemas.openxmlformats.org/drawingml/2006/main">
              <a:ext uri="{FF2B5EF4-FFF2-40B4-BE49-F238E27FC236}">
                <a16:creationId xmlns:a16="http://schemas.microsoft.com/office/drawing/2014/main" id="{124B601D-948A-4EEB-A882-9BF6A99C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5-a">
            <a:extLst xmlns:a="http://schemas.openxmlformats.org/drawingml/2006/main">
              <a:ext uri="{FF2B5EF4-FFF2-40B4-BE49-F238E27FC236}">
                <a16:creationId xmlns:a16="http://schemas.microsoft.com/office/drawing/2014/main" id="{5199C458-489B-48C1-85CE-BA7F7A98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5-t">
            <a:extLst xmlns:a="http://schemas.openxmlformats.org/drawingml/2006/main">
              <a:ext uri="{FF2B5EF4-FFF2-40B4-BE49-F238E27FC236}">
                <a16:creationId xmlns:a16="http://schemas.microsoft.com/office/drawing/2014/main" id="{7F14B5EA-8439-42D0-9739-C5857C7B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Humans approve value transfer</a:t>
            </a:r>
          </a:p>
        </p:txBody>
      </p:sp>
      <p:sp>
        <p:nvSpPr>
          <p:cNvPr id="23" name="a5-b">
            <a:extLst xmlns:a="http://schemas.openxmlformats.org/drawingml/2006/main">
              <a:ext uri="{FF2B5EF4-FFF2-40B4-BE49-F238E27FC236}">
                <a16:creationId xmlns:a16="http://schemas.microsoft.com/office/drawing/2014/main" id="{B0513792-418E-430B-9D83-DB6215F4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72000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Autonomy handles research; the user still signs the final purchase commitment.</a:t>
            </a:r>
          </a:p>
        </p:txBody>
      </p:sp>
      <p:sp>
        <p:nvSpPr>
          <p:cNvPr id="24" name="foot">
            <a:extLst xmlns:a="http://schemas.openxmlformats.org/drawingml/2006/main">
              <a:ext uri="{FF2B5EF4-FFF2-40B4-BE49-F238E27FC236}">
                <a16:creationId xmlns:a16="http://schemas.microsoft.com/office/drawing/2014/main" id="{451ED3EE-5CD7-4501-BAB6-4527C99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58002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C9E0DDFC-3366-4617-98FA-3DD7830B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3AB60F-8D31-4BAE-B091-3BD17A0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Traditional marketplace vs. MerchantMesh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B54323E-8195-4394-9A5C-DA8C7151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h">
            <a:extLst xmlns:a="http://schemas.openxmlformats.org/drawingml/2006/main">
              <a:ext uri="{FF2B5EF4-FFF2-40B4-BE49-F238E27FC236}">
                <a16:creationId xmlns:a16="http://schemas.microsoft.com/office/drawing/2014/main" id="{841A81FA-31DE-4BA4-B974-B714A6F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0">
            <a:extLst xmlns:a="http://schemas.openxmlformats.org/drawingml/2006/main">
              <a:ext uri="{FF2B5EF4-FFF2-40B4-BE49-F238E27FC236}">
                <a16:creationId xmlns:a16="http://schemas.microsoft.com/office/drawing/2014/main" id="{4831A400-0BB1-4CBE-9C5B-6242442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6" name="h1">
            <a:extLst xmlns:a="http://schemas.openxmlformats.org/drawingml/2006/main">
              <a:ext uri="{FF2B5EF4-FFF2-40B4-BE49-F238E27FC236}">
                <a16:creationId xmlns:a16="http://schemas.microsoft.com/office/drawing/2014/main" id="{3AB8501E-4FC1-4A63-8250-E0584A52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33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TRADITIONAL</a:t>
            </a:r>
          </a:p>
        </p:txBody>
      </p:sp>
      <p:sp>
        <p:nvSpPr>
          <p:cNvPr id="7" name="h2">
            <a:extLst xmlns:a="http://schemas.openxmlformats.org/drawingml/2006/main">
              <a:ext uri="{FF2B5EF4-FFF2-40B4-BE49-F238E27FC236}">
                <a16:creationId xmlns:a16="http://schemas.microsoft.com/office/drawing/2014/main" id="{558460AE-E860-40F3-BF15-C81EDA7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MERCHANTMESH</a:t>
            </a:r>
          </a:p>
        </p:txBody>
      </p:sp>
      <p:sp>
        <p:nvSpPr>
          <p:cNvPr id="8" name="row0">
            <a:extLst xmlns:a="http://schemas.openxmlformats.org/drawingml/2006/main">
              <a:ext uri="{FF2B5EF4-FFF2-40B4-BE49-F238E27FC236}">
                <a16:creationId xmlns:a16="http://schemas.microsoft.com/office/drawing/2014/main" id="{5C3EF97A-7DBE-4352-AABA-B246D95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00">
            <a:extLst xmlns:a="http://schemas.openxmlformats.org/drawingml/2006/main">
              <a:ext uri="{FF2B5EF4-FFF2-40B4-BE49-F238E27FC236}">
                <a16:creationId xmlns:a16="http://schemas.microsoft.com/office/drawing/2014/main" id="{A75A81EB-9FD3-4E73-BB5A-12AC330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Discovery</a:t>
            </a:r>
          </a:p>
        </p:txBody>
      </p:sp>
      <p:sp>
        <p:nvSpPr>
          <p:cNvPr id="10" name="c10">
            <a:extLst xmlns:a="http://schemas.openxmlformats.org/drawingml/2006/main">
              <a:ext uri="{FF2B5EF4-FFF2-40B4-BE49-F238E27FC236}">
                <a16:creationId xmlns:a16="http://schemas.microsoft.com/office/drawing/2014/main" id="{DFE07F8F-DBFC-4176-911D-2C6CD21E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574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Static catalog or manual search</a:t>
            </a:r>
          </a:p>
        </p:txBody>
      </p:sp>
      <p:sp>
        <p:nvSpPr>
          <p:cNvPr id="11" name="c20">
            <a:extLst xmlns:a="http://schemas.openxmlformats.org/drawingml/2006/main">
              <a:ext uri="{FF2B5EF4-FFF2-40B4-BE49-F238E27FC236}">
                <a16:creationId xmlns:a16="http://schemas.microsoft.com/office/drawing/2014/main" id="{5B35E6A9-6D1B-4C18-AA02-83A909A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D12"/>
                </a:solidFill>
              </a:defRPr>
            </a:pPr>
            <a:r>
              <a:rPr sz="1200" b="1">
                <a:solidFill>
                  <a:srgbClr val="0A0D12"/>
                </a:solidFill>
              </a:rPr>
              <a:t>Live requests to nearby merchant agents</a:t>
            </a:r>
          </a:p>
        </p:txBody>
      </p:sp>
      <p:sp>
        <p:nvSpPr>
          <p:cNvPr id="12" name="row1">
            <a:extLst xmlns:a="http://schemas.openxmlformats.org/drawingml/2006/main">
              <a:ext uri="{FF2B5EF4-FFF2-40B4-BE49-F238E27FC236}">
                <a16:creationId xmlns:a16="http://schemas.microsoft.com/office/drawing/2014/main" id="{1EC6F586-32BA-4964-9BE1-B5F5D666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01">
            <a:extLst xmlns:a="http://schemas.openxmlformats.org/drawingml/2006/main">
              <a:ext uri="{FF2B5EF4-FFF2-40B4-BE49-F238E27FC236}">
                <a16:creationId xmlns:a16="http://schemas.microsoft.com/office/drawing/2014/main" id="{05D18D5E-F59A-4BC9-A979-182CBACE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Integration</a:t>
            </a:r>
          </a:p>
        </p:txBody>
      </p:sp>
      <p:sp>
        <p:nvSpPr>
          <p:cNvPr id="14" name="c11">
            <a:extLst xmlns:a="http://schemas.openxmlformats.org/drawingml/2006/main">
              <a:ext uri="{FF2B5EF4-FFF2-40B4-BE49-F238E27FC236}">
                <a16:creationId xmlns:a16="http://schemas.microsoft.com/office/drawing/2014/main" id="{D8185EE0-B1B1-404A-8EBD-C0481BE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860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Platform-specific backend workflows</a:t>
            </a:r>
          </a:p>
        </p:txBody>
      </p:sp>
      <p:sp>
        <p:nvSpPr>
          <p:cNvPr id="15" name="c21">
            <a:extLst xmlns:a="http://schemas.openxmlformats.org/drawingml/2006/main">
              <a:ext uri="{FF2B5EF4-FFF2-40B4-BE49-F238E27FC236}">
                <a16:creationId xmlns:a16="http://schemas.microsoft.com/office/drawing/2014/main" id="{BA8B5F42-FA0B-4BBD-8931-A8E50B8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60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D12"/>
                </a:solidFill>
              </a:defRPr>
            </a:pPr>
            <a:r>
              <a:rPr sz="1200" b="1">
                <a:solidFill>
                  <a:srgbClr val="0A0D12"/>
                </a:solidFill>
              </a:rPr>
              <a:t>Paid capability endpoints with a standard handshake</a:t>
            </a:r>
          </a:p>
        </p:txBody>
      </p:sp>
      <p:sp>
        <p:nvSpPr>
          <p:cNvPr id="16" name="row2">
            <a:extLst xmlns:a="http://schemas.openxmlformats.org/drawingml/2006/main">
              <a:ext uri="{FF2B5EF4-FFF2-40B4-BE49-F238E27FC236}">
                <a16:creationId xmlns:a16="http://schemas.microsoft.com/office/drawing/2014/main" id="{379155F6-C8FB-44BA-8B11-83B36A0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02">
            <a:extLst xmlns:a="http://schemas.openxmlformats.org/drawingml/2006/main">
              <a:ext uri="{FF2B5EF4-FFF2-40B4-BE49-F238E27FC236}">
                <a16:creationId xmlns:a16="http://schemas.microsoft.com/office/drawing/2014/main" id="{0FE89C06-E7C2-4F7A-BA62-91CEE0A2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Pricing authority</a:t>
            </a:r>
          </a:p>
        </p:txBody>
      </p:sp>
      <p:sp>
        <p:nvSpPr>
          <p:cNvPr id="18" name="c12">
            <a:extLst xmlns:a="http://schemas.openxmlformats.org/drawingml/2006/main">
              <a:ext uri="{FF2B5EF4-FFF2-40B4-BE49-F238E27FC236}">
                <a16:creationId xmlns:a16="http://schemas.microsoft.com/office/drawing/2014/main" id="{A35595A5-6A1B-467F-A126-759E3694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Platform database or merchant UI</a:t>
            </a:r>
          </a:p>
        </p:txBody>
      </p:sp>
      <p:sp>
        <p:nvSpPr>
          <p:cNvPr id="19" name="c22">
            <a:extLst xmlns:a="http://schemas.openxmlformats.org/drawingml/2006/main">
              <a:ext uri="{FF2B5EF4-FFF2-40B4-BE49-F238E27FC236}">
                <a16:creationId xmlns:a16="http://schemas.microsoft.com/office/drawing/2014/main" id="{2BA2E924-F2E0-41D4-93A6-C2DE2B11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147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D12"/>
                </a:solidFill>
              </a:defRPr>
            </a:pPr>
            <a:r>
              <a:rPr sz="1200" b="1">
                <a:solidFill>
                  <a:srgbClr val="0A0D12"/>
                </a:solidFill>
              </a:rPr>
              <a:t>Inventory data + deterministic policy + signed quote</a:t>
            </a:r>
          </a:p>
        </p:txBody>
      </p:sp>
      <p:sp>
        <p:nvSpPr>
          <p:cNvPr id="20" name="row3">
            <a:extLst xmlns:a="http://schemas.openxmlformats.org/drawingml/2006/main">
              <a:ext uri="{FF2B5EF4-FFF2-40B4-BE49-F238E27FC236}">
                <a16:creationId xmlns:a16="http://schemas.microsoft.com/office/drawing/2014/main" id="{A336BFF4-2DE3-4D07-8464-1D79D48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03">
            <a:extLst xmlns:a="http://schemas.openxmlformats.org/drawingml/2006/main">
              <a:ext uri="{FF2B5EF4-FFF2-40B4-BE49-F238E27FC236}">
                <a16:creationId xmlns:a16="http://schemas.microsoft.com/office/drawing/2014/main" id="{F778893D-FD89-45BC-93A8-3BA658DF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Payment</a:t>
            </a:r>
          </a:p>
        </p:txBody>
      </p:sp>
      <p:sp>
        <p:nvSpPr>
          <p:cNvPr id="22" name="c13">
            <a:extLst xmlns:a="http://schemas.openxmlformats.org/drawingml/2006/main">
              <a:ext uri="{FF2B5EF4-FFF2-40B4-BE49-F238E27FC236}">
                <a16:creationId xmlns:a16="http://schemas.microsoft.com/office/drawing/2014/main" id="{A7130067-317D-46D7-9F7F-461E34A3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433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Central platform capture and ledger</a:t>
            </a:r>
          </a:p>
        </p:txBody>
      </p:sp>
      <p:sp>
        <p:nvSpPr>
          <p:cNvPr id="23" name="c23">
            <a:extLst xmlns:a="http://schemas.openxmlformats.org/drawingml/2006/main">
              <a:ext uri="{FF2B5EF4-FFF2-40B4-BE49-F238E27FC236}">
                <a16:creationId xmlns:a16="http://schemas.microsoft.com/office/drawing/2014/main" id="{5F863D79-CF77-4F66-A486-26F55A8E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D12"/>
                </a:solidFill>
              </a:defRPr>
            </a:pPr>
            <a:r>
              <a:rPr sz="1200" b="1">
                <a:solidFill>
                  <a:srgbClr val="0A0D12"/>
                </a:solidFill>
              </a:rPr>
              <a:t>SPL USDC micropayments + buyer-funded escrow</a:t>
            </a:r>
          </a:p>
        </p:txBody>
      </p:sp>
      <p:sp>
        <p:nvSpPr>
          <p:cNvPr id="24" name="row4">
            <a:extLst xmlns:a="http://schemas.openxmlformats.org/drawingml/2006/main">
              <a:ext uri="{FF2B5EF4-FFF2-40B4-BE49-F238E27FC236}">
                <a16:creationId xmlns:a16="http://schemas.microsoft.com/office/drawing/2014/main" id="{879D1D5C-A5DE-4E6B-9B92-0FDC8CF6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04">
            <a:extLst xmlns:a="http://schemas.openxmlformats.org/drawingml/2006/main">
              <a:ext uri="{FF2B5EF4-FFF2-40B4-BE49-F238E27FC236}">
                <a16:creationId xmlns:a16="http://schemas.microsoft.com/office/drawing/2014/main" id="{5E13C972-BE84-4742-8FBE-00E41E9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Settlement</a:t>
            </a:r>
          </a:p>
        </p:txBody>
      </p:sp>
      <p:sp>
        <p:nvSpPr>
          <p:cNvPr id="26" name="c14">
            <a:extLst xmlns:a="http://schemas.openxmlformats.org/drawingml/2006/main">
              <a:ext uri="{FF2B5EF4-FFF2-40B4-BE49-F238E27FC236}">
                <a16:creationId xmlns:a16="http://schemas.microsoft.com/office/drawing/2014/main" id="{6350F839-86F9-4EF0-80D6-3EA3263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720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Platform-controlled release</a:t>
            </a:r>
          </a:p>
        </p:txBody>
      </p:sp>
      <p:sp>
        <p:nvSpPr>
          <p:cNvPr id="27" name="c24">
            <a:extLst xmlns:a="http://schemas.openxmlformats.org/drawingml/2006/main">
              <a:ext uri="{FF2B5EF4-FFF2-40B4-BE49-F238E27FC236}">
                <a16:creationId xmlns:a16="http://schemas.microsoft.com/office/drawing/2014/main" id="{30C7C75E-08B7-4131-BD7B-B2436C07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720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D12"/>
                </a:solidFill>
              </a:defRPr>
            </a:pPr>
            <a:r>
              <a:rPr sz="1200" b="1">
                <a:solidFill>
                  <a:srgbClr val="0A0D12"/>
                </a:solidFill>
              </a:rPr>
              <a:t>Program-enforced pickup, refund, and dispute states</a:t>
            </a:r>
          </a:p>
        </p:txBody>
      </p:sp>
      <p:sp>
        <p:nvSpPr>
          <p:cNvPr id="28" name="row5">
            <a:extLst xmlns:a="http://schemas.openxmlformats.org/drawingml/2006/main">
              <a:ext uri="{FF2B5EF4-FFF2-40B4-BE49-F238E27FC236}">
                <a16:creationId xmlns:a16="http://schemas.microsoft.com/office/drawing/2014/main" id="{2B13AF95-2FD5-4B20-91C8-B866DD9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05">
            <a:extLst xmlns:a="http://schemas.openxmlformats.org/drawingml/2006/main">
              <a:ext uri="{FF2B5EF4-FFF2-40B4-BE49-F238E27FC236}">
                <a16:creationId xmlns:a16="http://schemas.microsoft.com/office/drawing/2014/main" id="{D54128BD-2626-4B9C-A42E-13F2E84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Audit trail</a:t>
            </a:r>
          </a:p>
        </p:txBody>
      </p:sp>
      <p:sp>
        <p:nvSpPr>
          <p:cNvPr id="30" name="c15">
            <a:extLst xmlns:a="http://schemas.openxmlformats.org/drawingml/2006/main">
              <a:ext uri="{FF2B5EF4-FFF2-40B4-BE49-F238E27FC236}">
                <a16:creationId xmlns:a16="http://schemas.microsoft.com/office/drawing/2014/main" id="{2B805AEB-0817-4EA4-88FE-0FA1D650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006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70"/>
                </a:solidFill>
              </a:defRPr>
            </a:pPr>
            <a:r>
              <a:rPr sz="1200" b="0">
                <a:solidFill>
                  <a:srgbClr val="596170"/>
                </a:solidFill>
              </a:rPr>
              <a:t>Internal logs</a:t>
            </a:r>
          </a:p>
        </p:txBody>
      </p:sp>
      <p:sp>
        <p:nvSpPr>
          <p:cNvPr id="31" name="c25">
            <a:extLst xmlns:a="http://schemas.openxmlformats.org/drawingml/2006/main">
              <a:ext uri="{FF2B5EF4-FFF2-40B4-BE49-F238E27FC236}">
                <a16:creationId xmlns:a16="http://schemas.microsoft.com/office/drawing/2014/main" id="{B7FB90D0-5C8F-48E2-9C8E-7EB8874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006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D12"/>
                </a:solidFill>
              </a:defRPr>
            </a:pPr>
            <a:r>
              <a:rPr sz="1200" b="1">
                <a:solidFill>
                  <a:srgbClr val="0A0D12"/>
                </a:solidFill>
              </a:rPr>
              <a:t>Signed quotes, payment proofs, and on-chain receipts</a:t>
            </a:r>
          </a:p>
        </p:txBody>
      </p:sp>
      <p:sp>
        <p:nvSpPr>
          <p:cNvPr id="32" name="foot">
            <a:extLst xmlns:a="http://schemas.openxmlformats.org/drawingml/2006/main">
              <a:ext uri="{FF2B5EF4-FFF2-40B4-BE49-F238E27FC236}">
                <a16:creationId xmlns:a16="http://schemas.microsoft.com/office/drawing/2014/main" id="{8376E56D-7B0F-4D78-9A04-F6ABEE6A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8150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DB08ABD6-F869-486E-888F-8D45CC27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8FC9BE-C2BB-4CA3-B85D-F17DE04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Acceptance before funding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D27671D-40F4-4204-9CF8-87F817E9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1dc7054f9448f"/>
          <a:stretch xmlns:a="http://schemas.openxmlformats.org/drawingml/2006/main"/>
        </p:blipFill>
        <p:spPr>
          <a:xfrm xmlns:a="http://schemas.openxmlformats.org/drawingml/2006/main">
            <a:off x="571500" y="2363436"/>
            <a:ext cx="5286375" cy="1035753"/>
          </a:xfrm>
          <a:prstGeom xmlns:a="http://schemas.openxmlformats.org/drawingml/2006/main" prst="rect">
            <a:avLst/>
          </a:prstGeom>
        </p:spPr>
      </p:pic>
      <p:sp>
        <p:nvSpPr>
          <p:cNvPr id="5" name="between-line">
            <a:extLst xmlns:a="http://schemas.openxmlformats.org/drawingml/2006/main">
              <a:ext uri="{FF2B5EF4-FFF2-40B4-BE49-F238E27FC236}">
                <a16:creationId xmlns:a16="http://schemas.microsoft.com/office/drawing/2014/main" id="{9A8692D5-12DB-4395-937E-00F33A2A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etween-head">
            <a:extLst xmlns:a="http://schemas.openxmlformats.org/drawingml/2006/main">
              <a:ext uri="{FF2B5EF4-FFF2-40B4-BE49-F238E27FC236}">
                <a16:creationId xmlns:a16="http://schemas.microsoft.com/office/drawing/2014/main" id="{B0B1B542-4B46-4967-A4FB-F775EDC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3d4b7dbdd4ef1"/>
          <a:stretch xmlns:a="http://schemas.openxmlformats.org/drawingml/2006/main"/>
        </p:blipFill>
        <p:spPr>
          <a:xfrm xmlns:a="http://schemas.openxmlformats.org/drawingml/2006/main">
            <a:off x="6572250" y="1897133"/>
            <a:ext cx="5048250" cy="2587484"/>
          </a:xfrm>
          <a:prstGeom xmlns:a="http://schemas.openxmlformats.org/drawingml/2006/main" prst="rect">
            <a:avLst/>
          </a:prstGeom>
        </p:spPr>
      </p:pic>
      <p:sp>
        <p:nvSpPr>
          <p:cNvPr id="8" name="l1">
            <a:extLst xmlns:a="http://schemas.openxmlformats.org/drawingml/2006/main">
              <a:ext uri="{FF2B5EF4-FFF2-40B4-BE49-F238E27FC236}">
                <a16:creationId xmlns:a16="http://schemas.microsoft.com/office/drawing/2014/main" id="{86A57E6E-060D-46D3-9E0E-535DDA27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1 · Merchant confirmation</a:t>
            </a:r>
          </a:p>
        </p:txBody>
      </p:sp>
      <p:sp>
        <p:nvSpPr>
          <p:cNvPr id="9" name="lb">
            <a:extLst xmlns:a="http://schemas.openxmlformats.org/drawingml/2006/main">
              <a:ext uri="{FF2B5EF4-FFF2-40B4-BE49-F238E27FC236}">
                <a16:creationId xmlns:a16="http://schemas.microsoft.com/office/drawing/2014/main" id="{111FF8AF-79C7-4CE7-BFC0-73ED1B89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Selected merchants explicitly accept or reject the order before escrow exists.</a:t>
            </a:r>
          </a:p>
        </p:txBody>
      </p:sp>
      <p:sp>
        <p:nvSpPr>
          <p:cNvPr id="10" name="l2">
            <a:extLst xmlns:a="http://schemas.openxmlformats.org/drawingml/2006/main">
              <a:ext uri="{FF2B5EF4-FFF2-40B4-BE49-F238E27FC236}">
                <a16:creationId xmlns:a16="http://schemas.microsoft.com/office/drawing/2014/main" id="{88F7214D-20BB-462C-A8CA-D1CF8E6A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2 · Final payment approval</a:t>
            </a:r>
          </a:p>
        </p:txBody>
      </p:sp>
      <p:sp>
        <p:nvSpPr>
          <p:cNvPr id="11" name="rb">
            <a:extLst xmlns:a="http://schemas.openxmlformats.org/drawingml/2006/main">
              <a:ext uri="{FF2B5EF4-FFF2-40B4-BE49-F238E27FC236}">
                <a16:creationId xmlns:a16="http://schemas.microsoft.com/office/drawing/2014/main" id="{3644AE10-880B-451F-9FCD-BB8D6DC7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After every merchant confirms, Phantom opens for buyer-signed escrow funding.</a:t>
            </a:r>
          </a:p>
        </p:txBody>
      </p:sp>
      <p:sp>
        <p:nvSpPr>
          <p:cNvPr id="12" name="rule-bg">
            <a:extLst xmlns:a="http://schemas.openxmlformats.org/drawingml/2006/main">
              <a:ext uri="{FF2B5EF4-FFF2-40B4-BE49-F238E27FC236}">
                <a16:creationId xmlns:a16="http://schemas.microsoft.com/office/drawing/2014/main" id="{BF71E914-A4AD-4724-A565-F2C971A4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3125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tx">
            <a:extLst xmlns:a="http://schemas.openxmlformats.org/drawingml/2006/main">
              <a:ext uri="{FF2B5EF4-FFF2-40B4-BE49-F238E27FC236}">
                <a16:creationId xmlns:a16="http://schemas.microsoft.com/office/drawing/2014/main" id="{69FEC4F3-F00F-48B6-988C-AAAB87B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912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Escrow cannot advance to pickup release unless funding succeeds on-chain.</a:t>
            </a:r>
          </a:p>
        </p:txBody>
      </p:sp>
      <p:sp>
        <p:nvSpPr>
          <p:cNvPr id="14" name="foot">
            <a:extLst xmlns:a="http://schemas.openxmlformats.org/drawingml/2006/main">
              <a:ext uri="{FF2B5EF4-FFF2-40B4-BE49-F238E27FC236}">
                <a16:creationId xmlns:a16="http://schemas.microsoft.com/office/drawing/2014/main" id="{817C0DC0-FDEA-4B8D-B659-33A4ABFD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3088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7B432F2E-DA5F-4496-9F54-40A9172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96CEC0-E8C6-4E58-BEA4-93678855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System architecture: AI proposes, services verify, Solana settles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F5F31C9-514D-49F2-93FF-4F7B23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1-line">
            <a:extLst xmlns:a="http://schemas.openxmlformats.org/drawingml/2006/main">
              <a:ext uri="{FF2B5EF4-FFF2-40B4-BE49-F238E27FC236}">
                <a16:creationId xmlns:a16="http://schemas.microsoft.com/office/drawing/2014/main" id="{24F3E7B9-D4FF-4385-BAD6-CCEA4E2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1-head">
            <a:extLst xmlns:a="http://schemas.openxmlformats.org/drawingml/2006/main">
              <a:ext uri="{FF2B5EF4-FFF2-40B4-BE49-F238E27FC236}">
                <a16:creationId xmlns:a16="http://schemas.microsoft.com/office/drawing/2014/main" id="{6B6C4318-CBC9-466B-A77C-3355324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52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2-line">
            <a:extLst xmlns:a="http://schemas.openxmlformats.org/drawingml/2006/main">
              <a:ext uri="{FF2B5EF4-FFF2-40B4-BE49-F238E27FC236}">
                <a16:creationId xmlns:a16="http://schemas.microsoft.com/office/drawing/2014/main" id="{AAC74CF4-B8E3-4F04-B045-0C3B8B1A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2-head">
            <a:extLst xmlns:a="http://schemas.openxmlformats.org/drawingml/2006/main">
              <a:ext uri="{FF2B5EF4-FFF2-40B4-BE49-F238E27FC236}">
                <a16:creationId xmlns:a16="http://schemas.microsoft.com/office/drawing/2014/main" id="{F968378B-81F3-417D-BCAB-0BDF65C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3-line">
            <a:extLst xmlns:a="http://schemas.openxmlformats.org/drawingml/2006/main">
              <a:ext uri="{FF2B5EF4-FFF2-40B4-BE49-F238E27FC236}">
                <a16:creationId xmlns:a16="http://schemas.microsoft.com/office/drawing/2014/main" id="{177DC8C2-AA2A-4226-A166-4ACE0739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3-head">
            <a:extLst xmlns:a="http://schemas.openxmlformats.org/drawingml/2006/main">
              <a:ext uri="{FF2B5EF4-FFF2-40B4-BE49-F238E27FC236}">
                <a16:creationId xmlns:a16="http://schemas.microsoft.com/office/drawing/2014/main" id="{32B2EBB6-7473-4D56-9B4A-4D9AEBA5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52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1">
            <a:extLst xmlns:a="http://schemas.openxmlformats.org/drawingml/2006/main">
              <a:ext uri="{FF2B5EF4-FFF2-40B4-BE49-F238E27FC236}">
                <a16:creationId xmlns:a16="http://schemas.microsoft.com/office/drawing/2014/main" id="{FA0051C8-074A-41E7-B693-4E838686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2">
            <a:extLst xmlns:a="http://schemas.openxmlformats.org/drawingml/2006/main">
              <a:ext uri="{FF2B5EF4-FFF2-40B4-BE49-F238E27FC236}">
                <a16:creationId xmlns:a16="http://schemas.microsoft.com/office/drawing/2014/main" id="{A87C2586-ED9E-41A5-8C86-A03C04D6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bchain-line">
            <a:extLst xmlns:a="http://schemas.openxmlformats.org/drawingml/2006/main">
              <a:ext uri="{FF2B5EF4-FFF2-40B4-BE49-F238E27FC236}">
                <a16:creationId xmlns:a16="http://schemas.microsoft.com/office/drawing/2014/main" id="{945C9942-9A06-44FF-A8BE-DB493A05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bchain-head">
            <a:extLst xmlns:a="http://schemas.openxmlformats.org/drawingml/2006/main">
              <a:ext uri="{FF2B5EF4-FFF2-40B4-BE49-F238E27FC236}">
                <a16:creationId xmlns:a16="http://schemas.microsoft.com/office/drawing/2014/main" id="{10AD3EA6-0E28-43E2-8FBC-3D30BB9E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0">
            <a:extLst xmlns:a="http://schemas.openxmlformats.org/drawingml/2006/main">
              <a:ext uri="{FF2B5EF4-FFF2-40B4-BE49-F238E27FC236}">
                <a16:creationId xmlns:a16="http://schemas.microsoft.com/office/drawing/2014/main" id="{5F974B0A-60D2-4881-8189-CEBEC3CE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t0">
            <a:extLst xmlns:a="http://schemas.openxmlformats.org/drawingml/2006/main">
              <a:ext uri="{FF2B5EF4-FFF2-40B4-BE49-F238E27FC236}">
                <a16:creationId xmlns:a16="http://schemas.microsoft.com/office/drawing/2014/main" id="{91208D80-9346-4D4E-8360-A30443B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NEXT.JS WEB</a:t>
            </a:r>
          </a:p>
        </p:txBody>
      </p:sp>
      <p:sp>
        <p:nvSpPr>
          <p:cNvPr id="16" name="nb0">
            <a:extLst xmlns:a="http://schemas.openxmlformats.org/drawingml/2006/main">
              <a:ext uri="{FF2B5EF4-FFF2-40B4-BE49-F238E27FC236}">
                <a16:creationId xmlns:a16="http://schemas.microsoft.com/office/drawing/2014/main" id="{0E951A3B-4853-41A2-AFE3-95B5FC2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69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Wallet, shopping, task UI</a:t>
            </a:r>
          </a:p>
        </p:txBody>
      </p:sp>
      <p:sp>
        <p:nvSpPr>
          <p:cNvPr id="17" name="n1">
            <a:extLst xmlns:a="http://schemas.openxmlformats.org/drawingml/2006/main">
              <a:ext uri="{FF2B5EF4-FFF2-40B4-BE49-F238E27FC236}">
                <a16:creationId xmlns:a16="http://schemas.microsoft.com/office/drawing/2014/main" id="{F06AA0A2-4460-4876-8681-E116C709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t1">
            <a:extLst xmlns:a="http://schemas.openxmlformats.org/drawingml/2006/main">
              <a:ext uri="{FF2B5EF4-FFF2-40B4-BE49-F238E27FC236}">
                <a16:creationId xmlns:a16="http://schemas.microsoft.com/office/drawing/2014/main" id="{AAB89F43-FF0A-467C-AD9C-54280C7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669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PERSONAL AGENT</a:t>
            </a:r>
          </a:p>
        </p:txBody>
      </p:sp>
      <p:sp>
        <p:nvSpPr>
          <p:cNvPr id="19" name="nb1">
            <a:extLst xmlns:a="http://schemas.openxmlformats.org/drawingml/2006/main">
              <a:ext uri="{FF2B5EF4-FFF2-40B4-BE49-F238E27FC236}">
                <a16:creationId xmlns:a16="http://schemas.microsoft.com/office/drawing/2014/main" id="{C8A68308-726E-45B9-8FE1-C5FDE60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907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LLM plan, orchestration, ranking</a:t>
            </a:r>
          </a:p>
        </p:txBody>
      </p:sp>
      <p:sp>
        <p:nvSpPr>
          <p:cNvPr id="20" name="n2">
            <a:extLst xmlns:a="http://schemas.openxmlformats.org/drawingml/2006/main">
              <a:ext uri="{FF2B5EF4-FFF2-40B4-BE49-F238E27FC236}">
                <a16:creationId xmlns:a16="http://schemas.microsoft.com/office/drawing/2014/main" id="{7E5E3F34-4796-4C2D-8254-2A2DEAFC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t2">
            <a:extLst xmlns:a="http://schemas.openxmlformats.org/drawingml/2006/main">
              <a:ext uri="{FF2B5EF4-FFF2-40B4-BE49-F238E27FC236}">
                <a16:creationId xmlns:a16="http://schemas.microsoft.com/office/drawing/2014/main" id="{6DFD9358-56F4-4F5F-9CD6-C0FA36B7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669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MERCHANT AGENTS</a:t>
            </a:r>
          </a:p>
        </p:txBody>
      </p:sp>
      <p:sp>
        <p:nvSpPr>
          <p:cNvPr id="22" name="nb2">
            <a:extLst xmlns:a="http://schemas.openxmlformats.org/drawingml/2006/main">
              <a:ext uri="{FF2B5EF4-FFF2-40B4-BE49-F238E27FC236}">
                <a16:creationId xmlns:a16="http://schemas.microsoft.com/office/drawing/2014/main" id="{29D1D265-094A-49A6-ADF6-80BF395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x402 gate, inventory, signed quotes</a:t>
            </a:r>
          </a:p>
        </p:txBody>
      </p:sp>
      <p:sp>
        <p:nvSpPr>
          <p:cNvPr id="23" name="n3">
            <a:extLst xmlns:a="http://schemas.openxmlformats.org/drawingml/2006/main">
              <a:ext uri="{FF2B5EF4-FFF2-40B4-BE49-F238E27FC236}">
                <a16:creationId xmlns:a16="http://schemas.microsoft.com/office/drawing/2014/main" id="{E3548B66-C75B-4BD0-93B9-EF766A0D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t3">
            <a:extLst xmlns:a="http://schemas.openxmlformats.org/drawingml/2006/main">
              <a:ext uri="{FF2B5EF4-FFF2-40B4-BE49-F238E27FC236}">
                <a16:creationId xmlns:a16="http://schemas.microsoft.com/office/drawing/2014/main" id="{3680C7B3-8879-42E4-B960-1F87375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669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PLATFORM API</a:t>
            </a:r>
          </a:p>
        </p:txBody>
      </p:sp>
      <p:sp>
        <p:nvSpPr>
          <p:cNvPr id="25" name="nb3">
            <a:extLst xmlns:a="http://schemas.openxmlformats.org/drawingml/2006/main">
              <a:ext uri="{FF2B5EF4-FFF2-40B4-BE49-F238E27FC236}">
                <a16:creationId xmlns:a16="http://schemas.microsoft.com/office/drawing/2014/main" id="{0E335049-66CF-4600-A2ED-12525B26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90775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Auth, onboarding, admin</a:t>
            </a:r>
          </a:p>
        </p:txBody>
      </p:sp>
      <p:sp>
        <p:nvSpPr>
          <p:cNvPr id="26" name="n4">
            <a:extLst xmlns:a="http://schemas.openxmlformats.org/drawingml/2006/main">
              <a:ext uri="{FF2B5EF4-FFF2-40B4-BE49-F238E27FC236}">
                <a16:creationId xmlns:a16="http://schemas.microsoft.com/office/drawing/2014/main" id="{097EA91F-A6F5-4BA6-93B9-B26BD570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29125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t4">
            <a:extLst xmlns:a="http://schemas.openxmlformats.org/drawingml/2006/main">
              <a:ext uri="{FF2B5EF4-FFF2-40B4-BE49-F238E27FC236}">
                <a16:creationId xmlns:a16="http://schemas.microsoft.com/office/drawing/2014/main" id="{531675ED-DDF1-4377-A4C1-2FB3EEB1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591050"/>
            <a:ext cx="2124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POSTGRES + REDIS</a:t>
            </a:r>
          </a:p>
        </p:txBody>
      </p:sp>
      <p:sp>
        <p:nvSpPr>
          <p:cNvPr id="28" name="nb4">
            <a:extLst xmlns:a="http://schemas.openxmlformats.org/drawingml/2006/main">
              <a:ext uri="{FF2B5EF4-FFF2-40B4-BE49-F238E27FC236}">
                <a16:creationId xmlns:a16="http://schemas.microsoft.com/office/drawing/2014/main" id="{5B74FBB1-3EF9-4723-8993-F1A016FF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149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Accounts, catalogs, tasks, locks</a:t>
            </a:r>
          </a:p>
        </p:txBody>
      </p:sp>
      <p:sp>
        <p:nvSpPr>
          <p:cNvPr id="29" name="n5">
            <a:extLst xmlns:a="http://schemas.openxmlformats.org/drawingml/2006/main">
              <a:ext uri="{FF2B5EF4-FFF2-40B4-BE49-F238E27FC236}">
                <a16:creationId xmlns:a16="http://schemas.microsoft.com/office/drawing/2014/main" id="{67844486-86C3-40F7-BE3A-EF7E7E6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29125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t5">
            <a:extLst xmlns:a="http://schemas.openxmlformats.org/drawingml/2006/main">
              <a:ext uri="{FF2B5EF4-FFF2-40B4-BE49-F238E27FC236}">
                <a16:creationId xmlns:a16="http://schemas.microsoft.com/office/drawing/2014/main" id="{23D3157D-1F94-4096-B1A9-0F28BD79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591050"/>
            <a:ext cx="2124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SOLANA DEVNET</a:t>
            </a:r>
          </a:p>
        </p:txBody>
      </p:sp>
      <p:sp>
        <p:nvSpPr>
          <p:cNvPr id="31" name="nb5">
            <a:extLst xmlns:a="http://schemas.openxmlformats.org/drawingml/2006/main">
              <a:ext uri="{FF2B5EF4-FFF2-40B4-BE49-F238E27FC236}">
                <a16:creationId xmlns:a16="http://schemas.microsoft.com/office/drawing/2014/main" id="{F126C7CC-480F-46B9-9241-1EBB55A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9149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Directory, escrow, receipt</a:t>
            </a:r>
          </a:p>
        </p:txBody>
      </p:sp>
      <p:sp>
        <p:nvSpPr>
          <p:cNvPr id="32" name="ports">
            <a:extLst xmlns:a="http://schemas.openxmlformats.org/drawingml/2006/main">
              <a:ext uri="{FF2B5EF4-FFF2-40B4-BE49-F238E27FC236}">
                <a16:creationId xmlns:a16="http://schemas.microsoft.com/office/drawing/2014/main" id="{1F8EFE4B-AA35-476D-8E1C-F448FDED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9055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96170"/>
                </a:solidFill>
              </a:defRPr>
            </a:pPr>
            <a:r>
              <a:rPr sz="1200" b="1">
                <a:solidFill>
                  <a:srgbClr val="596170"/>
                </a:solidFill>
              </a:rPr>
              <a:t>localhost:3000     :3001     :4000     :3002</a:t>
            </a:r>
          </a:p>
        </p:txBody>
      </p:sp>
      <p:sp>
        <p:nvSpPr>
          <p:cNvPr id="33" name="foot">
            <a:extLst xmlns:a="http://schemas.openxmlformats.org/drawingml/2006/main">
              <a:ext uri="{FF2B5EF4-FFF2-40B4-BE49-F238E27FC236}">
                <a16:creationId xmlns:a16="http://schemas.microsoft.com/office/drawing/2014/main" id="{13ABB8A6-FACD-4D72-9B50-0064C24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628558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F11D906-FE35-4D86-983D-5712A197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82ED38-5A08-4C26-ACC7-311A9285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A deliberate on-chain / off-chain boundary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C4075C5-6216-4C24-8C78-7AD4E7F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ff">
            <a:extLst xmlns:a="http://schemas.openxmlformats.org/drawingml/2006/main">
              <a:ext uri="{FF2B5EF4-FFF2-40B4-BE49-F238E27FC236}">
                <a16:creationId xmlns:a16="http://schemas.microsoft.com/office/drawing/2014/main" id="{8956716C-ACA2-430C-8256-4E2601FA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095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ffh">
            <a:extLst xmlns:a="http://schemas.openxmlformats.org/drawingml/2006/main">
              <a:ext uri="{FF2B5EF4-FFF2-40B4-BE49-F238E27FC236}">
                <a16:creationId xmlns:a16="http://schemas.microsoft.com/office/drawing/2014/main" id="{9C6303EB-C1AC-41BD-A6CB-BE7E1EA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8FF"/>
                </a:solidFill>
              </a:defRPr>
            </a:pPr>
            <a:r>
              <a:rPr sz="1425" b="1">
                <a:solidFill>
                  <a:srgbClr val="2878FF"/>
                </a:solidFill>
              </a:rPr>
              <a:t>OFF-CHAIN · MUTABLE + QUERY-HEAVY</a:t>
            </a:r>
          </a:p>
        </p:txBody>
      </p:sp>
      <p:sp>
        <p:nvSpPr>
          <p:cNvPr id="6" name="offb">
            <a:extLst xmlns:a="http://schemas.openxmlformats.org/drawingml/2006/main">
              <a:ext uri="{FF2B5EF4-FFF2-40B4-BE49-F238E27FC236}">
                <a16:creationId xmlns:a16="http://schemas.microsoft.com/office/drawing/2014/main" id="{B093E6A0-9522-41EB-8366-1D35DEE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381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Natural-language conversation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Catalog, stock, price, and merchant availability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Search, ranking, and quote collection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Task state, SSE timeline, and reservations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• LLM discount proposal before deterministic clipping</a:t>
            </a:r>
          </a:p>
        </p:txBody>
      </p:sp>
      <p:sp>
        <p:nvSpPr>
          <p:cNvPr id="7" name="offn">
            <a:extLst xmlns:a="http://schemas.openxmlformats.org/drawingml/2006/main">
              <a:ext uri="{FF2B5EF4-FFF2-40B4-BE49-F238E27FC236}">
                <a16:creationId xmlns:a16="http://schemas.microsoft.com/office/drawing/2014/main" id="{4A87E479-392C-4EF7-BF76-70E76738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6170"/>
                </a:solidFill>
              </a:defRPr>
            </a:pPr>
            <a:r>
              <a:rPr sz="1275" b="1">
                <a:solidFill>
                  <a:srgbClr val="596170"/>
                </a:solidFill>
              </a:rPr>
              <a:t>Fast iteration and rich queries</a:t>
            </a:r>
          </a:p>
        </p:txBody>
      </p:sp>
      <p:sp>
        <p:nvSpPr>
          <p:cNvPr id="8" name="on">
            <a:extLst xmlns:a="http://schemas.openxmlformats.org/drawingml/2006/main">
              <a:ext uri="{FF2B5EF4-FFF2-40B4-BE49-F238E27FC236}">
                <a16:creationId xmlns:a16="http://schemas.microsoft.com/office/drawing/2014/main" id="{9182705B-36D3-4F48-952D-A6D75EA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5095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nh">
            <a:extLst xmlns:a="http://schemas.openxmlformats.org/drawingml/2006/main">
              <a:ext uri="{FF2B5EF4-FFF2-40B4-BE49-F238E27FC236}">
                <a16:creationId xmlns:a16="http://schemas.microsoft.com/office/drawing/2014/main" id="{FE688D66-174C-4EF9-94CC-783F77CB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526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D5EA"/>
                </a:solidFill>
              </a:defRPr>
            </a:pPr>
            <a:r>
              <a:rPr sz="1425" b="1">
                <a:solidFill>
                  <a:srgbClr val="67D5EA"/>
                </a:solidFill>
              </a:rPr>
              <a:t>ON-CHAIN · VALUE + PROOF</a:t>
            </a:r>
          </a:p>
        </p:txBody>
      </p:sp>
      <p:sp>
        <p:nvSpPr>
          <p:cNvPr id="10" name="onb">
            <a:extLst xmlns:a="http://schemas.openxmlformats.org/drawingml/2006/main">
              <a:ext uri="{FF2B5EF4-FFF2-40B4-BE49-F238E27FC236}">
                <a16:creationId xmlns:a16="http://schemas.microsoft.com/office/drawing/2014/main" id="{95C0CD6D-E82D-4D3E-B8B1-B903C56C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76500"/>
            <a:ext cx="4333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Merchant directory identity pointer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Buyer-funded SPL USDC escrow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Preparing, ready, release, refund, dispute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Receipt and settlement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Pickup-code hash verification</a:t>
            </a:r>
          </a:p>
        </p:txBody>
      </p:sp>
      <p:sp>
        <p:nvSpPr>
          <p:cNvPr id="11" name="onn">
            <a:extLst xmlns:a="http://schemas.openxmlformats.org/drawingml/2006/main">
              <a:ext uri="{FF2B5EF4-FFF2-40B4-BE49-F238E27FC236}">
                <a16:creationId xmlns:a16="http://schemas.microsoft.com/office/drawing/2014/main" id="{4A7F075D-8598-4BD6-82BF-248D48D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958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D5EA"/>
                </a:solidFill>
              </a:defRPr>
            </a:pPr>
            <a:r>
              <a:rPr sz="1275" b="1">
                <a:solidFill>
                  <a:srgbClr val="67D5EA"/>
                </a:solidFill>
              </a:rPr>
              <a:t>Irreversible rules where trust matters</a:t>
            </a:r>
          </a:p>
        </p:txBody>
      </p:sp>
      <p:sp>
        <p:nvSpPr>
          <p:cNvPr id="12" name="foot">
            <a:extLst xmlns:a="http://schemas.openxmlformats.org/drawingml/2006/main">
              <a:ext uri="{FF2B5EF4-FFF2-40B4-BE49-F238E27FC236}">
                <a16:creationId xmlns:a16="http://schemas.microsoft.com/office/drawing/2014/main" id="{DE712E84-8D62-41F6-99E3-C2775CF0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650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26E876AB-0195-4F9A-841E-5989C290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A8DDC4-CBF7-403D-84A4-C1C27EE4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Three Anchor programs divide on-chain responsibility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1EFE5A-5008-41E5-A290-EEBBC593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1-bg">
            <a:extLst xmlns:a="http://schemas.openxmlformats.org/drawingml/2006/main">
              <a:ext uri="{FF2B5EF4-FFF2-40B4-BE49-F238E27FC236}">
                <a16:creationId xmlns:a16="http://schemas.microsoft.com/office/drawing/2014/main" id="{0A120D80-5424-4020-979C-2B855071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1-a">
            <a:extLst xmlns:a="http://schemas.openxmlformats.org/drawingml/2006/main">
              <a:ext uri="{FF2B5EF4-FFF2-40B4-BE49-F238E27FC236}">
                <a16:creationId xmlns:a16="http://schemas.microsoft.com/office/drawing/2014/main" id="{82F9D7F0-69E9-4AAD-AC0E-110FD036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1-t">
            <a:extLst xmlns:a="http://schemas.openxmlformats.org/drawingml/2006/main">
              <a:ext uri="{FF2B5EF4-FFF2-40B4-BE49-F238E27FC236}">
                <a16:creationId xmlns:a16="http://schemas.microsoft.com/office/drawing/2014/main" id="{2CF6BA34-815D-4608-A9EC-695C22E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merchant_directory</a:t>
            </a:r>
          </a:p>
        </p:txBody>
      </p:sp>
      <p:sp>
        <p:nvSpPr>
          <p:cNvPr id="7" name="pr1-b">
            <a:extLst xmlns:a="http://schemas.openxmlformats.org/drawingml/2006/main">
              <a:ext uri="{FF2B5EF4-FFF2-40B4-BE49-F238E27FC236}">
                <a16:creationId xmlns:a16="http://schemas.microsoft.com/office/drawing/2014/main" id="{3FF6003D-568A-4ED8-BF87-7758C7A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051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Lists merchant identity, active status, service URL hash, metadata hash, and authority.</a:t>
            </a:r>
          </a:p>
        </p:txBody>
      </p:sp>
      <p:sp>
        <p:nvSpPr>
          <p:cNvPr id="8" name="pr2-bg">
            <a:extLst xmlns:a="http://schemas.openxmlformats.org/drawingml/2006/main">
              <a:ext uri="{FF2B5EF4-FFF2-40B4-BE49-F238E27FC236}">
                <a16:creationId xmlns:a16="http://schemas.microsoft.com/office/drawing/2014/main" id="{38D62FA1-BDB2-43EF-AA93-5D31280E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2-a">
            <a:extLst xmlns:a="http://schemas.openxmlformats.org/drawingml/2006/main">
              <a:ext uri="{FF2B5EF4-FFF2-40B4-BE49-F238E27FC236}">
                <a16:creationId xmlns:a16="http://schemas.microsoft.com/office/drawing/2014/main" id="{8A1F13C7-244B-4ACD-9A1E-E0A39474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2-t">
            <a:extLst xmlns:a="http://schemas.openxmlformats.org/drawingml/2006/main">
              <a:ext uri="{FF2B5EF4-FFF2-40B4-BE49-F238E27FC236}">
                <a16:creationId xmlns:a16="http://schemas.microsoft.com/office/drawing/2014/main" id="{EEF2AA66-80F7-42DD-B056-005C094C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order_escrow</a:t>
            </a:r>
          </a:p>
        </p:txBody>
      </p:sp>
      <p:sp>
        <p:nvSpPr>
          <p:cNvPr id="11" name="pr2-b">
            <a:extLst xmlns:a="http://schemas.openxmlformats.org/drawingml/2006/main">
              <a:ext uri="{FF2B5EF4-FFF2-40B4-BE49-F238E27FC236}">
                <a16:creationId xmlns:a16="http://schemas.microsoft.com/office/drawing/2014/main" id="{21BA7C92-9367-423E-95AD-1061C6F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9051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Funds merchant-specific USDC escrow; enforces preparing, ready, pickup release, refund, dispute, and resolution.</a:t>
            </a:r>
          </a:p>
        </p:txBody>
      </p:sp>
      <p:sp>
        <p:nvSpPr>
          <p:cNvPr id="12" name="pr3-bg">
            <a:extLst xmlns:a="http://schemas.openxmlformats.org/drawingml/2006/main">
              <a:ext uri="{FF2B5EF4-FFF2-40B4-BE49-F238E27FC236}">
                <a16:creationId xmlns:a16="http://schemas.microsoft.com/office/drawing/2014/main" id="{33FF7AA0-CA59-49E4-97F8-C0F17568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3-a">
            <a:extLst xmlns:a="http://schemas.openxmlformats.org/drawingml/2006/main">
              <a:ext uri="{FF2B5EF4-FFF2-40B4-BE49-F238E27FC236}">
                <a16:creationId xmlns:a16="http://schemas.microsoft.com/office/drawing/2014/main" id="{8EB06989-4EEE-4DAA-8397-1832D248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3-t">
            <a:extLst xmlns:a="http://schemas.openxmlformats.org/drawingml/2006/main">
              <a:ext uri="{FF2B5EF4-FFF2-40B4-BE49-F238E27FC236}">
                <a16:creationId xmlns:a16="http://schemas.microsoft.com/office/drawing/2014/main" id="{DE1C0E57-FB3B-4BF7-8EB5-0D0B8990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812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order_receipt</a:t>
            </a:r>
          </a:p>
        </p:txBody>
      </p:sp>
      <p:sp>
        <p:nvSpPr>
          <p:cNvPr id="15" name="pr3-b">
            <a:extLst xmlns:a="http://schemas.openxmlformats.org/drawingml/2006/main">
              <a:ext uri="{FF2B5EF4-FFF2-40B4-BE49-F238E27FC236}">
                <a16:creationId xmlns:a16="http://schemas.microsoft.com/office/drawing/2014/main" id="{2E401CA9-93EA-4DE5-89CE-B3F872D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9051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Creates task-level settlement evidence and records release/refund totals for the purchase lifecycle.</a:t>
            </a:r>
          </a:p>
        </p:txBody>
      </p:sp>
      <p:sp>
        <p:nvSpPr>
          <p:cNvPr id="16" name="pda">
            <a:extLst xmlns:a="http://schemas.openxmlformats.org/drawingml/2006/main">
              <a:ext uri="{FF2B5EF4-FFF2-40B4-BE49-F238E27FC236}">
                <a16:creationId xmlns:a16="http://schemas.microsoft.com/office/drawing/2014/main" id="{68B71096-ED4F-4741-99C6-463E1AAF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Program Derived Addresses isolate merchants, orders, vault authority, and receipts without a central custody account.</a:t>
            </a:r>
          </a:p>
        </p:txBody>
      </p:sp>
      <p:sp>
        <p:nvSpPr>
          <p:cNvPr id="17" name="foot">
            <a:extLst xmlns:a="http://schemas.openxmlformats.org/drawingml/2006/main">
              <a:ext uri="{FF2B5EF4-FFF2-40B4-BE49-F238E27FC236}">
                <a16:creationId xmlns:a16="http://schemas.microsoft.com/office/drawing/2014/main" id="{0EA92A49-8D1B-4065-85DA-EA90AC3A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3392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385062E9-68AC-4E7C-A86C-ED58EC6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F60B23-3BD8-45C9-9B9F-B3728F59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Deterministic commerce guardrails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610C600-5712-4A12-A7DC-3BD360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00">
            <a:extLst xmlns:a="http://schemas.openxmlformats.org/drawingml/2006/main">
              <a:ext uri="{FF2B5EF4-FFF2-40B4-BE49-F238E27FC236}">
                <a16:creationId xmlns:a16="http://schemas.microsoft.com/office/drawing/2014/main" id="{5A0B01A6-9976-4E95-999E-7DE9179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FF"/>
                </a:solidFill>
              </a:defRPr>
            </a:pPr>
            <a:r>
              <a:rPr sz="1125" b="1">
                <a:solidFill>
                  <a:srgbClr val="2878FF"/>
                </a:solidFill>
              </a:rPr>
              <a:t>PLANNING</a:t>
            </a:r>
          </a:p>
        </p:txBody>
      </p:sp>
      <p:sp>
        <p:nvSpPr>
          <p:cNvPr id="5" name="r10">
            <a:extLst xmlns:a="http://schemas.openxmlformats.org/drawingml/2006/main">
              <a:ext uri="{FF2B5EF4-FFF2-40B4-BE49-F238E27FC236}">
                <a16:creationId xmlns:a16="http://schemas.microsoft.com/office/drawing/2014/main" id="{6C8F1665-3B96-4E57-8359-82F1EC7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19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</a:defRPr>
            </a:pPr>
            <a:r>
              <a:rPr sz="1425" b="1">
                <a:solidFill>
                  <a:srgbClr val="0A0D12"/>
                </a:solidFill>
              </a:rPr>
              <a:t>Zod + canonical SKUs</a:t>
            </a:r>
          </a:p>
        </p:txBody>
      </p:sp>
      <p:sp>
        <p:nvSpPr>
          <p:cNvPr id="6" name="r20">
            <a:extLst xmlns:a="http://schemas.openxmlformats.org/drawingml/2006/main">
              <a:ext uri="{FF2B5EF4-FFF2-40B4-BE49-F238E27FC236}">
                <a16:creationId xmlns:a16="http://schemas.microsoft.com/office/drawing/2014/main" id="{6692AFD0-857C-4CDB-8C1F-4957B4A9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Unsupported products are rejected before quote collection.</a:t>
            </a:r>
          </a:p>
        </p:txBody>
      </p:sp>
      <p:sp>
        <p:nvSpPr>
          <p:cNvPr id="7" name="rl0">
            <a:extLst xmlns:a="http://schemas.openxmlformats.org/drawingml/2006/main">
              <a:ext uri="{FF2B5EF4-FFF2-40B4-BE49-F238E27FC236}">
                <a16:creationId xmlns:a16="http://schemas.microsoft.com/office/drawing/2014/main" id="{E662505E-69FA-4659-AB79-7B82FFA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01">
            <a:extLst xmlns:a="http://schemas.openxmlformats.org/drawingml/2006/main">
              <a:ext uri="{FF2B5EF4-FFF2-40B4-BE49-F238E27FC236}">
                <a16:creationId xmlns:a16="http://schemas.microsoft.com/office/drawing/2014/main" id="{9C30695A-CFE6-428B-84D9-DB51BE91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FF"/>
                </a:solidFill>
              </a:defRPr>
            </a:pPr>
            <a:r>
              <a:rPr sz="1125" b="1">
                <a:solidFill>
                  <a:srgbClr val="2878FF"/>
                </a:solidFill>
              </a:rPr>
              <a:t>MONEY</a:t>
            </a:r>
          </a:p>
        </p:txBody>
      </p:sp>
      <p:sp>
        <p:nvSpPr>
          <p:cNvPr id="9" name="r11">
            <a:extLst xmlns:a="http://schemas.openxmlformats.org/drawingml/2006/main">
              <a:ext uri="{FF2B5EF4-FFF2-40B4-BE49-F238E27FC236}">
                <a16:creationId xmlns:a16="http://schemas.microsoft.com/office/drawing/2014/main" id="{6F9E4065-2CA3-4F8F-9F79-36BE74E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</a:defRPr>
            </a:pPr>
            <a:r>
              <a:rPr sz="1425" b="1">
                <a:solidFill>
                  <a:srgbClr val="0A0D12"/>
                </a:solidFill>
              </a:rPr>
              <a:t>Integer micro-USDC</a:t>
            </a:r>
          </a:p>
        </p:txBody>
      </p:sp>
      <p:sp>
        <p:nvSpPr>
          <p:cNvPr id="10" name="r21">
            <a:extLst xmlns:a="http://schemas.openxmlformats.org/drawingml/2006/main">
              <a:ext uri="{FF2B5EF4-FFF2-40B4-BE49-F238E27FC236}">
                <a16:creationId xmlns:a16="http://schemas.microsoft.com/office/drawing/2014/main" id="{D885A459-B08A-4EFA-8DDF-63FD5369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No floating-point arithmetic anywhere in the payment path.</a:t>
            </a:r>
          </a:p>
        </p:txBody>
      </p:sp>
      <p:sp>
        <p:nvSpPr>
          <p:cNvPr id="11" name="rl1">
            <a:extLst xmlns:a="http://schemas.openxmlformats.org/drawingml/2006/main">
              <a:ext uri="{FF2B5EF4-FFF2-40B4-BE49-F238E27FC236}">
                <a16:creationId xmlns:a16="http://schemas.microsoft.com/office/drawing/2014/main" id="{602572C0-C8B2-4BD0-965D-B72090F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02">
            <a:extLst xmlns:a="http://schemas.openxmlformats.org/drawingml/2006/main">
              <a:ext uri="{FF2B5EF4-FFF2-40B4-BE49-F238E27FC236}">
                <a16:creationId xmlns:a16="http://schemas.microsoft.com/office/drawing/2014/main" id="{8AE5D310-32FE-4B3F-9EF2-832F50C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FF"/>
                </a:solidFill>
              </a:defRPr>
            </a:pPr>
            <a:r>
              <a:rPr sz="1125" b="1">
                <a:solidFill>
                  <a:srgbClr val="2878FF"/>
                </a:solidFill>
              </a:rPr>
              <a:t>PRICE + STOCK</a:t>
            </a:r>
          </a:p>
        </p:txBody>
      </p:sp>
      <p:sp>
        <p:nvSpPr>
          <p:cNvPr id="13" name="r12">
            <a:extLst xmlns:a="http://schemas.openxmlformats.org/drawingml/2006/main">
              <a:ext uri="{FF2B5EF4-FFF2-40B4-BE49-F238E27FC236}">
                <a16:creationId xmlns:a16="http://schemas.microsoft.com/office/drawing/2014/main" id="{C6B588A0-F175-4A7E-AD65-ABC00F31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</a:defRPr>
            </a:pPr>
            <a:r>
              <a:rPr sz="1425" b="1">
                <a:solidFill>
                  <a:srgbClr val="0A0D12"/>
                </a:solidFill>
              </a:rPr>
              <a:t>Merchant DB + pricing policy</a:t>
            </a:r>
          </a:p>
        </p:txBody>
      </p:sp>
      <p:sp>
        <p:nvSpPr>
          <p:cNvPr id="14" name="r22">
            <a:extLst xmlns:a="http://schemas.openxmlformats.org/drawingml/2006/main">
              <a:ext uri="{FF2B5EF4-FFF2-40B4-BE49-F238E27FC236}">
                <a16:creationId xmlns:a16="http://schemas.microsoft.com/office/drawing/2014/main" id="{AA179FF3-94A9-41C2-9721-CCB3EA72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LLM suggestions are clipped; final numbers remain deterministic.</a:t>
            </a:r>
          </a:p>
        </p:txBody>
      </p:sp>
      <p:sp>
        <p:nvSpPr>
          <p:cNvPr id="15" name="rl2">
            <a:extLst xmlns:a="http://schemas.openxmlformats.org/drawingml/2006/main">
              <a:ext uri="{FF2B5EF4-FFF2-40B4-BE49-F238E27FC236}">
                <a16:creationId xmlns:a16="http://schemas.microsoft.com/office/drawing/2014/main" id="{4EA5BF80-EA71-4408-B665-043E2A70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03">
            <a:extLst xmlns:a="http://schemas.openxmlformats.org/drawingml/2006/main">
              <a:ext uri="{FF2B5EF4-FFF2-40B4-BE49-F238E27FC236}">
                <a16:creationId xmlns:a16="http://schemas.microsoft.com/office/drawing/2014/main" id="{54E37A6B-0715-436F-90DE-15B9E938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FF"/>
                </a:solidFill>
              </a:defRPr>
            </a:pPr>
            <a:r>
              <a:rPr sz="1125" b="1">
                <a:solidFill>
                  <a:srgbClr val="2878FF"/>
                </a:solidFill>
              </a:rPr>
              <a:t>QUOTE</a:t>
            </a:r>
          </a:p>
        </p:txBody>
      </p:sp>
      <p:sp>
        <p:nvSpPr>
          <p:cNvPr id="17" name="r13">
            <a:extLst xmlns:a="http://schemas.openxmlformats.org/drawingml/2006/main">
              <a:ext uri="{FF2B5EF4-FFF2-40B4-BE49-F238E27FC236}">
                <a16:creationId xmlns:a16="http://schemas.microsoft.com/office/drawing/2014/main" id="{2F7ADAF3-9F35-4D02-A6BF-EC754B85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</a:defRPr>
            </a:pPr>
            <a:r>
              <a:rPr sz="1425" b="1">
                <a:solidFill>
                  <a:srgbClr val="0A0D12"/>
                </a:solidFill>
              </a:rPr>
              <a:t>Ed25519 merchant signature</a:t>
            </a:r>
          </a:p>
        </p:txBody>
      </p:sp>
      <p:sp>
        <p:nvSpPr>
          <p:cNvPr id="18" name="r23">
            <a:extLst xmlns:a="http://schemas.openxmlformats.org/drawingml/2006/main">
              <a:ext uri="{FF2B5EF4-FFF2-40B4-BE49-F238E27FC236}">
                <a16:creationId xmlns:a16="http://schemas.microsoft.com/office/drawing/2014/main" id="{5382E1AB-B53F-4F3E-96A2-34A8C6F1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Every accepted commercial offer is verified twice.</a:t>
            </a:r>
          </a:p>
        </p:txBody>
      </p:sp>
      <p:sp>
        <p:nvSpPr>
          <p:cNvPr id="19" name="rl3">
            <a:extLst xmlns:a="http://schemas.openxmlformats.org/drawingml/2006/main">
              <a:ext uri="{FF2B5EF4-FFF2-40B4-BE49-F238E27FC236}">
                <a16:creationId xmlns:a16="http://schemas.microsoft.com/office/drawing/2014/main" id="{119FA59E-3828-4417-A9A2-B7C34A4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04">
            <a:extLst xmlns:a="http://schemas.openxmlformats.org/drawingml/2006/main">
              <a:ext uri="{FF2B5EF4-FFF2-40B4-BE49-F238E27FC236}">
                <a16:creationId xmlns:a16="http://schemas.microsoft.com/office/drawing/2014/main" id="{36EE5BF1-CB51-4031-A56E-B9FBA9A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FF"/>
                </a:solidFill>
              </a:defRPr>
            </a:pPr>
            <a:r>
              <a:rPr sz="1125" b="1">
                <a:solidFill>
                  <a:srgbClr val="2878FF"/>
                </a:solidFill>
              </a:rPr>
              <a:t>PAYMENT</a:t>
            </a:r>
          </a:p>
        </p:txBody>
      </p:sp>
      <p:sp>
        <p:nvSpPr>
          <p:cNvPr id="21" name="r14">
            <a:extLst xmlns:a="http://schemas.openxmlformats.org/drawingml/2006/main">
              <a:ext uri="{FF2B5EF4-FFF2-40B4-BE49-F238E27FC236}">
                <a16:creationId xmlns:a16="http://schemas.microsoft.com/office/drawing/2014/main" id="{EA946BF7-AC1F-4B12-A3AB-874CB77F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14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</a:defRPr>
            </a:pPr>
            <a:r>
              <a:rPr sz="1425" b="1">
                <a:solidFill>
                  <a:srgbClr val="0A0D12"/>
                </a:solidFill>
              </a:rPr>
              <a:t>Idempotency + proof replay protection</a:t>
            </a:r>
          </a:p>
        </p:txBody>
      </p:sp>
      <p:sp>
        <p:nvSpPr>
          <p:cNvPr id="22" name="r24">
            <a:extLst xmlns:a="http://schemas.openxmlformats.org/drawingml/2006/main">
              <a:ext uri="{FF2B5EF4-FFF2-40B4-BE49-F238E27FC236}">
                <a16:creationId xmlns:a16="http://schemas.microsoft.com/office/drawing/2014/main" id="{1D5E0A98-B630-4DE0-AF9B-61A06B5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One transfer cannot purchase two agent responses.</a:t>
            </a:r>
          </a:p>
        </p:txBody>
      </p:sp>
      <p:sp>
        <p:nvSpPr>
          <p:cNvPr id="23" name="rl4">
            <a:extLst xmlns:a="http://schemas.openxmlformats.org/drawingml/2006/main">
              <a:ext uri="{FF2B5EF4-FFF2-40B4-BE49-F238E27FC236}">
                <a16:creationId xmlns:a16="http://schemas.microsoft.com/office/drawing/2014/main" id="{ED2242F7-ACC9-411A-9C93-F3487BF9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05">
            <a:extLst xmlns:a="http://schemas.openxmlformats.org/drawingml/2006/main">
              <a:ext uri="{FF2B5EF4-FFF2-40B4-BE49-F238E27FC236}">
                <a16:creationId xmlns:a16="http://schemas.microsoft.com/office/drawing/2014/main" id="{12EE0986-BF65-428D-91C5-A0478937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FF"/>
                </a:solidFill>
              </a:defRPr>
            </a:pPr>
            <a:r>
              <a:rPr sz="1125" b="1">
                <a:solidFill>
                  <a:srgbClr val="2878FF"/>
                </a:solidFill>
              </a:rPr>
              <a:t>ORDER</a:t>
            </a:r>
          </a:p>
        </p:txBody>
      </p:sp>
      <p:sp>
        <p:nvSpPr>
          <p:cNvPr id="25" name="r15">
            <a:extLst xmlns:a="http://schemas.openxmlformats.org/drawingml/2006/main">
              <a:ext uri="{FF2B5EF4-FFF2-40B4-BE49-F238E27FC236}">
                <a16:creationId xmlns:a16="http://schemas.microsoft.com/office/drawing/2014/main" id="{392C0BC3-CA49-467F-94C0-8566DE5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</a:defRPr>
            </a:pPr>
            <a:r>
              <a:rPr sz="1425" b="1">
                <a:solidFill>
                  <a:srgbClr val="0A0D12"/>
                </a:solidFill>
              </a:rPr>
              <a:t>Explicit state machine</a:t>
            </a:r>
          </a:p>
        </p:txBody>
      </p:sp>
      <p:sp>
        <p:nvSpPr>
          <p:cNvPr id="26" name="r25">
            <a:extLst xmlns:a="http://schemas.openxmlformats.org/drawingml/2006/main">
              <a:ext uri="{FF2B5EF4-FFF2-40B4-BE49-F238E27FC236}">
                <a16:creationId xmlns:a16="http://schemas.microsoft.com/office/drawing/2014/main" id="{D64BE37F-E5FA-4560-AB45-5484EF9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Funding only follows merchant confirmation; release only follows pickup.</a:t>
            </a:r>
          </a:p>
        </p:txBody>
      </p:sp>
      <p:sp>
        <p:nvSpPr>
          <p:cNvPr id="27" name="foot">
            <a:extLst xmlns:a="http://schemas.openxmlformats.org/drawingml/2006/main">
              <a:ext uri="{FF2B5EF4-FFF2-40B4-BE49-F238E27FC236}">
                <a16:creationId xmlns:a16="http://schemas.microsoft.com/office/drawing/2014/main" id="{D3824118-AE04-468E-BE32-F1E68B2B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251011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27536D7E-A33A-4621-80BC-25696D8A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A92552-B0F0-49C5-BFF5-1BDC3ECA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The MVP already behaves like a small merchant-agent market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8241FD9-0B7B-47D8-91C0-00F8C5C7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d0c9225e2497b"/>
          <a:stretch xmlns:a="http://schemas.openxmlformats.org/drawingml/2006/main"/>
        </p:blipFill>
        <p:spPr>
          <a:xfrm xmlns:a="http://schemas.openxmlformats.org/drawingml/2006/main">
            <a:off x="906946" y="1714500"/>
            <a:ext cx="5520359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market">
            <a:extLst xmlns:a="http://schemas.openxmlformats.org/drawingml/2006/main">
              <a:ext uri="{FF2B5EF4-FFF2-40B4-BE49-F238E27FC236}">
                <a16:creationId xmlns:a16="http://schemas.microsoft.com/office/drawing/2014/main" id="{551B66A5-996D-417E-B4FB-848918BE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4429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h">
            <a:extLst xmlns:a="http://schemas.openxmlformats.org/drawingml/2006/main">
              <a:ext uri="{FF2B5EF4-FFF2-40B4-BE49-F238E27FC236}">
                <a16:creationId xmlns:a16="http://schemas.microsoft.com/office/drawing/2014/main" id="{E856FD0E-3A99-47BC-90A1-88438213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276"/>
                </a:solidFill>
              </a:defRPr>
            </a:pPr>
            <a:r>
              <a:rPr sz="1275" b="1">
                <a:solidFill>
                  <a:srgbClr val="13A276"/>
                </a:solidFill>
              </a:rPr>
              <a:t>CURRENT MVP</a:t>
            </a:r>
          </a:p>
        </p:txBody>
      </p:sp>
      <p:sp>
        <p:nvSpPr>
          <p:cNvPr id="7" name="mb">
            <a:extLst xmlns:a="http://schemas.openxmlformats.org/drawingml/2006/main">
              <a:ext uri="{FF2B5EF4-FFF2-40B4-BE49-F238E27FC236}">
                <a16:creationId xmlns:a16="http://schemas.microsoft.com/office/drawing/2014/main" id="{58B0C1C6-3EE5-4408-80CE-BDDF6C98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762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D12"/>
                </a:solidFill>
              </a:defRPr>
            </a:pPr>
            <a:r>
              <a:rPr sz="1350" b="0">
                <a:solidFill>
                  <a:srgbClr val="0A0D12"/>
                </a:solidFill>
              </a:rPr>
              <a:t>• Merchant onboarding and wallet identity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</a:defRPr>
            </a:pPr>
            <a:r>
              <a:rPr sz="1350" b="0">
                <a:solidFill>
                  <a:srgbClr val="0A0D12"/>
                </a:solidFill>
              </a:rPr>
              <a:t>• Catalog and inventory management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</a:defRPr>
            </a:pPr>
            <a:r>
              <a:rPr sz="1350" b="0">
                <a:solidFill>
                  <a:srgbClr val="0A0D12"/>
                </a:solidFill>
              </a:rPr>
              <a:t>• Paid quote endpoint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</a:defRPr>
            </a:pPr>
            <a:r>
              <a:rPr sz="1350" b="0">
                <a:solidFill>
                  <a:srgbClr val="0A0D12"/>
                </a:solidFill>
              </a:rPr>
              <a:t>• Signed merchant offers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</a:defRPr>
            </a:pPr>
            <a:r>
              <a:rPr sz="1350" b="0">
                <a:solidFill>
                  <a:srgbClr val="0A0D12"/>
                </a:solidFill>
              </a:rPr>
              <a:t>• Acceptance / rejection workflow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</a:defRPr>
            </a:pPr>
            <a:r>
              <a:rPr sz="1350" b="0">
                <a:solidFill>
                  <a:srgbClr val="0A0D12"/>
                </a:solidFill>
              </a:rPr>
              <a:t>• Merchant dashboard and disputes</a:t>
            </a:r>
          </a:p>
        </p:txBody>
      </p:sp>
      <p:sp>
        <p:nvSpPr>
          <p:cNvPr id="8" name="nh">
            <a:extLst xmlns:a="http://schemas.openxmlformats.org/drawingml/2006/main">
              <a:ext uri="{FF2B5EF4-FFF2-40B4-BE49-F238E27FC236}">
                <a16:creationId xmlns:a16="http://schemas.microsoft.com/office/drawing/2014/main" id="{BED2B44F-7B76-4F90-9012-CD7786D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62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FF"/>
                </a:solidFill>
              </a:defRPr>
            </a:pPr>
            <a:r>
              <a:rPr sz="1275" b="1">
                <a:solidFill>
                  <a:srgbClr val="2878FF"/>
                </a:solidFill>
              </a:rPr>
              <a:t>NEXT MARKET LAYER</a:t>
            </a:r>
          </a:p>
        </p:txBody>
      </p:sp>
      <p:sp>
        <p:nvSpPr>
          <p:cNvPr id="9" name="nb">
            <a:extLst xmlns:a="http://schemas.openxmlformats.org/drawingml/2006/main">
              <a:ext uri="{FF2B5EF4-FFF2-40B4-BE49-F238E27FC236}">
                <a16:creationId xmlns:a16="http://schemas.microsoft.com/office/drawing/2014/main" id="{13E21D1C-F44D-4976-A8E1-9FBEFC2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95875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Public catalog, manifest standard, reputation service, search/ranking API, SDK, isolation, and later stake/slashing.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C63F7BF8-1326-4A7D-963C-8DA8C2E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320864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E17FA5B0-B2A7-4EB4-A3E4-9B78E00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25F4ED-3093-4380-B129-34AB410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Expansion roadmap: one rail, more local markets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2212743-CA00-49D8-AF43-8DD6BAB4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0-line">
            <a:extLst xmlns:a="http://schemas.openxmlformats.org/drawingml/2006/main">
              <a:ext uri="{FF2B5EF4-FFF2-40B4-BE49-F238E27FC236}">
                <a16:creationId xmlns:a16="http://schemas.microsoft.com/office/drawing/2014/main" id="{59D76C17-88E1-49A5-9149-5DB10B1F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0-head">
            <a:extLst xmlns:a="http://schemas.openxmlformats.org/drawingml/2006/main">
              <a:ext uri="{FF2B5EF4-FFF2-40B4-BE49-F238E27FC236}">
                <a16:creationId xmlns:a16="http://schemas.microsoft.com/office/drawing/2014/main" id="{3F9A48D1-E40F-4591-A8BD-7BBFB3D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b0">
            <a:extLst xmlns:a="http://schemas.openxmlformats.org/drawingml/2006/main">
              <a:ext uri="{FF2B5EF4-FFF2-40B4-BE49-F238E27FC236}">
                <a16:creationId xmlns:a16="http://schemas.microsoft.com/office/drawing/2014/main" id="{EDD122EE-A90B-4FFE-A2D6-125CD313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0-b">
            <a:extLst xmlns:a="http://schemas.openxmlformats.org/drawingml/2006/main">
              <a:ext uri="{FF2B5EF4-FFF2-40B4-BE49-F238E27FC236}">
                <a16:creationId xmlns:a16="http://schemas.microsoft.com/office/drawing/2014/main" id="{9BC8DEBD-263E-4DD1-909C-BDE36A3F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g0-t">
            <a:extLst xmlns:a="http://schemas.openxmlformats.org/drawingml/2006/main">
              <a:ext uri="{FF2B5EF4-FFF2-40B4-BE49-F238E27FC236}">
                <a16:creationId xmlns:a16="http://schemas.microsoft.com/office/drawing/2014/main" id="{9780033D-040E-4E76-B246-70D513C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9" name="rt0">
            <a:extLst xmlns:a="http://schemas.openxmlformats.org/drawingml/2006/main">
              <a:ext uri="{FF2B5EF4-FFF2-40B4-BE49-F238E27FC236}">
                <a16:creationId xmlns:a16="http://schemas.microsoft.com/office/drawing/2014/main" id="{F8E8CA97-DCC1-49ED-8F8A-3674B8A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LOCAL SHOPPING</a:t>
            </a:r>
          </a:p>
        </p:txBody>
      </p:sp>
      <p:sp>
        <p:nvSpPr>
          <p:cNvPr id="10" name="rd0">
            <a:extLst xmlns:a="http://schemas.openxmlformats.org/drawingml/2006/main">
              <a:ext uri="{FF2B5EF4-FFF2-40B4-BE49-F238E27FC236}">
                <a16:creationId xmlns:a16="http://schemas.microsoft.com/office/drawing/2014/main" id="{2B38D44E-81AD-4489-AE55-72BE7632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Product discovery, merchant quotes, escrow, pickup</a:t>
            </a:r>
          </a:p>
        </p:txBody>
      </p:sp>
      <p:sp>
        <p:nvSpPr>
          <p:cNvPr id="11" name="ra1-line">
            <a:extLst xmlns:a="http://schemas.openxmlformats.org/drawingml/2006/main">
              <a:ext uri="{FF2B5EF4-FFF2-40B4-BE49-F238E27FC236}">
                <a16:creationId xmlns:a16="http://schemas.microsoft.com/office/drawing/2014/main" id="{70FA0B39-04E0-4856-9125-99BF314B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09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1-head">
            <a:extLst xmlns:a="http://schemas.openxmlformats.org/drawingml/2006/main">
              <a:ext uri="{FF2B5EF4-FFF2-40B4-BE49-F238E27FC236}">
                <a16:creationId xmlns:a16="http://schemas.microsoft.com/office/drawing/2014/main" id="{C53D52CA-ABFE-47B9-9C13-161122A2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b1">
            <a:extLst xmlns:a="http://schemas.openxmlformats.org/drawingml/2006/main">
              <a:ext uri="{FF2B5EF4-FFF2-40B4-BE49-F238E27FC236}">
                <a16:creationId xmlns:a16="http://schemas.microsoft.com/office/drawing/2014/main" id="{9FFDF7FB-D58F-4C52-8E9B-DDCD0B3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g1-b">
            <a:extLst xmlns:a="http://schemas.openxmlformats.org/drawingml/2006/main">
              <a:ext uri="{FF2B5EF4-FFF2-40B4-BE49-F238E27FC236}">
                <a16:creationId xmlns:a16="http://schemas.microsoft.com/office/drawing/2014/main" id="{E8DCF030-112B-4188-BF48-BA1B1DFD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A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g1-t">
            <a:extLst xmlns:a="http://schemas.openxmlformats.org/drawingml/2006/main">
              <a:ext uri="{FF2B5EF4-FFF2-40B4-BE49-F238E27FC236}">
                <a16:creationId xmlns:a16="http://schemas.microsoft.com/office/drawing/2014/main" id="{7C57EE4D-EF6F-4D19-9C13-8D624AC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6" name="rt1">
            <a:extLst xmlns:a="http://schemas.openxmlformats.org/drawingml/2006/main">
              <a:ext uri="{FF2B5EF4-FFF2-40B4-BE49-F238E27FC236}">
                <a16:creationId xmlns:a16="http://schemas.microsoft.com/office/drawing/2014/main" id="{E89187B9-E615-48AB-B283-9ACE8A1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COURIER MODE</a:t>
            </a:r>
          </a:p>
        </p:txBody>
      </p:sp>
      <p:sp>
        <p:nvSpPr>
          <p:cNvPr id="17" name="rd1">
            <a:extLst xmlns:a="http://schemas.openxmlformats.org/drawingml/2006/main">
              <a:ext uri="{FF2B5EF4-FFF2-40B4-BE49-F238E27FC236}">
                <a16:creationId xmlns:a16="http://schemas.microsoft.com/office/drawing/2014/main" id="{7E97E301-C05A-4F26-8E73-B23821F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Quote delivery jobs by distance, capacity, SLA, and route</a:t>
            </a:r>
          </a:p>
        </p:txBody>
      </p:sp>
      <p:sp>
        <p:nvSpPr>
          <p:cNvPr id="18" name="ra2-line">
            <a:extLst xmlns:a="http://schemas.openxmlformats.org/drawingml/2006/main">
              <a:ext uri="{FF2B5EF4-FFF2-40B4-BE49-F238E27FC236}">
                <a16:creationId xmlns:a16="http://schemas.microsoft.com/office/drawing/2014/main" id="{EFBAC39C-A963-4177-819C-F883163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2-head">
            <a:extLst xmlns:a="http://schemas.openxmlformats.org/drawingml/2006/main">
              <a:ext uri="{FF2B5EF4-FFF2-40B4-BE49-F238E27FC236}">
                <a16:creationId xmlns:a16="http://schemas.microsoft.com/office/drawing/2014/main" id="{AF2AAA83-2F95-405C-B702-7C6EDCC0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b2">
            <a:extLst xmlns:a="http://schemas.openxmlformats.org/drawingml/2006/main">
              <a:ext uri="{FF2B5EF4-FFF2-40B4-BE49-F238E27FC236}">
                <a16:creationId xmlns:a16="http://schemas.microsoft.com/office/drawing/2014/main" id="{891BF674-1CA4-496C-9BC8-262140F8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g2-b">
            <a:extLst xmlns:a="http://schemas.openxmlformats.org/drawingml/2006/main">
              <a:ext uri="{FF2B5EF4-FFF2-40B4-BE49-F238E27FC236}">
                <a16:creationId xmlns:a16="http://schemas.microsoft.com/office/drawing/2014/main" id="{F753399E-1745-498E-8A20-E1DBECA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AD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g2-t">
            <a:extLst xmlns:a="http://schemas.openxmlformats.org/drawingml/2006/main">
              <a:ext uri="{FF2B5EF4-FFF2-40B4-BE49-F238E27FC236}">
                <a16:creationId xmlns:a16="http://schemas.microsoft.com/office/drawing/2014/main" id="{BB35278B-98AF-4004-A911-4D1890B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LATER</a:t>
            </a:r>
          </a:p>
        </p:txBody>
      </p:sp>
      <p:sp>
        <p:nvSpPr>
          <p:cNvPr id="23" name="rt2">
            <a:extLst xmlns:a="http://schemas.openxmlformats.org/drawingml/2006/main">
              <a:ext uri="{FF2B5EF4-FFF2-40B4-BE49-F238E27FC236}">
                <a16:creationId xmlns:a16="http://schemas.microsoft.com/office/drawing/2014/main" id="{DDC9B8FD-B3E6-4739-9A47-778AC664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TAXI MODE</a:t>
            </a:r>
          </a:p>
        </p:txBody>
      </p:sp>
      <p:sp>
        <p:nvSpPr>
          <p:cNvPr id="24" name="rd2">
            <a:extLst xmlns:a="http://schemas.openxmlformats.org/drawingml/2006/main">
              <a:ext uri="{FF2B5EF4-FFF2-40B4-BE49-F238E27FC236}">
                <a16:creationId xmlns:a16="http://schemas.microsoft.com/office/drawing/2014/main" id="{96DF9DC4-67EE-417A-AB2B-B3C2747F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Request rides, compare driver-agent offers, escrow and settle</a:t>
            </a:r>
          </a:p>
        </p:txBody>
      </p:sp>
      <p:sp>
        <p:nvSpPr>
          <p:cNvPr id="25" name="rb3">
            <a:extLst xmlns:a="http://schemas.openxmlformats.org/drawingml/2006/main">
              <a:ext uri="{FF2B5EF4-FFF2-40B4-BE49-F238E27FC236}">
                <a16:creationId xmlns:a16="http://schemas.microsoft.com/office/drawing/2014/main" id="{540CF302-979E-45C8-AEB7-F3FFE51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333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g3-b">
            <a:extLst xmlns:a="http://schemas.openxmlformats.org/drawingml/2006/main">
              <a:ext uri="{FF2B5EF4-FFF2-40B4-BE49-F238E27FC236}">
                <a16:creationId xmlns:a16="http://schemas.microsoft.com/office/drawing/2014/main" id="{296940F1-C414-482C-84BB-347FBDF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43125"/>
            <a:ext cx="809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g3-t">
            <a:extLst xmlns:a="http://schemas.openxmlformats.org/drawingml/2006/main">
              <a:ext uri="{FF2B5EF4-FFF2-40B4-BE49-F238E27FC236}">
                <a16:creationId xmlns:a16="http://schemas.microsoft.com/office/drawing/2014/main" id="{428FB246-8659-400E-A5E0-2FBD60FA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62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D12"/>
                </a:solidFill>
              </a:defRPr>
            </a:pPr>
            <a:r>
              <a:rPr sz="1050" b="1">
                <a:solidFill>
                  <a:srgbClr val="0A0D12"/>
                </a:solidFill>
              </a:rPr>
              <a:t>LATER</a:t>
            </a:r>
          </a:p>
        </p:txBody>
      </p:sp>
      <p:sp>
        <p:nvSpPr>
          <p:cNvPr id="28" name="rt3">
            <a:extLst xmlns:a="http://schemas.openxmlformats.org/drawingml/2006/main">
              <a:ext uri="{FF2B5EF4-FFF2-40B4-BE49-F238E27FC236}">
                <a16:creationId xmlns:a16="http://schemas.microsoft.com/office/drawing/2014/main" id="{C35120ED-36BA-4392-8504-083989C5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146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LOCAL SERVICES</a:t>
            </a:r>
          </a:p>
        </p:txBody>
      </p:sp>
      <p:sp>
        <p:nvSpPr>
          <p:cNvPr id="29" name="rd3">
            <a:extLst xmlns:a="http://schemas.openxmlformats.org/drawingml/2006/main">
              <a:ext uri="{FF2B5EF4-FFF2-40B4-BE49-F238E27FC236}">
                <a16:creationId xmlns:a16="http://schemas.microsoft.com/office/drawing/2014/main" id="{07C3F8E3-5669-4946-87C6-EE143B1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0"/>
                </a:solidFill>
              </a:defRPr>
            </a:pPr>
            <a:r>
              <a:rPr sz="1275" b="0">
                <a:solidFill>
                  <a:srgbClr val="596170"/>
                </a:solidFill>
              </a:rPr>
              <a:t>Repair, cleaning, appointments, and task-based providers</a:t>
            </a:r>
          </a:p>
        </p:txBody>
      </p:sp>
      <p:sp>
        <p:nvSpPr>
          <p:cNvPr id="30" name="roadnote-bg">
            <a:extLst xmlns:a="http://schemas.openxmlformats.org/drawingml/2006/main">
              <a:ext uri="{FF2B5EF4-FFF2-40B4-BE49-F238E27FC236}">
                <a16:creationId xmlns:a16="http://schemas.microsoft.com/office/drawing/2014/main" id="{596697AD-413E-43DD-B353-EE69AC0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oadnote-tx">
            <a:extLst xmlns:a="http://schemas.openxmlformats.org/drawingml/2006/main">
              <a:ext uri="{FF2B5EF4-FFF2-40B4-BE49-F238E27FC236}">
                <a16:creationId xmlns:a16="http://schemas.microsoft.com/office/drawing/2014/main" id="{7CD1D8AD-5B19-4083-94B0-72D582E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244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Shared primitive: discover an agent → pay for a quote → accept an offer → escrow value → release on verified completion.</a:t>
            </a:r>
          </a:p>
        </p:txBody>
      </p:sp>
      <p:sp>
        <p:nvSpPr>
          <p:cNvPr id="32" name="future">
            <a:extLst xmlns:a="http://schemas.openxmlformats.org/drawingml/2006/main">
              <a:ext uri="{FF2B5EF4-FFF2-40B4-BE49-F238E27FC236}">
                <a16:creationId xmlns:a16="http://schemas.microsoft.com/office/drawing/2014/main" id="{5A8E3831-2973-42F2-A6FF-D77DB60D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055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4A4A"/>
                </a:solidFill>
              </a:defRPr>
            </a:pPr>
            <a:r>
              <a:rPr sz="1200" b="1">
                <a:solidFill>
                  <a:srgbClr val="D94A4A"/>
                </a:solidFill>
              </a:rPr>
              <a:t>Courier, taxi, and services are product direction — not part of the current MVP claim.</a:t>
            </a:r>
          </a:p>
        </p:txBody>
      </p:sp>
      <p:sp>
        <p:nvSpPr>
          <p:cNvPr id="33" name="foot">
            <a:extLst xmlns:a="http://schemas.openxmlformats.org/drawingml/2006/main">
              <a:ext uri="{FF2B5EF4-FFF2-40B4-BE49-F238E27FC236}">
                <a16:creationId xmlns:a16="http://schemas.microsoft.com/office/drawing/2014/main" id="{260D1F97-0F5B-4927-8887-1B222AD6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3008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EE0F92ED-5789-43FA-8C42-867E1C1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8FF"/>
                </a:solidFill>
              </a:defRPr>
            </a:pPr>
            <a:r>
              <a:rPr sz="975" b="1">
                <a:solidFill>
                  <a:srgbClr val="2878FF"/>
                </a:solidFill>
              </a:rPr>
              <a:t>MERCHANTMESH / SOLANA DEVNET MVP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FAEC05-D2CA-4A33-9E8F-1606B401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</a:defRPr>
            </a:pPr>
            <a:r>
              <a:rPr sz="2850" b="1">
                <a:solidFill>
                  <a:srgbClr val="0A0D12"/>
                </a:solidFill>
              </a:rPr>
              <a:t>GitHub-ready MVP today; public pilot after deployment hardening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2C87AEC-9085-4CD2-9116-E84CEF8C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12586BD3-AD37-41FA-8BE4-4187C64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276"/>
                </a:solidFill>
              </a:defRPr>
            </a:pPr>
            <a:r>
              <a:rPr sz="1275" b="1">
                <a:solidFill>
                  <a:srgbClr val="13A276"/>
                </a:solidFill>
              </a:rPr>
              <a:t>WORKING TODAY</a:t>
            </a:r>
          </a:p>
        </p:txBody>
      </p:sp>
      <p:sp>
        <p:nvSpPr>
          <p:cNvPr id="5" name="rb">
            <a:extLst xmlns:a="http://schemas.openxmlformats.org/drawingml/2006/main">
              <a:ext uri="{FF2B5EF4-FFF2-40B4-BE49-F238E27FC236}">
                <a16:creationId xmlns:a16="http://schemas.microsoft.com/office/drawing/2014/main" id="{D8F24296-EAB2-47CB-A868-C9A08C32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Solana wallet sign-in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Merchant onboarding + inventory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Agent-assisted basket planning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x402-style paid quote collection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Signed quote comparison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Merchant acceptance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Buyer-funded Devnet escrow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✓ Pickup release + refund/dispute paths</a:t>
            </a:r>
          </a:p>
        </p:txBody>
      </p:sp>
      <p:sp>
        <p:nvSpPr>
          <p:cNvPr id="6" name="publish">
            <a:extLst xmlns:a="http://schemas.openxmlformats.org/drawingml/2006/main">
              <a:ext uri="{FF2B5EF4-FFF2-40B4-BE49-F238E27FC236}">
                <a16:creationId xmlns:a16="http://schemas.microsoft.com/office/drawing/2014/main" id="{B0A8AFAF-E3BB-4602-B42B-63255B30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FF"/>
                </a:solidFill>
              </a:defRPr>
            </a:pPr>
            <a:r>
              <a:rPr sz="1275" b="1">
                <a:solidFill>
                  <a:srgbClr val="2878FF"/>
                </a:solidFill>
              </a:rPr>
              <a:t>TO PUBLISH AS A PUBLIC PILOT</a:t>
            </a:r>
          </a:p>
        </p:txBody>
      </p:sp>
      <p:sp>
        <p:nvSpPr>
          <p:cNvPr id="7" name="pb">
            <a:extLst xmlns:a="http://schemas.openxmlformats.org/drawingml/2006/main">
              <a:ext uri="{FF2B5EF4-FFF2-40B4-BE49-F238E27FC236}">
                <a16:creationId xmlns:a16="http://schemas.microsoft.com/office/drawing/2014/main" id="{1D7AFE28-3AA1-4FE1-B3BF-9BE1716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1. Deploy web + three APIs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2. Provision Postgres and Redis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3. Configure Devnet RPC, USDC mint, and secrets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4. Run external-wallet smoke tests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5. Add monitoring and rate limits</a:t>
            </a:r>
          </a:p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6. Record a short fallback demo</a:t>
            </a:r>
          </a:p>
        </p:txBody>
      </p:sp>
      <p:sp>
        <p:nvSpPr>
          <p:cNvPr id="8" name="cta">
            <a:extLst xmlns:a="http://schemas.openxmlformats.org/drawingml/2006/main">
              <a:ext uri="{FF2B5EF4-FFF2-40B4-BE49-F238E27FC236}">
                <a16:creationId xmlns:a16="http://schemas.microsoft.com/office/drawing/2014/main" id="{3281EEF1-CF65-43B8-A446-1CF6D9E8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tat">
            <a:extLst xmlns:a="http://schemas.openxmlformats.org/drawingml/2006/main">
              <a:ext uri="{FF2B5EF4-FFF2-40B4-BE49-F238E27FC236}">
                <a16:creationId xmlns:a16="http://schemas.microsoft.com/office/drawing/2014/main" id="{237A2464-5098-45C4-97ED-5AEF92FE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054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MerchantMesh turns local businesses into autonomous, payable commerce agents.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9BDD762C-7D11-40EE-B27B-27011E02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170"/>
                </a:solidFill>
              </a:defRPr>
            </a:pPr>
            <a:r>
              <a:rPr sz="975" b="1">
                <a:solidFill>
                  <a:srgbClr val="5961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5470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2026-08-13T15:53:53.2860000Z</dcterms:created>
  <dcterms:modified xsi:type="dcterms:W3CDTF">2026-08-13T15:53:53.2870000Z</dcterms:modified>
</coreProperties>
</file>