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512c440024804" /><Relationship Type="http://schemas.openxmlformats.org/officeDocument/2006/relationships/extended-properties" Target="/docProps/app.xml" Id="R7769e34e80ea4ec8" /><Relationship Type="http://schemas.openxmlformats.org/officeDocument/2006/relationships/officeDocument" Target="/ppt/presentation.xml" Id="Rcacaf221ff5143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5a10399f464252"/>
  </p:sldMasterIdLst>
  <p:notesMasterIdLst>
    <p:notesMasterId xmlns:r="http://schemas.openxmlformats.org/officeDocument/2006/relationships" r:id="Rabf45aae1d7f4cc5"/>
  </p:notesMasterIdLst>
  <p:sldIdLst>
    <p:sldId xmlns:r="http://schemas.openxmlformats.org/officeDocument/2006/relationships" id="256" r:id="Rac588eede9ee4c29"/>
    <p:sldId xmlns:r="http://schemas.openxmlformats.org/officeDocument/2006/relationships" id="257" r:id="Ra06945830dab44b7"/>
    <p:sldId xmlns:r="http://schemas.openxmlformats.org/officeDocument/2006/relationships" id="258" r:id="R2233eae7b8c2485d"/>
    <p:sldId xmlns:r="http://schemas.openxmlformats.org/officeDocument/2006/relationships" id="259" r:id="R3ef4656e1d704456"/>
    <p:sldId xmlns:r="http://schemas.openxmlformats.org/officeDocument/2006/relationships" id="260" r:id="Rd61a397e7aaf4025"/>
    <p:sldId xmlns:r="http://schemas.openxmlformats.org/officeDocument/2006/relationships" id="261" r:id="R36c9fbced6e94e5c"/>
    <p:sldId xmlns:r="http://schemas.openxmlformats.org/officeDocument/2006/relationships" id="262" r:id="R091886c2972045e7"/>
    <p:sldId xmlns:r="http://schemas.openxmlformats.org/officeDocument/2006/relationships" id="263" r:id="R6e4b229c3d8a46ed"/>
    <p:sldId xmlns:r="http://schemas.openxmlformats.org/officeDocument/2006/relationships" id="264" r:id="R2d65536038064be7"/>
    <p:sldId xmlns:r="http://schemas.openxmlformats.org/officeDocument/2006/relationships" id="265" r:id="Rd2a67d84eefa42e2"/>
    <p:sldId xmlns:r="http://schemas.openxmlformats.org/officeDocument/2006/relationships" id="266" r:id="Raf6aa909deaa4a3c"/>
    <p:sldId xmlns:r="http://schemas.openxmlformats.org/officeDocument/2006/relationships" id="267" r:id="R6c31db30f7f54870"/>
    <p:sldId xmlns:r="http://schemas.openxmlformats.org/officeDocument/2006/relationships" id="268" r:id="R5d797e9ba02441da"/>
    <p:sldId xmlns:r="http://schemas.openxmlformats.org/officeDocument/2006/relationships" id="269" r:id="R2ebcbe7552b747e6"/>
    <p:sldId xmlns:r="http://schemas.openxmlformats.org/officeDocument/2006/relationships" id="270" r:id="Raab7e57a4bbc457e"/>
    <p:sldId xmlns:r="http://schemas.openxmlformats.org/officeDocument/2006/relationships" id="271" r:id="R5c5cb1274da84b79"/>
    <p:sldId xmlns:r="http://schemas.openxmlformats.org/officeDocument/2006/relationships" id="272" r:id="Re58d7147fd854fe7"/>
    <p:sldId xmlns:r="http://schemas.openxmlformats.org/officeDocument/2006/relationships" id="273" r:id="Ra7861119d26c4d28"/>
    <p:sldId xmlns:r="http://schemas.openxmlformats.org/officeDocument/2006/relationships" id="274" r:id="R4071925814cf42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1a5839bd494547" /><Relationship Type="http://schemas.openxmlformats.org/officeDocument/2006/relationships/slideMaster" Target="/ppt/slideMasters/slideMaster1.xml" Id="R7a5a10399f464252" /><Relationship Type="http://schemas.openxmlformats.org/officeDocument/2006/relationships/notesMaster" Target="/ppt/notesMasters/notesMaster1.xml" Id="Rabf45aae1d7f4cc5" /><Relationship Type="http://schemas.openxmlformats.org/officeDocument/2006/relationships/presProps" Target="/ppt/presProps.xml" Id="R4c8e70d87727426e" /><Relationship Type="http://schemas.openxmlformats.org/officeDocument/2006/relationships/tableStyles" Target="/ppt/tableStyles.xml" Id="R9e327b1b1c0e4978" /><Relationship Type="http://schemas.openxmlformats.org/officeDocument/2006/relationships/slide" Target="/ppt/slides/slide1.xml" Id="Rac588eede9ee4c29" /><Relationship Type="http://schemas.openxmlformats.org/officeDocument/2006/relationships/slide" Target="/ppt/slides/slide2.xml" Id="Ra06945830dab44b7" /><Relationship Type="http://schemas.openxmlformats.org/officeDocument/2006/relationships/slide" Target="/ppt/slides/slide3.xml" Id="R2233eae7b8c2485d" /><Relationship Type="http://schemas.openxmlformats.org/officeDocument/2006/relationships/slide" Target="/ppt/slides/slide4.xml" Id="R3ef4656e1d704456" /><Relationship Type="http://schemas.openxmlformats.org/officeDocument/2006/relationships/slide" Target="/ppt/slides/slide5.xml" Id="Rd61a397e7aaf4025" /><Relationship Type="http://schemas.openxmlformats.org/officeDocument/2006/relationships/slide" Target="/ppt/slides/slide6.xml" Id="R36c9fbced6e94e5c" /><Relationship Type="http://schemas.openxmlformats.org/officeDocument/2006/relationships/slide" Target="/ppt/slides/slide7.xml" Id="R091886c2972045e7" /><Relationship Type="http://schemas.openxmlformats.org/officeDocument/2006/relationships/slide" Target="/ppt/slides/slide8.xml" Id="R6e4b229c3d8a46ed" /><Relationship Type="http://schemas.openxmlformats.org/officeDocument/2006/relationships/slide" Target="/ppt/slides/slide9.xml" Id="R2d65536038064be7" /><Relationship Type="http://schemas.openxmlformats.org/officeDocument/2006/relationships/slide" Target="/ppt/slides/slide10.xml" Id="Rd2a67d84eefa42e2" /><Relationship Type="http://schemas.openxmlformats.org/officeDocument/2006/relationships/slide" Target="/ppt/slides/slide11.xml" Id="Raf6aa909deaa4a3c" /><Relationship Type="http://schemas.openxmlformats.org/officeDocument/2006/relationships/slide" Target="/ppt/slides/slide12.xml" Id="R6c31db30f7f54870" /><Relationship Type="http://schemas.openxmlformats.org/officeDocument/2006/relationships/slide" Target="/ppt/slides/slide13.xml" Id="R5d797e9ba02441da" /><Relationship Type="http://schemas.openxmlformats.org/officeDocument/2006/relationships/slide" Target="/ppt/slides/slide14.xml" Id="R2ebcbe7552b747e6" /><Relationship Type="http://schemas.openxmlformats.org/officeDocument/2006/relationships/slide" Target="/ppt/slides/slide15.xml" Id="Raab7e57a4bbc457e" /><Relationship Type="http://schemas.openxmlformats.org/officeDocument/2006/relationships/slide" Target="/ppt/slides/slide16.xml" Id="R5c5cb1274da84b79" /><Relationship Type="http://schemas.openxmlformats.org/officeDocument/2006/relationships/slide" Target="/ppt/slides/slide17.xml" Id="Re58d7147fd854fe7" /><Relationship Type="http://schemas.openxmlformats.org/officeDocument/2006/relationships/slide" Target="/ppt/slides/slide18.xml" Id="Ra7861119d26c4d28" /><Relationship Type="http://schemas.openxmlformats.org/officeDocument/2006/relationships/slide" Target="/ppt/slides/slide19.xml" Id="R4071925814cf42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c5c8b781c4f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e42bb56f14984" /><Relationship Type="http://schemas.openxmlformats.org/officeDocument/2006/relationships/notesMaster" Target="/ppt/notesMasters/notesMaster1.xml" Id="R6e3a5d9aee3041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9b2a902cde4cd0" /><Relationship Type="http://schemas.openxmlformats.org/officeDocument/2006/relationships/notesMaster" Target="/ppt/notesMasters/notesMaster1.xml" Id="R824c751fc490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56b2abeeba44d1" /><Relationship Type="http://schemas.openxmlformats.org/officeDocument/2006/relationships/notesMaster" Target="/ppt/notesMasters/notesMaster1.xml" Id="R6d37b1f007ea49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bf6fc939364b47" /><Relationship Type="http://schemas.openxmlformats.org/officeDocument/2006/relationships/notesMaster" Target="/ppt/notesMasters/notesMaster1.xml" Id="Rad631440b1474d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caa7d147074083" /><Relationship Type="http://schemas.openxmlformats.org/officeDocument/2006/relationships/notesMaster" Target="/ppt/notesMasters/notesMaster1.xml" Id="R3a077787bdbc4a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61d7b31fed46b7" /><Relationship Type="http://schemas.openxmlformats.org/officeDocument/2006/relationships/notesMaster" Target="/ppt/notesMasters/notesMaster1.xml" Id="R9b974a82fdc64b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d637bdfe1a4675" /><Relationship Type="http://schemas.openxmlformats.org/officeDocument/2006/relationships/notesMaster" Target="/ppt/notesMasters/notesMaster1.xml" Id="Rb1143b92942a4e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074908d39b4bec" /><Relationship Type="http://schemas.openxmlformats.org/officeDocument/2006/relationships/notesMaster" Target="/ppt/notesMasters/notesMaster1.xml" Id="R450a4d802df444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df778a21994ead" /><Relationship Type="http://schemas.openxmlformats.org/officeDocument/2006/relationships/notesMaster" Target="/ppt/notesMasters/notesMaster1.xml" Id="R112a9becb52e43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822777099948a4" /><Relationship Type="http://schemas.openxmlformats.org/officeDocument/2006/relationships/notesMaster" Target="/ppt/notesMasters/notesMaster1.xml" Id="Rdb4b463d3c1846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477095f8d44ae7" /><Relationship Type="http://schemas.openxmlformats.org/officeDocument/2006/relationships/notesMaster" Target="/ppt/notesMasters/notesMaster1.xml" Id="Rc75bd25749d243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a8e66970264a98" /><Relationship Type="http://schemas.openxmlformats.org/officeDocument/2006/relationships/notesMaster" Target="/ppt/notesMasters/notesMaster1.xml" Id="Rb65c8d731b0e4a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2947d7a7cd46aa" /><Relationship Type="http://schemas.openxmlformats.org/officeDocument/2006/relationships/notesMaster" Target="/ppt/notesMasters/notesMaster1.xml" Id="R50d17def623841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b67356b5094417" /><Relationship Type="http://schemas.openxmlformats.org/officeDocument/2006/relationships/notesMaster" Target="/ppt/notesMasters/notesMaster1.xml" Id="Rd106cad0ac804a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71deb7d98f4142" /><Relationship Type="http://schemas.openxmlformats.org/officeDocument/2006/relationships/notesMaster" Target="/ppt/notesMasters/notesMaster1.xml" Id="R67b1b74e9bde47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acf849aa5e4f96" /><Relationship Type="http://schemas.openxmlformats.org/officeDocument/2006/relationships/notesMaster" Target="/ppt/notesMasters/notesMaster1.xml" Id="R2cb6b2fad85449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7eef3a7dc6421e" /><Relationship Type="http://schemas.openxmlformats.org/officeDocument/2006/relationships/notesMaster" Target="/ppt/notesMasters/notesMaster1.xml" Id="R9a66f58b303349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ee9534924c460b" /><Relationship Type="http://schemas.openxmlformats.org/officeDocument/2006/relationships/notesMaster" Target="/ppt/notesMasters/notesMaster1.xml" Id="R15466470923240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87f775382645ce" /><Relationship Type="http://schemas.openxmlformats.org/officeDocument/2006/relationships/notesMaster" Target="/ppt/notesMasters/notesMaster1.xml" Id="Rfe1f7c80d43d4c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e09c5b17b41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2261c8145947ec" /><Relationship Type="http://schemas.openxmlformats.org/officeDocument/2006/relationships/slideLayout" Target="/ppt/slideLayouts/slideLayout1.xml" Id="R567155add31743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155add31743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b42cc9894bef" /><Relationship Type="http://schemas.openxmlformats.org/officeDocument/2006/relationships/notesSlide" Target="/ppt/notesSlides/notesSlide1.xml" Id="Rfa51cf269b6c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c63197dee4623" /><Relationship Type="http://schemas.openxmlformats.org/officeDocument/2006/relationships/notesSlide" Target="/ppt/notesSlides/notesSlide2.xml" Id="Rfdddad4cc1e248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e3d17a2fd4682" /><Relationship Type="http://schemas.openxmlformats.org/officeDocument/2006/relationships/notesSlide" Target="/ppt/notesSlides/notesSlide3.xml" Id="Rd47e37d4a833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3ff38989642f9" /><Relationship Type="http://schemas.openxmlformats.org/officeDocument/2006/relationships/notesSlide" Target="/ppt/notesSlides/notesSlide4.xml" Id="R912767afb0ce4e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81aeb133e44e9" /><Relationship Type="http://schemas.openxmlformats.org/officeDocument/2006/relationships/image" Target="/ppt/media/image.png" Id="R8f4c14591ee242f2" /><Relationship Type="http://schemas.openxmlformats.org/officeDocument/2006/relationships/notesSlide" Target="/ppt/notesSlides/notesSlide5.xml" Id="R0da4b6da0335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4a143d2674c7e" /><Relationship Type="http://schemas.openxmlformats.org/officeDocument/2006/relationships/image" Target="/ppt/media/image2.png" Id="R96d42b34ed1d4aac" /><Relationship Type="http://schemas.openxmlformats.org/officeDocument/2006/relationships/notesSlide" Target="/ppt/notesSlides/notesSlide6.xml" Id="Rfc7898ebac3a47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bda609b4b48dd" /><Relationship Type="http://schemas.openxmlformats.org/officeDocument/2006/relationships/notesSlide" Target="/ppt/notesSlides/notesSlide7.xml" Id="R9303826ebae44c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91e34401840a6" /><Relationship Type="http://schemas.openxmlformats.org/officeDocument/2006/relationships/notesSlide" Target="/ppt/notesSlides/notesSlide8.xml" Id="Rd8a717ebad8e4a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13f9aa3da4d96" /><Relationship Type="http://schemas.openxmlformats.org/officeDocument/2006/relationships/notesSlide" Target="/ppt/notesSlides/notesSlide9.xml" Id="Re806f0d9892a43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0d916dc2c4172" /><Relationship Type="http://schemas.openxmlformats.org/officeDocument/2006/relationships/image" Target="/ppt/media/image3.png" Id="R3ca7ad5892174e41" /><Relationship Type="http://schemas.openxmlformats.org/officeDocument/2006/relationships/image" Target="/ppt/media/image4.png" Id="R5f122f4025c74c38" /><Relationship Type="http://schemas.openxmlformats.org/officeDocument/2006/relationships/notesSlide" Target="/ppt/notesSlides/notesSlide10.xml" Id="R6e935516177746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50037809e40cc" /><Relationship Type="http://schemas.openxmlformats.org/officeDocument/2006/relationships/notesSlide" Target="/ppt/notesSlides/notesSlide11.xml" Id="Ra9cf938dfcd543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8d4d810ee4ca4" /><Relationship Type="http://schemas.openxmlformats.org/officeDocument/2006/relationships/notesSlide" Target="/ppt/notesSlides/notesSlide12.xml" Id="R29066bdb404845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e4532bd99451c" /><Relationship Type="http://schemas.openxmlformats.org/officeDocument/2006/relationships/notesSlide" Target="/ppt/notesSlides/notesSlide13.xml" Id="Rb8e6692540f646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86d6980e44ea7" /><Relationship Type="http://schemas.openxmlformats.org/officeDocument/2006/relationships/notesSlide" Target="/ppt/notesSlides/notesSlide14.xml" Id="Rbdd52b98722042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7dc603084721" /><Relationship Type="http://schemas.openxmlformats.org/officeDocument/2006/relationships/image" Target="/ppt/media/image5.png" Id="Re1dbb0e060784583" /><Relationship Type="http://schemas.openxmlformats.org/officeDocument/2006/relationships/notesSlide" Target="/ppt/notesSlides/notesSlide15.xml" Id="Rb3ac326edc2449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d0b39e1814bd4" /><Relationship Type="http://schemas.openxmlformats.org/officeDocument/2006/relationships/image" Target="/ppt/media/image6.png" Id="Rf6249d950c9e427b" /><Relationship Type="http://schemas.openxmlformats.org/officeDocument/2006/relationships/notesSlide" Target="/ppt/notesSlides/notesSlide16.xml" Id="R6eb0a479317242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9d9288f024ddb" /><Relationship Type="http://schemas.openxmlformats.org/officeDocument/2006/relationships/notesSlide" Target="/ppt/notesSlides/notesSlide17.xml" Id="Ra7628e77c4644a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2dba99a664bc8" /><Relationship Type="http://schemas.openxmlformats.org/officeDocument/2006/relationships/notesSlide" Target="/ppt/notesSlides/notesSlide18.xml" Id="R24afe1c3d86743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acd7a975f44f3" /><Relationship Type="http://schemas.openxmlformats.org/officeDocument/2006/relationships/notesSlide" Target="/ppt/notesSlides/notesSlide19.xml" Id="R01483e5713e94f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il">
            <a:extLst xmlns:a="http://schemas.openxmlformats.org/drawingml/2006/main">
              <a:ext uri="{FF2B5EF4-FFF2-40B4-BE49-F238E27FC236}">
                <a16:creationId xmlns:a16="http://schemas.microsoft.com/office/drawing/2014/main" id="{8C3F6E8A-947E-4EFB-BD6C-D806B553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43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808635B-0BBA-4DA3-A014-992005E9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6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878FF"/>
                </a:solidFill>
              </a:defRPr>
            </a:pPr>
            <a:r>
              <a:rPr sz="1875" b="1" i="0">
                <a:solidFill>
                  <a:srgbClr val="2878FF"/>
                </a:solidFill>
              </a:rPr>
              <a:t>MerchantMesh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57F4BB-64BB-400A-BE22-6EFE78EB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049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0A0D12"/>
                </a:solidFill>
              </a:defRPr>
            </a:pPr>
            <a:r>
              <a:rPr sz="4200" b="1" i="0">
                <a:solidFill>
                  <a:srgbClr val="0A0D12"/>
                </a:solidFill>
              </a:rPr>
              <a:t>Agent-to-agent local commerce,</a:t>
            </a:r>
          </a:p>
          <a:p xmlns:a="http://schemas.openxmlformats.org/drawingml/2006/main">
            <a:pPr algn="l">
              <a:defRPr sz="4200" b="1" i="0">
                <a:solidFill>
                  <a:srgbClr val="0A0D12"/>
                </a:solidFill>
              </a:defRPr>
            </a:pPr>
            <a:r>
              <a:rPr sz="4200" b="1" i="0">
                <a:solidFill>
                  <a:srgbClr val="0A0D12"/>
                </a:solidFill>
              </a:rPr>
              <a:t>settled on Solana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BB77E8E4-BC75-4200-BCC4-0C8CDE35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96170"/>
                </a:solidFill>
              </a:defRPr>
            </a:pPr>
            <a:r>
              <a:rPr sz="1800" b="0" i="0">
                <a:solidFill>
                  <a:srgbClr val="596170"/>
                </a:solidFill>
              </a:rPr>
              <a:t>Natural-language demand → paid merchant-agent discovery → signed quotes → buyer-funded escrow → pickup release</a:t>
            </a:r>
          </a:p>
        </p:txBody>
      </p:sp>
      <p:sp>
        <p:nvSpPr>
          <p:cNvPr id="5" name="mvp-b">
            <a:extLst xmlns:a="http://schemas.openxmlformats.org/drawingml/2006/main">
              <a:ext uri="{FF2B5EF4-FFF2-40B4-BE49-F238E27FC236}">
                <a16:creationId xmlns:a16="http://schemas.microsoft.com/office/drawing/2014/main" id="{6244646A-FEE9-4684-B0F9-469805B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333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vp-t">
            <a:extLst xmlns:a="http://schemas.openxmlformats.org/drawingml/2006/main">
              <a:ext uri="{FF2B5EF4-FFF2-40B4-BE49-F238E27FC236}">
                <a16:creationId xmlns:a16="http://schemas.microsoft.com/office/drawing/2014/main" id="{764B88BE-83A1-4FEB-89FD-2F46134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768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WORKING DEVNET MVP</a:t>
            </a:r>
          </a:p>
        </p:txBody>
      </p:sp>
      <p:sp>
        <p:nvSpPr>
          <p:cNvPr id="7" name="stack-b">
            <a:extLst xmlns:a="http://schemas.openxmlformats.org/drawingml/2006/main">
              <a:ext uri="{FF2B5EF4-FFF2-40B4-BE49-F238E27FC236}">
                <a16:creationId xmlns:a16="http://schemas.microsoft.com/office/drawing/2014/main" id="{82BCA711-262E-4C31-B5F3-BFE214B5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57750"/>
            <a:ext cx="2619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ck-t">
            <a:extLst xmlns:a="http://schemas.openxmlformats.org/drawingml/2006/main">
              <a:ext uri="{FF2B5EF4-FFF2-40B4-BE49-F238E27FC236}">
                <a16:creationId xmlns:a16="http://schemas.microsoft.com/office/drawing/2014/main" id="{02A0AA5E-677F-4BFF-8399-3427ADAA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768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NEXT.JS · SOLANA · USDC</a:t>
            </a:r>
          </a:p>
        </p:txBody>
      </p:sp>
      <p:sp>
        <p:nvSpPr>
          <p:cNvPr id="9" name="tag">
            <a:extLst xmlns:a="http://schemas.openxmlformats.org/drawingml/2006/main">
              <a:ext uri="{FF2B5EF4-FFF2-40B4-BE49-F238E27FC236}">
                <a16:creationId xmlns:a16="http://schemas.microsoft.com/office/drawing/2014/main" id="{9434375B-59B5-4335-BA3B-EF855A54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9625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gt">
            <a:extLst xmlns:a="http://schemas.openxmlformats.org/drawingml/2006/main">
              <a:ext uri="{FF2B5EF4-FFF2-40B4-BE49-F238E27FC236}">
                <a16:creationId xmlns:a16="http://schemas.microsoft.com/office/drawing/2014/main" id="{1CEE24BF-F62B-4696-B695-44E1FAF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48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Commerce APIs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for autonomous agents</a:t>
            </a:r>
          </a:p>
        </p:txBody>
      </p:sp>
      <p:sp>
        <p:nvSpPr>
          <p:cNvPr id="11" name="foot">
            <a:extLst xmlns:a="http://schemas.openxmlformats.org/drawingml/2006/main">
              <a:ext uri="{FF2B5EF4-FFF2-40B4-BE49-F238E27FC236}">
                <a16:creationId xmlns:a16="http://schemas.microsoft.com/office/drawing/2014/main" id="{3592F6F0-059F-4C7D-ACD1-2C1F5184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0598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E5749299-3919-4796-A5C9-6F1D09A2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38ACF9-774D-4D64-90A9-A894B63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Local commerce has demand — but no shared machine layer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EF007F0-4046-4C77-8B5B-956FE604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80E3F49B-2B89-4B65-9DF5-8F82C58B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0D12"/>
                </a:solidFill>
              </a:defRPr>
            </a:pPr>
            <a:r>
              <a:rPr sz="2100" b="1" i="0">
                <a:solidFill>
                  <a:srgbClr val="0A0D12"/>
                </a:solidFill>
              </a:rPr>
              <a:t>Today, every transaction repeats the same manual coordination loop.</a:t>
            </a:r>
          </a:p>
        </p:txBody>
      </p:sp>
      <p:sp>
        <p:nvSpPr>
          <p:cNvPr id="5" name="p1-bg">
            <a:extLst xmlns:a="http://schemas.openxmlformats.org/drawingml/2006/main">
              <a:ext uri="{FF2B5EF4-FFF2-40B4-BE49-F238E27FC236}">
                <a16:creationId xmlns:a16="http://schemas.microsoft.com/office/drawing/2014/main" id="{2DC5AC29-327B-4838-9192-4FD7A5D0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-a">
            <a:extLst xmlns:a="http://schemas.openxmlformats.org/drawingml/2006/main">
              <a:ext uri="{FF2B5EF4-FFF2-40B4-BE49-F238E27FC236}">
                <a16:creationId xmlns:a16="http://schemas.microsoft.com/office/drawing/2014/main" id="{26523922-749C-43C4-A182-0C68AB9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-t">
            <a:extLst xmlns:a="http://schemas.openxmlformats.org/drawingml/2006/main">
              <a:ext uri="{FF2B5EF4-FFF2-40B4-BE49-F238E27FC236}">
                <a16:creationId xmlns:a16="http://schemas.microsoft.com/office/drawing/2014/main" id="{05EB537F-1526-439B-926F-731EEF87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03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Fragmented discovery</a:t>
            </a:r>
          </a:p>
        </p:txBody>
      </p:sp>
      <p:sp>
        <p:nvSpPr>
          <p:cNvPr id="8" name="p1-b">
            <a:extLst xmlns:a="http://schemas.openxmlformats.org/drawingml/2006/main">
              <a:ext uri="{FF2B5EF4-FFF2-40B4-BE49-F238E27FC236}">
                <a16:creationId xmlns:a16="http://schemas.microsoft.com/office/drawing/2014/main" id="{CF542310-60E8-441F-951E-6BDECC06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2905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Inventory, availability, and price live across calls, messages, and separate storefronts.</a:t>
            </a:r>
          </a:p>
        </p:txBody>
      </p:sp>
      <p:sp>
        <p:nvSpPr>
          <p:cNvPr id="9" name="p2-bg">
            <a:extLst xmlns:a="http://schemas.openxmlformats.org/drawingml/2006/main">
              <a:ext uri="{FF2B5EF4-FFF2-40B4-BE49-F238E27FC236}">
                <a16:creationId xmlns:a16="http://schemas.microsoft.com/office/drawing/2014/main" id="{D90E835D-FFFA-4A2F-BAD7-CD9588CD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-a">
            <a:extLst xmlns:a="http://schemas.openxmlformats.org/drawingml/2006/main">
              <a:ext uri="{FF2B5EF4-FFF2-40B4-BE49-F238E27FC236}">
                <a16:creationId xmlns:a16="http://schemas.microsoft.com/office/drawing/2014/main" id="{C78B6E1F-8888-4C96-9280-3F8DE729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D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2-t">
            <a:extLst xmlns:a="http://schemas.openxmlformats.org/drawingml/2006/main">
              <a:ext uri="{FF2B5EF4-FFF2-40B4-BE49-F238E27FC236}">
                <a16:creationId xmlns:a16="http://schemas.microsoft.com/office/drawing/2014/main" id="{9C229522-0DE9-47A2-A08B-BF3EAD4A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03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Trust before payment</a:t>
            </a:r>
          </a:p>
        </p:txBody>
      </p:sp>
      <p:sp>
        <p:nvSpPr>
          <p:cNvPr id="12" name="p2-b">
            <a:extLst xmlns:a="http://schemas.openxmlformats.org/drawingml/2006/main">
              <a:ext uri="{FF2B5EF4-FFF2-40B4-BE49-F238E27FC236}">
                <a16:creationId xmlns:a16="http://schemas.microsoft.com/office/drawing/2014/main" id="{08621866-AC0C-4EE6-9620-6D226287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905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Buyers fear prepayment; merchants fear preparing an order without commitment.</a:t>
            </a:r>
          </a:p>
        </p:txBody>
      </p:sp>
      <p:sp>
        <p:nvSpPr>
          <p:cNvPr id="13" name="p3-bg">
            <a:extLst xmlns:a="http://schemas.openxmlformats.org/drawingml/2006/main">
              <a:ext uri="{FF2B5EF4-FFF2-40B4-BE49-F238E27FC236}">
                <a16:creationId xmlns:a16="http://schemas.microsoft.com/office/drawing/2014/main" id="{4A268E8B-EFA3-4495-A3F4-85553084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3-a">
            <a:extLst xmlns:a="http://schemas.openxmlformats.org/drawingml/2006/main">
              <a:ext uri="{FF2B5EF4-FFF2-40B4-BE49-F238E27FC236}">
                <a16:creationId xmlns:a16="http://schemas.microsoft.com/office/drawing/2014/main" id="{5520E497-958F-4EEE-A580-F0B8BC1F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3-t">
            <a:extLst xmlns:a="http://schemas.openxmlformats.org/drawingml/2006/main">
              <a:ext uri="{FF2B5EF4-FFF2-40B4-BE49-F238E27FC236}">
                <a16:creationId xmlns:a16="http://schemas.microsoft.com/office/drawing/2014/main" id="{7CDD2974-9788-4805-90D3-63F8D74D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03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AI without authority</a:t>
            </a:r>
          </a:p>
        </p:txBody>
      </p:sp>
      <p:sp>
        <p:nvSpPr>
          <p:cNvPr id="16" name="p3-b">
            <a:extLst xmlns:a="http://schemas.openxmlformats.org/drawingml/2006/main">
              <a:ext uri="{FF2B5EF4-FFF2-40B4-BE49-F238E27FC236}">
                <a16:creationId xmlns:a16="http://schemas.microsoft.com/office/drawing/2014/main" id="{CC45ED75-2E4E-4044-8069-61F83488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2905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A model can interpret intent, but it cannot be trusted to invent stock, price, or settlement state.</a:t>
            </a:r>
          </a:p>
        </p:txBody>
      </p:sp>
      <p:sp>
        <p:nvSpPr>
          <p:cNvPr id="17" name="claim-bg">
            <a:extLst xmlns:a="http://schemas.openxmlformats.org/drawingml/2006/main">
              <a:ext uri="{FF2B5EF4-FFF2-40B4-BE49-F238E27FC236}">
                <a16:creationId xmlns:a16="http://schemas.microsoft.com/office/drawing/2014/main" id="{9B5A2279-095E-46EE-A891-A8655CA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aim-tx">
            <a:extLst xmlns:a="http://schemas.openxmlformats.org/drawingml/2006/main">
              <a:ext uri="{FF2B5EF4-FFF2-40B4-BE49-F238E27FC236}">
                <a16:creationId xmlns:a16="http://schemas.microsoft.com/office/drawing/2014/main" id="{46E15767-2388-42CA-BF32-EC05C9B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MerchantMesh turns coordination into verifiable, paid agent interactions.</a:t>
            </a:r>
          </a:p>
        </p:txBody>
      </p:sp>
      <p:sp>
        <p:nvSpPr>
          <p:cNvPr id="19" name="foot">
            <a:extLst xmlns:a="http://schemas.openxmlformats.org/drawingml/2006/main">
              <a:ext uri="{FF2B5EF4-FFF2-40B4-BE49-F238E27FC236}">
                <a16:creationId xmlns:a16="http://schemas.microsoft.com/office/drawing/2014/main" id="{965D7A1E-0419-48B2-B544-CBC4363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3782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65B35F43-6BBA-4967-9E1E-F49699D2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CFCD63-3291-4306-AB63-F5BD0F75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One buyer agent can negotiate with an entire local market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96B18BD-F97D-4F44-9B15-C60816D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0-line">
            <a:extLst xmlns:a="http://schemas.openxmlformats.org/drawingml/2006/main">
              <a:ext uri="{FF2B5EF4-FFF2-40B4-BE49-F238E27FC236}">
                <a16:creationId xmlns:a16="http://schemas.microsoft.com/office/drawing/2014/main" id="{71FA9214-9C04-47E6-BF15-EF81F0B6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0-head">
            <a:extLst xmlns:a="http://schemas.openxmlformats.org/drawingml/2006/main">
              <a:ext uri="{FF2B5EF4-FFF2-40B4-BE49-F238E27FC236}">
                <a16:creationId xmlns:a16="http://schemas.microsoft.com/office/drawing/2014/main" id="{90D43AD3-1EC3-42DF-95EA-1E55F535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0">
            <a:extLst xmlns:a="http://schemas.openxmlformats.org/drawingml/2006/main">
              <a:ext uri="{FF2B5EF4-FFF2-40B4-BE49-F238E27FC236}">
                <a16:creationId xmlns:a16="http://schemas.microsoft.com/office/drawing/2014/main" id="{1A564B6B-AD71-4C13-8779-211DBCA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t0">
            <a:extLst xmlns:a="http://schemas.openxmlformats.org/drawingml/2006/main">
              <a:ext uri="{FF2B5EF4-FFF2-40B4-BE49-F238E27FC236}">
                <a16:creationId xmlns:a16="http://schemas.microsoft.com/office/drawing/2014/main" id="{1ABCCCCC-8463-4581-8FF3-CBB17B7D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0D12"/>
                </a:solidFill>
              </a:defRPr>
            </a:pPr>
            <a:r>
              <a:rPr sz="1350" b="1" i="0">
                <a:solidFill>
                  <a:srgbClr val="0A0D12"/>
                </a:solidFill>
              </a:rPr>
              <a:t>BUYER INTENT</a:t>
            </a:r>
          </a:p>
        </p:txBody>
      </p:sp>
      <p:sp>
        <p:nvSpPr>
          <p:cNvPr id="8" name="nb0">
            <a:extLst xmlns:a="http://schemas.openxmlformats.org/drawingml/2006/main">
              <a:ext uri="{FF2B5EF4-FFF2-40B4-BE49-F238E27FC236}">
                <a16:creationId xmlns:a16="http://schemas.microsoft.com/office/drawing/2014/main" id="{47A016BD-FC9D-45AE-A6D0-F449A33E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96170"/>
                </a:solidFill>
              </a:defRPr>
            </a:pPr>
            <a:r>
              <a:rPr sz="1275" b="1" i="0">
                <a:solidFill>
                  <a:srgbClr val="596170"/>
                </a:solidFill>
              </a:rPr>
              <a:t>Meal or shopping request</a:t>
            </a:r>
          </a:p>
          <a:p xmlns:a="http://schemas.openxmlformats.org/drawingml/2006/main">
            <a:pPr algn="l">
              <a:defRPr sz="1275" b="1" i="0">
                <a:solidFill>
                  <a:srgbClr val="596170"/>
                </a:solidFill>
              </a:defRPr>
            </a:pPr>
            <a:r>
              <a:rPr sz="1275" b="1" i="0">
                <a:solidFill>
                  <a:srgbClr val="596170"/>
                </a:solidFill>
              </a:rPr>
              <a:t>List approval</a:t>
            </a:r>
          </a:p>
        </p:txBody>
      </p:sp>
      <p:sp>
        <p:nvSpPr>
          <p:cNvPr id="9" name="a1-line">
            <a:extLst xmlns:a="http://schemas.openxmlformats.org/drawingml/2006/main">
              <a:ext uri="{FF2B5EF4-FFF2-40B4-BE49-F238E27FC236}">
                <a16:creationId xmlns:a16="http://schemas.microsoft.com/office/drawing/2014/main" id="{819B4493-80C4-41B5-9DF3-BF7FBA9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1-head">
            <a:extLst xmlns:a="http://schemas.openxmlformats.org/drawingml/2006/main">
              <a:ext uri="{FF2B5EF4-FFF2-40B4-BE49-F238E27FC236}">
                <a16:creationId xmlns:a16="http://schemas.microsoft.com/office/drawing/2014/main" id="{5426880A-9880-4BD7-84A4-F0EE95A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1">
            <a:extLst xmlns:a="http://schemas.openxmlformats.org/drawingml/2006/main">
              <a:ext uri="{FF2B5EF4-FFF2-40B4-BE49-F238E27FC236}">
                <a16:creationId xmlns:a16="http://schemas.microsoft.com/office/drawing/2014/main" id="{8F409C01-5FED-4A04-8462-B0855BA7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t1">
            <a:extLst xmlns:a="http://schemas.openxmlformats.org/drawingml/2006/main">
              <a:ext uri="{FF2B5EF4-FFF2-40B4-BE49-F238E27FC236}">
                <a16:creationId xmlns:a16="http://schemas.microsoft.com/office/drawing/2014/main" id="{D0E63076-9AD1-4C74-AB47-1E509079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PERSONAL AGENT</a:t>
            </a:r>
          </a:p>
        </p:txBody>
      </p:sp>
      <p:sp>
        <p:nvSpPr>
          <p:cNvPr id="13" name="nb1">
            <a:extLst xmlns:a="http://schemas.openxmlformats.org/drawingml/2006/main">
              <a:ext uri="{FF2B5EF4-FFF2-40B4-BE49-F238E27FC236}">
                <a16:creationId xmlns:a16="http://schemas.microsoft.com/office/drawing/2014/main" id="{A8F286B7-9590-4D97-8BE4-EFBE1143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Plan + orchestration</a:t>
            </a:r>
          </a:p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Budget enforcement</a:t>
            </a:r>
          </a:p>
        </p:txBody>
      </p:sp>
      <p:sp>
        <p:nvSpPr>
          <p:cNvPr id="14" name="a2-line">
            <a:extLst xmlns:a="http://schemas.openxmlformats.org/drawingml/2006/main">
              <a:ext uri="{FF2B5EF4-FFF2-40B4-BE49-F238E27FC236}">
                <a16:creationId xmlns:a16="http://schemas.microsoft.com/office/drawing/2014/main" id="{E8FF6599-D5AE-4226-9E25-6095D0B3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2-head">
            <a:extLst xmlns:a="http://schemas.openxmlformats.org/drawingml/2006/main">
              <a:ext uri="{FF2B5EF4-FFF2-40B4-BE49-F238E27FC236}">
                <a16:creationId xmlns:a16="http://schemas.microsoft.com/office/drawing/2014/main" id="{2E91F954-226F-43D5-B1C0-3E7421DA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2">
            <a:extLst xmlns:a="http://schemas.openxmlformats.org/drawingml/2006/main">
              <a:ext uri="{FF2B5EF4-FFF2-40B4-BE49-F238E27FC236}">
                <a16:creationId xmlns:a16="http://schemas.microsoft.com/office/drawing/2014/main" id="{B0C073AC-F7DC-45E9-B333-BFF9A38C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t2">
            <a:extLst xmlns:a="http://schemas.openxmlformats.org/drawingml/2006/main">
              <a:ext uri="{FF2B5EF4-FFF2-40B4-BE49-F238E27FC236}">
                <a16:creationId xmlns:a16="http://schemas.microsoft.com/office/drawing/2014/main" id="{D062B4BA-0511-4BDD-9BE7-78D857B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0D12"/>
                </a:solidFill>
              </a:defRPr>
            </a:pPr>
            <a:r>
              <a:rPr sz="1350" b="1" i="0">
                <a:solidFill>
                  <a:srgbClr val="0A0D12"/>
                </a:solidFill>
              </a:rPr>
              <a:t>MERCHANT AGENTS</a:t>
            </a:r>
          </a:p>
        </p:txBody>
      </p:sp>
      <p:sp>
        <p:nvSpPr>
          <p:cNvPr id="18" name="nb2">
            <a:extLst xmlns:a="http://schemas.openxmlformats.org/drawingml/2006/main">
              <a:ext uri="{FF2B5EF4-FFF2-40B4-BE49-F238E27FC236}">
                <a16:creationId xmlns:a16="http://schemas.microsoft.com/office/drawing/2014/main" id="{4850CD02-482C-4E16-BC0E-905D73C3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96170"/>
                </a:solidFill>
              </a:defRPr>
            </a:pPr>
            <a:r>
              <a:rPr sz="1275" b="1" i="0">
                <a:solidFill>
                  <a:srgbClr val="596170"/>
                </a:solidFill>
              </a:rPr>
              <a:t>Inventory-backed quotes</a:t>
            </a:r>
          </a:p>
          <a:p xmlns:a="http://schemas.openxmlformats.org/drawingml/2006/main">
            <a:pPr algn="l">
              <a:defRPr sz="1275" b="1" i="0">
                <a:solidFill>
                  <a:srgbClr val="596170"/>
                </a:solidFill>
              </a:defRPr>
            </a:pPr>
            <a:r>
              <a:rPr sz="1275" b="1" i="0">
                <a:solidFill>
                  <a:srgbClr val="596170"/>
                </a:solidFill>
              </a:rPr>
              <a:t>Merchant signatures</a:t>
            </a:r>
          </a:p>
        </p:txBody>
      </p:sp>
      <p:sp>
        <p:nvSpPr>
          <p:cNvPr id="19" name="n3">
            <a:extLst xmlns:a="http://schemas.openxmlformats.org/drawingml/2006/main">
              <a:ext uri="{FF2B5EF4-FFF2-40B4-BE49-F238E27FC236}">
                <a16:creationId xmlns:a16="http://schemas.microsoft.com/office/drawing/2014/main" id="{90A71C53-B2EE-421B-AF53-ADB4137C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71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t3">
            <a:extLst xmlns:a="http://schemas.openxmlformats.org/drawingml/2006/main">
              <a:ext uri="{FF2B5EF4-FFF2-40B4-BE49-F238E27FC236}">
                <a16:creationId xmlns:a16="http://schemas.microsoft.com/office/drawing/2014/main" id="{425C8107-DBA8-4518-AA73-B9705CC7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0D12"/>
                </a:solidFill>
              </a:defRPr>
            </a:pPr>
            <a:r>
              <a:rPr sz="1350" b="1" i="0">
                <a:solidFill>
                  <a:srgbClr val="0A0D12"/>
                </a:solidFill>
              </a:rPr>
              <a:t>SOLANA</a:t>
            </a:r>
          </a:p>
        </p:txBody>
      </p:sp>
      <p:sp>
        <p:nvSpPr>
          <p:cNvPr id="21" name="nb3">
            <a:extLst xmlns:a="http://schemas.openxmlformats.org/drawingml/2006/main">
              <a:ext uri="{FF2B5EF4-FFF2-40B4-BE49-F238E27FC236}">
                <a16:creationId xmlns:a16="http://schemas.microsoft.com/office/drawing/2014/main" id="{00121F2F-8CEB-4B10-87CC-44CEF6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96170"/>
                </a:solidFill>
              </a:defRPr>
            </a:pPr>
            <a:r>
              <a:rPr sz="1275" b="1" i="0">
                <a:solidFill>
                  <a:srgbClr val="596170"/>
                </a:solidFill>
              </a:rPr>
              <a:t>USDC escrow</a:t>
            </a:r>
          </a:p>
          <a:p xmlns:a="http://schemas.openxmlformats.org/drawingml/2006/main">
            <a:pPr algn="l">
              <a:defRPr sz="1275" b="1" i="0">
                <a:solidFill>
                  <a:srgbClr val="596170"/>
                </a:solidFill>
              </a:defRPr>
            </a:pPr>
            <a:r>
              <a:rPr sz="1275" b="1" i="0">
                <a:solidFill>
                  <a:srgbClr val="596170"/>
                </a:solidFill>
              </a:rPr>
              <a:t>Receipt + release</a:t>
            </a:r>
          </a:p>
        </p:txBody>
      </p:sp>
      <p:sp>
        <p:nvSpPr>
          <p:cNvPr id="22" name="principle">
            <a:extLst xmlns:a="http://schemas.openxmlformats.org/drawingml/2006/main">
              <a:ext uri="{FF2B5EF4-FFF2-40B4-BE49-F238E27FC236}">
                <a16:creationId xmlns:a16="http://schemas.microsoft.com/office/drawing/2014/main" id="{80027D98-2C80-4A1E-B506-D454E2A9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A0D12"/>
                </a:solidFill>
              </a:defRPr>
            </a:pPr>
            <a:r>
              <a:rPr sz="1800" b="1" i="0">
                <a:solidFill>
                  <a:srgbClr val="0A0D12"/>
                </a:solidFill>
              </a:rPr>
              <a:t>The LLM interprets intent. Databases, signatures, deterministic policies, and on-chain programs remain the commercial authority.</a:t>
            </a:r>
          </a:p>
        </p:txBody>
      </p:sp>
      <p:sp>
        <p:nvSpPr>
          <p:cNvPr id="23" name="foot">
            <a:extLst xmlns:a="http://schemas.openxmlformats.org/drawingml/2006/main">
              <a:ext uri="{FF2B5EF4-FFF2-40B4-BE49-F238E27FC236}">
                <a16:creationId xmlns:a16="http://schemas.microsoft.com/office/drawing/2014/main" id="{2775A81E-2409-41AA-A2A7-EDA5E46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974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DAC6CE0E-9718-4FF8-998C-95DECB26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6F33A6-89AE-4C69-8D4F-F6AB2B63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Three buyer approvals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E915EF7-F34C-4911-B2D3-C6713F5A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0">
            <a:extLst xmlns:a="http://schemas.openxmlformats.org/drawingml/2006/main">
              <a:ext uri="{FF2B5EF4-FFF2-40B4-BE49-F238E27FC236}">
                <a16:creationId xmlns:a16="http://schemas.microsoft.com/office/drawing/2014/main" id="{EEBBA0FD-060B-4DA9-9A0A-FB4D452D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878FF"/>
                </a:solidFill>
              </a:defRPr>
            </a:pPr>
            <a:r>
              <a:rPr sz="1950" b="1" i="0">
                <a:solidFill>
                  <a:srgbClr val="2878FF"/>
                </a:solidFill>
              </a:rPr>
              <a:t>01</a:t>
            </a:r>
          </a:p>
        </p:txBody>
      </p:sp>
      <p:sp>
        <p:nvSpPr>
          <p:cNvPr id="5" name="rt0">
            <a:extLst xmlns:a="http://schemas.openxmlformats.org/drawingml/2006/main">
              <a:ext uri="{FF2B5EF4-FFF2-40B4-BE49-F238E27FC236}">
                <a16:creationId xmlns:a16="http://schemas.microsoft.com/office/drawing/2014/main" id="{85B3C500-CB84-4CEE-A586-085B839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D12"/>
                </a:solidFill>
              </a:defRPr>
            </a:pPr>
            <a:r>
              <a:rPr sz="1725" b="1" i="0">
                <a:solidFill>
                  <a:srgbClr val="0A0D12"/>
                </a:solidFill>
              </a:rPr>
              <a:t>Approve the basket</a:t>
            </a:r>
          </a:p>
        </p:txBody>
      </p:sp>
      <p:sp>
        <p:nvSpPr>
          <p:cNvPr id="6" name="rb0">
            <a:extLst xmlns:a="http://schemas.openxmlformats.org/drawingml/2006/main">
              <a:ext uri="{FF2B5EF4-FFF2-40B4-BE49-F238E27FC236}">
                <a16:creationId xmlns:a16="http://schemas.microsoft.com/office/drawing/2014/main" id="{C42699B0-DCCC-4CFE-B2D7-22C0A9F4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70"/>
                </a:solidFill>
              </a:defRPr>
            </a:pPr>
            <a:r>
              <a:rPr sz="1350" b="0" i="0">
                <a:solidFill>
                  <a:srgbClr val="596170"/>
                </a:solidFill>
              </a:rPr>
              <a:t>After the LLM conversation, confirm exactly what should be searched.</a:t>
            </a:r>
          </a:p>
        </p:txBody>
      </p:sp>
      <p:sp>
        <p:nvSpPr>
          <p:cNvPr id="7" name="sep0">
            <a:extLst xmlns:a="http://schemas.openxmlformats.org/drawingml/2006/main">
              <a:ext uri="{FF2B5EF4-FFF2-40B4-BE49-F238E27FC236}">
                <a16:creationId xmlns:a16="http://schemas.microsoft.com/office/drawing/2014/main" id="{E84F5B7F-800E-4596-ABC1-CBAB43AF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1">
            <a:extLst xmlns:a="http://schemas.openxmlformats.org/drawingml/2006/main">
              <a:ext uri="{FF2B5EF4-FFF2-40B4-BE49-F238E27FC236}">
                <a16:creationId xmlns:a16="http://schemas.microsoft.com/office/drawing/2014/main" id="{6DCA2C2E-1712-42D5-A332-0BE3E197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3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878FF"/>
                </a:solidFill>
              </a:defRPr>
            </a:pPr>
            <a:r>
              <a:rPr sz="1950" b="1" i="0">
                <a:solidFill>
                  <a:srgbClr val="2878FF"/>
                </a:solidFill>
              </a:rPr>
              <a:t>02</a:t>
            </a:r>
          </a:p>
        </p:txBody>
      </p:sp>
      <p:sp>
        <p:nvSpPr>
          <p:cNvPr id="9" name="rt1">
            <a:extLst xmlns:a="http://schemas.openxmlformats.org/drawingml/2006/main">
              <a:ext uri="{FF2B5EF4-FFF2-40B4-BE49-F238E27FC236}">
                <a16:creationId xmlns:a16="http://schemas.microsoft.com/office/drawing/2014/main" id="{6A35F5F0-4239-448D-AE22-DDB48C17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336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D12"/>
                </a:solidFill>
              </a:defRPr>
            </a:pPr>
            <a:r>
              <a:rPr sz="1725" b="1" i="0">
                <a:solidFill>
                  <a:srgbClr val="0A0D12"/>
                </a:solidFill>
              </a:rPr>
              <a:t>Choose signed offers</a:t>
            </a:r>
          </a:p>
        </p:txBody>
      </p:sp>
      <p:sp>
        <p:nvSpPr>
          <p:cNvPr id="10" name="rb1">
            <a:extLst xmlns:a="http://schemas.openxmlformats.org/drawingml/2006/main">
              <a:ext uri="{FF2B5EF4-FFF2-40B4-BE49-F238E27FC236}">
                <a16:creationId xmlns:a16="http://schemas.microsoft.com/office/drawing/2014/main" id="{5C1B9E06-6C64-4EEA-983B-CD9AB0B4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70"/>
                </a:solidFill>
              </a:defRPr>
            </a:pPr>
            <a:r>
              <a:rPr sz="1350" b="0" i="0">
                <a:solidFill>
                  <a:srgbClr val="596170"/>
                </a:solidFill>
              </a:rPr>
              <a:t>Compare merchant quotes and select the best allocation per product.</a:t>
            </a:r>
          </a:p>
        </p:txBody>
      </p:sp>
      <p:sp>
        <p:nvSpPr>
          <p:cNvPr id="11" name="sep1">
            <a:extLst xmlns:a="http://schemas.openxmlformats.org/drawingml/2006/main">
              <a:ext uri="{FF2B5EF4-FFF2-40B4-BE49-F238E27FC236}">
                <a16:creationId xmlns:a16="http://schemas.microsoft.com/office/drawing/2014/main" id="{0C764AC9-5C6F-4F4E-A81D-C8EE9D94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2">
            <a:extLst xmlns:a="http://schemas.openxmlformats.org/drawingml/2006/main">
              <a:ext uri="{FF2B5EF4-FFF2-40B4-BE49-F238E27FC236}">
                <a16:creationId xmlns:a16="http://schemas.microsoft.com/office/drawing/2014/main" id="{848F4771-31C8-43E7-8E96-F894CFD7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878FF"/>
                </a:solidFill>
              </a:defRPr>
            </a:pPr>
            <a:r>
              <a:rPr sz="1950" b="1" i="0">
                <a:solidFill>
                  <a:srgbClr val="2878FF"/>
                </a:solidFill>
              </a:rPr>
              <a:t>03</a:t>
            </a:r>
          </a:p>
        </p:txBody>
      </p:sp>
      <p:sp>
        <p:nvSpPr>
          <p:cNvPr id="13" name="rt2">
            <a:extLst xmlns:a="http://schemas.openxmlformats.org/drawingml/2006/main">
              <a:ext uri="{FF2B5EF4-FFF2-40B4-BE49-F238E27FC236}">
                <a16:creationId xmlns:a16="http://schemas.microsoft.com/office/drawing/2014/main" id="{A553099F-6853-49FF-A33A-59BD0E86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D12"/>
                </a:solidFill>
              </a:defRPr>
            </a:pPr>
            <a:r>
              <a:rPr sz="1725" b="1" i="0">
                <a:solidFill>
                  <a:srgbClr val="0A0D12"/>
                </a:solidFill>
              </a:rPr>
              <a:t>Fund all escrows</a:t>
            </a:r>
          </a:p>
        </p:txBody>
      </p:sp>
      <p:sp>
        <p:nvSpPr>
          <p:cNvPr id="14" name="rb2">
            <a:extLst xmlns:a="http://schemas.openxmlformats.org/drawingml/2006/main">
              <a:ext uri="{FF2B5EF4-FFF2-40B4-BE49-F238E27FC236}">
                <a16:creationId xmlns:a16="http://schemas.microsoft.com/office/drawing/2014/main" id="{A8AB2309-2421-43F5-ACD5-4A63DAE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70"/>
                </a:solidFill>
              </a:defRPr>
            </a:pPr>
            <a:r>
              <a:rPr sz="1350" b="0" i="0">
                <a:solidFill>
                  <a:srgbClr val="596170"/>
                </a:solidFill>
              </a:rPr>
              <a:t>After merchants accept, sign the USDC escrow transactions in Phantom.</a:t>
            </a:r>
          </a:p>
        </p:txBody>
      </p:sp>
      <p:sp>
        <p:nvSpPr>
          <p:cNvPr id="15" name="sep2">
            <a:extLst xmlns:a="http://schemas.openxmlformats.org/drawingml/2006/main">
              <a:ext uri="{FF2B5EF4-FFF2-40B4-BE49-F238E27FC236}">
                <a16:creationId xmlns:a16="http://schemas.microsoft.com/office/drawing/2014/main" id="{653772A2-4BC7-493D-B5E3-8E7C0BA9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3">
            <a:extLst xmlns:a="http://schemas.openxmlformats.org/drawingml/2006/main">
              <a:ext uri="{FF2B5EF4-FFF2-40B4-BE49-F238E27FC236}">
                <a16:creationId xmlns:a16="http://schemas.microsoft.com/office/drawing/2014/main" id="{F51210FF-4BAA-4F7D-84C5-6500D863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878FF"/>
                </a:solidFill>
              </a:defRPr>
            </a:pPr>
            <a:r>
              <a:rPr sz="1950" b="1" i="0">
                <a:solidFill>
                  <a:srgbClr val="2878FF"/>
                </a:solidFill>
              </a:rPr>
              <a:t>04</a:t>
            </a:r>
          </a:p>
        </p:txBody>
      </p:sp>
      <p:sp>
        <p:nvSpPr>
          <p:cNvPr id="17" name="rt3">
            <a:extLst xmlns:a="http://schemas.openxmlformats.org/drawingml/2006/main">
              <a:ext uri="{FF2B5EF4-FFF2-40B4-BE49-F238E27FC236}">
                <a16:creationId xmlns:a16="http://schemas.microsoft.com/office/drawing/2014/main" id="{8E5E2CCC-2793-4500-B433-A43C0F8D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67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D12"/>
                </a:solidFill>
              </a:defRPr>
            </a:pPr>
            <a:r>
              <a:rPr sz="1725" b="1" i="0">
                <a:solidFill>
                  <a:srgbClr val="0A0D12"/>
                </a:solidFill>
              </a:rPr>
              <a:t>Release on pickup</a:t>
            </a:r>
          </a:p>
        </p:txBody>
      </p:sp>
      <p:sp>
        <p:nvSpPr>
          <p:cNvPr id="18" name="rb3">
            <a:extLst xmlns:a="http://schemas.openxmlformats.org/drawingml/2006/main">
              <a:ext uri="{FF2B5EF4-FFF2-40B4-BE49-F238E27FC236}">
                <a16:creationId xmlns:a16="http://schemas.microsoft.com/office/drawing/2014/main" id="{CDE613D4-65BB-4206-BA7B-2F2A6628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672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70"/>
                </a:solidFill>
              </a:defRPr>
            </a:pPr>
            <a:r>
              <a:rPr sz="1350" b="0" i="0">
                <a:solidFill>
                  <a:srgbClr val="596170"/>
                </a:solidFill>
              </a:rPr>
              <a:t>As each product is received in person, release its escrowed value to the merchant.</a:t>
            </a:r>
          </a:p>
        </p:txBody>
      </p:sp>
      <p:sp>
        <p:nvSpPr>
          <p:cNvPr id="19" name="stay-bg">
            <a:extLst xmlns:a="http://schemas.openxmlformats.org/drawingml/2006/main">
              <a:ext uri="{FF2B5EF4-FFF2-40B4-BE49-F238E27FC236}">
                <a16:creationId xmlns:a16="http://schemas.microsoft.com/office/drawing/2014/main" id="{F53C0295-F7FB-49EF-9C82-E04346E8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y-tx">
            <a:extLst xmlns:a="http://schemas.openxmlformats.org/drawingml/2006/main">
              <a:ext uri="{FF2B5EF4-FFF2-40B4-BE49-F238E27FC236}">
                <a16:creationId xmlns:a16="http://schemas.microsoft.com/office/drawing/2014/main" id="{F06ADE88-0293-4A16-BEF2-31F445E6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0007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No merchant-console navigation is required for the buyer flow.</a:t>
            </a:r>
          </a:p>
        </p:txBody>
      </p:sp>
      <p:sp>
        <p:nvSpPr>
          <p:cNvPr id="21" name="foot">
            <a:extLst xmlns:a="http://schemas.openxmlformats.org/drawingml/2006/main">
              <a:ext uri="{FF2B5EF4-FFF2-40B4-BE49-F238E27FC236}">
                <a16:creationId xmlns:a16="http://schemas.microsoft.com/office/drawing/2014/main" id="{9DF9846C-156E-491B-A1A3-9E764F7E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0808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BE68ADCC-2247-4879-9041-41AD3A7B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426C4E-5825-4FFB-BBC3-50514173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Working product: wallet-connected shopping starts from one prompt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22F8427-8436-4FD7-B9E0-17F93C17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c14591ee242f2"/>
          <a:stretch xmlns:a="http://schemas.openxmlformats.org/drawingml/2006/main"/>
        </p:blipFill>
        <p:spPr>
          <a:xfrm xmlns:a="http://schemas.openxmlformats.org/drawingml/2006/main">
            <a:off x="571500" y="2774955"/>
            <a:ext cx="7524750" cy="1784340"/>
          </a:xfrm>
          <a:prstGeom xmlns:a="http://schemas.openxmlformats.org/drawingml/2006/main" prst="rect">
            <a:avLst/>
          </a:prstGeom>
        </p:spPr>
      </p:pic>
      <p:sp>
        <p:nvSpPr>
          <p:cNvPr id="5" name="side">
            <a:extLst xmlns:a="http://schemas.openxmlformats.org/drawingml/2006/main">
              <a:ext uri="{FF2B5EF4-FFF2-40B4-BE49-F238E27FC236}">
                <a16:creationId xmlns:a16="http://schemas.microsoft.com/office/drawing/2014/main" id="{71DC2A85-9FA2-4C3D-90E3-B80BE725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3095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det">
            <a:extLst xmlns:a="http://schemas.openxmlformats.org/drawingml/2006/main">
              <a:ext uri="{FF2B5EF4-FFF2-40B4-BE49-F238E27FC236}">
                <a16:creationId xmlns:a16="http://schemas.microsoft.com/office/drawing/2014/main" id="{4195E302-4700-4EEB-9D51-BE35B4D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878FF"/>
                </a:solidFill>
              </a:defRPr>
            </a:pPr>
            <a:r>
              <a:rPr sz="1275" b="1" i="0">
                <a:solidFill>
                  <a:srgbClr val="2878FF"/>
                </a:solidFill>
              </a:rPr>
              <a:t>LIVE APP SURFACE</a:t>
            </a:r>
          </a:p>
        </p:txBody>
      </p:sp>
      <p:sp>
        <p:nvSpPr>
          <p:cNvPr id="7" name="sideb">
            <a:extLst xmlns:a="http://schemas.openxmlformats.org/drawingml/2006/main">
              <a:ext uri="{FF2B5EF4-FFF2-40B4-BE49-F238E27FC236}">
                <a16:creationId xmlns:a16="http://schemas.microsoft.com/office/drawing/2014/main" id="{73CBA570-04CF-4437-9FC4-0F8FD72F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571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Solana wallet sign-in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Natural-language shopping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User-approved basket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Live task timeline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One-page funding and pickup flow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9DF96614-8C91-46D1-9467-D4CC3686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95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96170"/>
                </a:solidFill>
              </a:defRPr>
            </a:pPr>
            <a:r>
              <a:rPr sz="1125" b="1" i="0">
                <a:solidFill>
                  <a:srgbClr val="596170"/>
                </a:solidFill>
              </a:rPr>
              <a:t>Captured from localhost:3000</a:t>
            </a:r>
          </a:p>
        </p:txBody>
      </p:sp>
      <p:sp>
        <p:nvSpPr>
          <p:cNvPr id="9" name="foot">
            <a:extLst xmlns:a="http://schemas.openxmlformats.org/drawingml/2006/main">
              <a:ext uri="{FF2B5EF4-FFF2-40B4-BE49-F238E27FC236}">
                <a16:creationId xmlns:a16="http://schemas.microsoft.com/office/drawing/2014/main" id="{1626002B-A2CE-4A8B-885C-71BFE85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2721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98267A92-9590-4A15-9C6F-8E5AA087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23B56B-25D3-495A-BD9B-E344EA12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Signed merchant quotes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CF15AA4-6DDF-4B1D-A52F-8875079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42b34ed1d4aac"/>
          <a:stretch xmlns:a="http://schemas.openxmlformats.org/drawingml/2006/main"/>
        </p:blipFill>
        <p:spPr>
          <a:xfrm xmlns:a="http://schemas.openxmlformats.org/drawingml/2006/main">
            <a:off x="571500" y="2213021"/>
            <a:ext cx="7239000" cy="3098709"/>
          </a:xfrm>
          <a:prstGeom xmlns:a="http://schemas.openxmlformats.org/drawingml/2006/main" prst="rect">
            <a:avLst/>
          </a:prstGeom>
        </p:spPr>
      </p:pic>
      <p:sp>
        <p:nvSpPr>
          <p:cNvPr id="5" name="side">
            <a:extLst xmlns:a="http://schemas.openxmlformats.org/drawingml/2006/main">
              <a:ext uri="{FF2B5EF4-FFF2-40B4-BE49-F238E27FC236}">
                <a16:creationId xmlns:a16="http://schemas.microsoft.com/office/drawing/2014/main" id="{046B676E-FC6B-4301-86AA-40055844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381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deh">
            <a:extLst xmlns:a="http://schemas.openxmlformats.org/drawingml/2006/main">
              <a:ext uri="{FF2B5EF4-FFF2-40B4-BE49-F238E27FC236}">
                <a16:creationId xmlns:a16="http://schemas.microsoft.com/office/drawing/2014/main" id="{AC8D529B-9689-4B1C-B41F-5E83FF79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878FF"/>
                </a:solidFill>
              </a:defRPr>
            </a:pPr>
            <a:r>
              <a:rPr sz="1275" b="1" i="0">
                <a:solidFill>
                  <a:srgbClr val="2878FF"/>
                </a:solidFill>
              </a:rPr>
              <a:t>COMMERCIAL FACTS</a:t>
            </a:r>
          </a:p>
        </p:txBody>
      </p:sp>
      <p:sp>
        <p:nvSpPr>
          <p:cNvPr id="7" name="sideb">
            <a:extLst xmlns:a="http://schemas.openxmlformats.org/drawingml/2006/main">
              <a:ext uri="{FF2B5EF4-FFF2-40B4-BE49-F238E27FC236}">
                <a16:creationId xmlns:a16="http://schemas.microsoft.com/office/drawing/2014/main" id="{7D251322-087B-431E-BCD7-245F22F1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85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Inventory and prices come from merchant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Each quote has a TTL, reservation state, and Ed25519 signature.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The buyer agent ranks verified offers; it never accepts an unsigned price.</a:t>
            </a:r>
          </a:p>
        </p:txBody>
      </p:sp>
      <p:sp>
        <p:nvSpPr>
          <p:cNvPr id="8" name="truth-bg">
            <a:extLst xmlns:a="http://schemas.openxmlformats.org/drawingml/2006/main">
              <a:ext uri="{FF2B5EF4-FFF2-40B4-BE49-F238E27FC236}">
                <a16:creationId xmlns:a16="http://schemas.microsoft.com/office/drawing/2014/main" id="{B60306B9-3E53-483B-88D1-1C976CE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95875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uth-tx">
            <a:extLst xmlns:a="http://schemas.openxmlformats.org/drawingml/2006/main">
              <a:ext uri="{FF2B5EF4-FFF2-40B4-BE49-F238E27FC236}">
                <a16:creationId xmlns:a16="http://schemas.microsoft.com/office/drawing/2014/main" id="{DE6E074E-80D2-4B9A-AB0E-E3CA73F2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339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LLM plans products — it does not price them.</a:t>
            </a:r>
          </a:p>
        </p:txBody>
      </p:sp>
      <p:sp>
        <p:nvSpPr>
          <p:cNvPr id="10" name="foot">
            <a:extLst xmlns:a="http://schemas.openxmlformats.org/drawingml/2006/main">
              <a:ext uri="{FF2B5EF4-FFF2-40B4-BE49-F238E27FC236}">
                <a16:creationId xmlns:a16="http://schemas.microsoft.com/office/drawing/2014/main" id="{C7B989F6-9F37-4ED4-AAB3-BC25D03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33864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B35534FE-0F45-4672-B15F-B4C9A7BC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76B077-D79D-4B49-B358-8E518724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Agent-to-agent payment makes every merchant capability callable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4170DC0-C547-4833-BEF6-FFB85642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0-line">
            <a:extLst xmlns:a="http://schemas.openxmlformats.org/drawingml/2006/main">
              <a:ext uri="{FF2B5EF4-FFF2-40B4-BE49-F238E27FC236}">
                <a16:creationId xmlns:a16="http://schemas.microsoft.com/office/drawing/2014/main" id="{CB147626-78AB-47A3-A52D-C17CF5E1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0-head">
            <a:extLst xmlns:a="http://schemas.openxmlformats.org/drawingml/2006/main">
              <a:ext uri="{FF2B5EF4-FFF2-40B4-BE49-F238E27FC236}">
                <a16:creationId xmlns:a16="http://schemas.microsoft.com/office/drawing/2014/main" id="{2E77C542-2CE5-4EE5-A365-2B4FBA8B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b0">
            <a:extLst xmlns:a="http://schemas.openxmlformats.org/drawingml/2006/main">
              <a:ext uri="{FF2B5EF4-FFF2-40B4-BE49-F238E27FC236}">
                <a16:creationId xmlns:a16="http://schemas.microsoft.com/office/drawing/2014/main" id="{239B1E05-419E-43F3-8585-CE78CE67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n0">
            <a:extLst xmlns:a="http://schemas.openxmlformats.org/drawingml/2006/main">
              <a:ext uri="{FF2B5EF4-FFF2-40B4-BE49-F238E27FC236}">
                <a16:creationId xmlns:a16="http://schemas.microsoft.com/office/drawing/2014/main" id="{10DCC078-43EF-4D9D-9601-D3043E29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878FF"/>
                </a:solidFill>
              </a:defRPr>
            </a:pPr>
            <a:r>
              <a:rPr sz="1800" b="1" i="0">
                <a:solidFill>
                  <a:srgbClr val="2878FF"/>
                </a:solidFill>
              </a:rPr>
              <a:t>1</a:t>
            </a:r>
          </a:p>
        </p:txBody>
      </p:sp>
      <p:sp>
        <p:nvSpPr>
          <p:cNvPr id="8" name="pt0">
            <a:extLst xmlns:a="http://schemas.openxmlformats.org/drawingml/2006/main">
              <a:ext uri="{FF2B5EF4-FFF2-40B4-BE49-F238E27FC236}">
                <a16:creationId xmlns:a16="http://schemas.microsoft.com/office/drawing/2014/main" id="{72A63F86-93BD-4CEC-9E37-C490B29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0D12"/>
                </a:solidFill>
              </a:defRPr>
            </a:pPr>
            <a:r>
              <a:rPr sz="1350" b="1" i="0">
                <a:solidFill>
                  <a:srgbClr val="0A0D12"/>
                </a:solidFill>
              </a:rPr>
              <a:t>REQUEST</a:t>
            </a:r>
          </a:p>
        </p:txBody>
      </p:sp>
      <p:sp>
        <p:nvSpPr>
          <p:cNvPr id="9" name="pd0">
            <a:extLst xmlns:a="http://schemas.openxmlformats.org/drawingml/2006/main">
              <a:ext uri="{FF2B5EF4-FFF2-40B4-BE49-F238E27FC236}">
                <a16:creationId xmlns:a16="http://schemas.microsoft.com/office/drawing/2014/main" id="{8633BC5A-1897-4832-9A72-1EA8145A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Buyer agent calls /quote with an idempotency key.</a:t>
            </a:r>
          </a:p>
        </p:txBody>
      </p:sp>
      <p:sp>
        <p:nvSpPr>
          <p:cNvPr id="10" name="pa1-line">
            <a:extLst xmlns:a="http://schemas.openxmlformats.org/drawingml/2006/main">
              <a:ext uri="{FF2B5EF4-FFF2-40B4-BE49-F238E27FC236}">
                <a16:creationId xmlns:a16="http://schemas.microsoft.com/office/drawing/2014/main" id="{F79CDEAC-4FE0-4448-BFCA-B90385F5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1-head">
            <a:extLst xmlns:a="http://schemas.openxmlformats.org/drawingml/2006/main">
              <a:ext uri="{FF2B5EF4-FFF2-40B4-BE49-F238E27FC236}">
                <a16:creationId xmlns:a16="http://schemas.microsoft.com/office/drawing/2014/main" id="{C4140701-D31E-44F4-9C99-5776B849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b1">
            <a:extLst xmlns:a="http://schemas.openxmlformats.org/drawingml/2006/main">
              <a:ext uri="{FF2B5EF4-FFF2-40B4-BE49-F238E27FC236}">
                <a16:creationId xmlns:a16="http://schemas.microsoft.com/office/drawing/2014/main" id="{4A52C791-6812-4504-976E-B9DCEBE2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n1">
            <a:extLst xmlns:a="http://schemas.openxmlformats.org/drawingml/2006/main">
              <a:ext uri="{FF2B5EF4-FFF2-40B4-BE49-F238E27FC236}">
                <a16:creationId xmlns:a16="http://schemas.microsoft.com/office/drawing/2014/main" id="{E984E8F3-969F-4B7F-80B0-788DF0F1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878FF"/>
                </a:solidFill>
              </a:defRPr>
            </a:pPr>
            <a:r>
              <a:rPr sz="1800" b="1" i="0">
                <a:solidFill>
                  <a:srgbClr val="2878FF"/>
                </a:solidFill>
              </a:rPr>
              <a:t>2</a:t>
            </a:r>
          </a:p>
        </p:txBody>
      </p:sp>
      <p:sp>
        <p:nvSpPr>
          <p:cNvPr id="14" name="pt1">
            <a:extLst xmlns:a="http://schemas.openxmlformats.org/drawingml/2006/main">
              <a:ext uri="{FF2B5EF4-FFF2-40B4-BE49-F238E27FC236}">
                <a16:creationId xmlns:a16="http://schemas.microsoft.com/office/drawing/2014/main" id="{8428655A-342E-4401-84F1-CE65CCD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0D12"/>
                </a:solidFill>
              </a:defRPr>
            </a:pPr>
            <a:r>
              <a:rPr sz="1350" b="1" i="0">
                <a:solidFill>
                  <a:srgbClr val="0A0D12"/>
                </a:solidFill>
              </a:rPr>
              <a:t>402 PRICE</a:t>
            </a:r>
          </a:p>
        </p:txBody>
      </p:sp>
      <p:sp>
        <p:nvSpPr>
          <p:cNvPr id="15" name="pd1">
            <a:extLst xmlns:a="http://schemas.openxmlformats.org/drawingml/2006/main">
              <a:ext uri="{FF2B5EF4-FFF2-40B4-BE49-F238E27FC236}">
                <a16:creationId xmlns:a16="http://schemas.microsoft.com/office/drawing/2014/main" id="{FDD5E4FB-22BC-45BE-8018-B950529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Merchant returns amount, USDC mint, payee, endpoint, and expiry.</a:t>
            </a:r>
          </a:p>
        </p:txBody>
      </p:sp>
      <p:sp>
        <p:nvSpPr>
          <p:cNvPr id="16" name="pa2-line">
            <a:extLst xmlns:a="http://schemas.openxmlformats.org/drawingml/2006/main">
              <a:ext uri="{FF2B5EF4-FFF2-40B4-BE49-F238E27FC236}">
                <a16:creationId xmlns:a16="http://schemas.microsoft.com/office/drawing/2014/main" id="{3CF6A1AE-AB49-4854-A869-6FDEB080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2-head">
            <a:extLst xmlns:a="http://schemas.openxmlformats.org/drawingml/2006/main">
              <a:ext uri="{FF2B5EF4-FFF2-40B4-BE49-F238E27FC236}">
                <a16:creationId xmlns:a16="http://schemas.microsoft.com/office/drawing/2014/main" id="{962E65D9-AE4D-4B0C-803A-072F02A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b2">
            <a:extLst xmlns:a="http://schemas.openxmlformats.org/drawingml/2006/main">
              <a:ext uri="{FF2B5EF4-FFF2-40B4-BE49-F238E27FC236}">
                <a16:creationId xmlns:a16="http://schemas.microsoft.com/office/drawing/2014/main" id="{4CBA318F-E170-4F88-8E79-19F166DE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n2">
            <a:extLst xmlns:a="http://schemas.openxmlformats.org/drawingml/2006/main">
              <a:ext uri="{FF2B5EF4-FFF2-40B4-BE49-F238E27FC236}">
                <a16:creationId xmlns:a16="http://schemas.microsoft.com/office/drawing/2014/main" id="{647A0ACC-1CED-4FE0-B8E2-A71C593C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pt2">
            <a:extLst xmlns:a="http://schemas.openxmlformats.org/drawingml/2006/main">
              <a:ext uri="{FF2B5EF4-FFF2-40B4-BE49-F238E27FC236}">
                <a16:creationId xmlns:a16="http://schemas.microsoft.com/office/drawing/2014/main" id="{74F06A83-469E-4B86-904E-BB027EA0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PAY</a:t>
            </a:r>
          </a:p>
        </p:txBody>
      </p:sp>
      <p:sp>
        <p:nvSpPr>
          <p:cNvPr id="21" name="pd2">
            <a:extLst xmlns:a="http://schemas.openxmlformats.org/drawingml/2006/main">
              <a:ext uri="{FF2B5EF4-FFF2-40B4-BE49-F238E27FC236}">
                <a16:creationId xmlns:a16="http://schemas.microsoft.com/office/drawing/2014/main" id="{5C4A1AB8-D9DD-452D-9A83-B349C609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Session wallet signs a budget-capped SPL USDC transfer.</a:t>
            </a:r>
          </a:p>
        </p:txBody>
      </p:sp>
      <p:sp>
        <p:nvSpPr>
          <p:cNvPr id="22" name="pa3-line">
            <a:extLst xmlns:a="http://schemas.openxmlformats.org/drawingml/2006/main">
              <a:ext uri="{FF2B5EF4-FFF2-40B4-BE49-F238E27FC236}">
                <a16:creationId xmlns:a16="http://schemas.microsoft.com/office/drawing/2014/main" id="{3DF2F1EE-08BC-42E6-940E-6D0F02E0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3-head">
            <a:extLst xmlns:a="http://schemas.openxmlformats.org/drawingml/2006/main">
              <a:ext uri="{FF2B5EF4-FFF2-40B4-BE49-F238E27FC236}">
                <a16:creationId xmlns:a16="http://schemas.microsoft.com/office/drawing/2014/main" id="{860DD9CA-9BB5-4FDE-B152-C4DC9481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b3">
            <a:extLst xmlns:a="http://schemas.openxmlformats.org/drawingml/2006/main">
              <a:ext uri="{FF2B5EF4-FFF2-40B4-BE49-F238E27FC236}">
                <a16:creationId xmlns:a16="http://schemas.microsoft.com/office/drawing/2014/main" id="{A49C310F-BCEE-4C95-A381-505C07AD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n3">
            <a:extLst xmlns:a="http://schemas.openxmlformats.org/drawingml/2006/main">
              <a:ext uri="{FF2B5EF4-FFF2-40B4-BE49-F238E27FC236}">
                <a16:creationId xmlns:a16="http://schemas.microsoft.com/office/drawing/2014/main" id="{022DB636-C5CE-4BF9-ADE1-19FBBFDE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878FF"/>
                </a:solidFill>
              </a:defRPr>
            </a:pPr>
            <a:r>
              <a:rPr sz="1800" b="1" i="0">
                <a:solidFill>
                  <a:srgbClr val="2878FF"/>
                </a:solidFill>
              </a:rPr>
              <a:t>4</a:t>
            </a:r>
          </a:p>
        </p:txBody>
      </p:sp>
      <p:sp>
        <p:nvSpPr>
          <p:cNvPr id="26" name="pt3">
            <a:extLst xmlns:a="http://schemas.openxmlformats.org/drawingml/2006/main">
              <a:ext uri="{FF2B5EF4-FFF2-40B4-BE49-F238E27FC236}">
                <a16:creationId xmlns:a16="http://schemas.microsoft.com/office/drawing/2014/main" id="{B4FBD14D-09F6-41CC-A7DC-848701F4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0D12"/>
                </a:solidFill>
              </a:defRPr>
            </a:pPr>
            <a:r>
              <a:rPr sz="1350" b="1" i="0">
                <a:solidFill>
                  <a:srgbClr val="0A0D12"/>
                </a:solidFill>
              </a:rPr>
              <a:t>PROVE</a:t>
            </a:r>
          </a:p>
        </p:txBody>
      </p:sp>
      <p:sp>
        <p:nvSpPr>
          <p:cNvPr id="27" name="pd3">
            <a:extLst xmlns:a="http://schemas.openxmlformats.org/drawingml/2006/main">
              <a:ext uri="{FF2B5EF4-FFF2-40B4-BE49-F238E27FC236}">
                <a16:creationId xmlns:a16="http://schemas.microsoft.com/office/drawing/2014/main" id="{09591C22-ADC7-48B4-8714-F378C3CF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Agent retries with the transaction proof in X-Payment.</a:t>
            </a:r>
          </a:p>
        </p:txBody>
      </p:sp>
      <p:sp>
        <p:nvSpPr>
          <p:cNvPr id="28" name="pb4">
            <a:extLst xmlns:a="http://schemas.openxmlformats.org/drawingml/2006/main">
              <a:ext uri="{FF2B5EF4-FFF2-40B4-BE49-F238E27FC236}">
                <a16:creationId xmlns:a16="http://schemas.microsoft.com/office/drawing/2014/main" id="{8B4D740A-2B6C-4B08-8298-33DF6F4C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n4">
            <a:extLst xmlns:a="http://schemas.openxmlformats.org/drawingml/2006/main">
              <a:ext uri="{FF2B5EF4-FFF2-40B4-BE49-F238E27FC236}">
                <a16:creationId xmlns:a16="http://schemas.microsoft.com/office/drawing/2014/main" id="{F14EB6D3-9DF0-423B-B463-5E24F9F1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878FF"/>
                </a:solidFill>
              </a:defRPr>
            </a:pPr>
            <a:r>
              <a:rPr sz="1800" b="1" i="0">
                <a:solidFill>
                  <a:srgbClr val="2878FF"/>
                </a:solidFill>
              </a:rPr>
              <a:t>5</a:t>
            </a:r>
          </a:p>
        </p:txBody>
      </p:sp>
      <p:sp>
        <p:nvSpPr>
          <p:cNvPr id="30" name="pt4">
            <a:extLst xmlns:a="http://schemas.openxmlformats.org/drawingml/2006/main">
              <a:ext uri="{FF2B5EF4-FFF2-40B4-BE49-F238E27FC236}">
                <a16:creationId xmlns:a16="http://schemas.microsoft.com/office/drawing/2014/main" id="{AF888E0B-5C42-4DC9-9221-A2B281BD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0D12"/>
                </a:solidFill>
              </a:defRPr>
            </a:pPr>
            <a:r>
              <a:rPr sz="1350" b="1" i="0">
                <a:solidFill>
                  <a:srgbClr val="0A0D12"/>
                </a:solidFill>
              </a:rPr>
              <a:t>RESPOND</a:t>
            </a:r>
          </a:p>
        </p:txBody>
      </p:sp>
      <p:sp>
        <p:nvSpPr>
          <p:cNvPr id="31" name="pd4">
            <a:extLst xmlns:a="http://schemas.openxmlformats.org/drawingml/2006/main">
              <a:ext uri="{FF2B5EF4-FFF2-40B4-BE49-F238E27FC236}">
                <a16:creationId xmlns:a16="http://schemas.microsoft.com/office/drawing/2014/main" id="{966B6649-378A-47D2-8BC0-1C0808B3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Merchant verifies the transfer and returns a signed quote.</a:t>
            </a:r>
          </a:p>
        </p:txBody>
      </p:sp>
      <p:sp>
        <p:nvSpPr>
          <p:cNvPr id="32" name="micro-bg">
            <a:extLst xmlns:a="http://schemas.openxmlformats.org/drawingml/2006/main">
              <a:ext uri="{FF2B5EF4-FFF2-40B4-BE49-F238E27FC236}">
                <a16:creationId xmlns:a16="http://schemas.microsoft.com/office/drawing/2014/main" id="{38A2AEE3-782A-422D-B841-490FE51A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icro-tx">
            <a:extLst xmlns:a="http://schemas.openxmlformats.org/drawingml/2006/main">
              <a:ext uri="{FF2B5EF4-FFF2-40B4-BE49-F238E27FC236}">
                <a16:creationId xmlns:a16="http://schemas.microsoft.com/office/drawing/2014/main" id="{CB17B49E-6841-4031-995E-DBD41E15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292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Micropayments use a constrained session wallet; final escrow funding always uses the buyer’s connected wallet.</a:t>
            </a:r>
          </a:p>
        </p:txBody>
      </p:sp>
      <p:sp>
        <p:nvSpPr>
          <p:cNvPr id="34" name="foot">
            <a:extLst xmlns:a="http://schemas.openxmlformats.org/drawingml/2006/main">
              <a:ext uri="{FF2B5EF4-FFF2-40B4-BE49-F238E27FC236}">
                <a16:creationId xmlns:a16="http://schemas.microsoft.com/office/drawing/2014/main" id="{94558C5D-48FF-4748-BC7A-330F5D0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5982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6D6E95B9-96FD-40B2-A213-B1065B4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E50459-C54A-4EE9-A282-C9CA63B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Why paid agent APIs are different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423CC2C-A2C8-47C0-A8F6-4B109532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1-bg">
            <a:extLst xmlns:a="http://schemas.openxmlformats.org/drawingml/2006/main">
              <a:ext uri="{FF2B5EF4-FFF2-40B4-BE49-F238E27FC236}">
                <a16:creationId xmlns:a16="http://schemas.microsoft.com/office/drawing/2014/main" id="{0D26B6FC-1543-4FA1-8A98-B5D65B3D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1-a">
            <a:extLst xmlns:a="http://schemas.openxmlformats.org/drawingml/2006/main">
              <a:ext uri="{FF2B5EF4-FFF2-40B4-BE49-F238E27FC236}">
                <a16:creationId xmlns:a16="http://schemas.microsoft.com/office/drawing/2014/main" id="{4CD5CC79-68F9-430A-BB0F-3A631906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1-t">
            <a:extLst xmlns:a="http://schemas.openxmlformats.org/drawingml/2006/main">
              <a:ext uri="{FF2B5EF4-FFF2-40B4-BE49-F238E27FC236}">
                <a16:creationId xmlns:a16="http://schemas.microsoft.com/office/drawing/2014/main" id="{ED725207-378E-4D4C-B0A7-65381B67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Price is part of the protocol</a:t>
            </a:r>
          </a:p>
        </p:txBody>
      </p:sp>
      <p:sp>
        <p:nvSpPr>
          <p:cNvPr id="7" name="a1-b">
            <a:extLst xmlns:a="http://schemas.openxmlformats.org/drawingml/2006/main">
              <a:ext uri="{FF2B5EF4-FFF2-40B4-BE49-F238E27FC236}">
                <a16:creationId xmlns:a16="http://schemas.microsoft.com/office/drawing/2014/main" id="{B1435C18-4A9D-4E01-A5A0-7E2EAC15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The service tells the calling agent exactly what the capability costs before work begins.</a:t>
            </a:r>
          </a:p>
        </p:txBody>
      </p:sp>
      <p:sp>
        <p:nvSpPr>
          <p:cNvPr id="8" name="a2-bg">
            <a:extLst xmlns:a="http://schemas.openxmlformats.org/drawingml/2006/main">
              <a:ext uri="{FF2B5EF4-FFF2-40B4-BE49-F238E27FC236}">
                <a16:creationId xmlns:a16="http://schemas.microsoft.com/office/drawing/2014/main" id="{548644F9-EB2A-459B-A6E0-7084FD4E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2-a">
            <a:extLst xmlns:a="http://schemas.openxmlformats.org/drawingml/2006/main">
              <a:ext uri="{FF2B5EF4-FFF2-40B4-BE49-F238E27FC236}">
                <a16:creationId xmlns:a16="http://schemas.microsoft.com/office/drawing/2014/main" id="{C5B1137C-7890-4D82-A1E2-0D0AD970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2-t">
            <a:extLst xmlns:a="http://schemas.openxmlformats.org/drawingml/2006/main">
              <a:ext uri="{FF2B5EF4-FFF2-40B4-BE49-F238E27FC236}">
                <a16:creationId xmlns:a16="http://schemas.microsoft.com/office/drawing/2014/main" id="{893A1ED4-AE60-4EBB-9EB9-34252C62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Budgets are enforceable</a:t>
            </a:r>
          </a:p>
        </p:txBody>
      </p:sp>
      <p:sp>
        <p:nvSpPr>
          <p:cNvPr id="11" name="a2-b">
            <a:extLst xmlns:a="http://schemas.openxmlformats.org/drawingml/2006/main">
              <a:ext uri="{FF2B5EF4-FFF2-40B4-BE49-F238E27FC236}">
                <a16:creationId xmlns:a16="http://schemas.microsoft.com/office/drawing/2014/main" id="{951A51B4-67A5-458C-BADF-D279DB9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Per-call, per-task, daily, payment-count, and distinct-merchant limits stop runaway spend.</a:t>
            </a:r>
          </a:p>
        </p:txBody>
      </p:sp>
      <p:sp>
        <p:nvSpPr>
          <p:cNvPr id="12" name="a3-bg">
            <a:extLst xmlns:a="http://schemas.openxmlformats.org/drawingml/2006/main">
              <a:ext uri="{FF2B5EF4-FFF2-40B4-BE49-F238E27FC236}">
                <a16:creationId xmlns:a16="http://schemas.microsoft.com/office/drawing/2014/main" id="{91FAFC0B-E998-4CA6-AEC0-284F2951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3-a">
            <a:extLst xmlns:a="http://schemas.openxmlformats.org/drawingml/2006/main">
              <a:ext uri="{FF2B5EF4-FFF2-40B4-BE49-F238E27FC236}">
                <a16:creationId xmlns:a16="http://schemas.microsoft.com/office/drawing/2014/main" id="{569EB047-0A54-4530-96B3-0D28EE4D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3-t">
            <a:extLst xmlns:a="http://schemas.openxmlformats.org/drawingml/2006/main">
              <a:ext uri="{FF2B5EF4-FFF2-40B4-BE49-F238E27FC236}">
                <a16:creationId xmlns:a16="http://schemas.microsoft.com/office/drawing/2014/main" id="{5A98E115-2D0F-4432-A109-E77064A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Proof is portable</a:t>
            </a:r>
          </a:p>
        </p:txBody>
      </p:sp>
      <p:sp>
        <p:nvSpPr>
          <p:cNvPr id="15" name="a3-b">
            <a:extLst xmlns:a="http://schemas.openxmlformats.org/drawingml/2006/main">
              <a:ext uri="{FF2B5EF4-FFF2-40B4-BE49-F238E27FC236}">
                <a16:creationId xmlns:a16="http://schemas.microsoft.com/office/drawing/2014/main" id="{50755D9A-5272-471F-81BA-E88E259C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A Solana transaction signature can be verified independently instead of trusting an internal platform ledger.</a:t>
            </a:r>
          </a:p>
        </p:txBody>
      </p:sp>
      <p:sp>
        <p:nvSpPr>
          <p:cNvPr id="16" name="a4-bg">
            <a:extLst xmlns:a="http://schemas.openxmlformats.org/drawingml/2006/main">
              <a:ext uri="{FF2B5EF4-FFF2-40B4-BE49-F238E27FC236}">
                <a16:creationId xmlns:a16="http://schemas.microsoft.com/office/drawing/2014/main" id="{2BE6C7C6-24E2-40DD-8822-B46161F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4-a">
            <a:extLst xmlns:a="http://schemas.openxmlformats.org/drawingml/2006/main">
              <a:ext uri="{FF2B5EF4-FFF2-40B4-BE49-F238E27FC236}">
                <a16:creationId xmlns:a16="http://schemas.microsoft.com/office/drawing/2014/main" id="{AC4FFADF-F973-4D4E-B29D-BEEFFFCB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D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4-t">
            <a:extLst xmlns:a="http://schemas.openxmlformats.org/drawingml/2006/main">
              <a:ext uri="{FF2B5EF4-FFF2-40B4-BE49-F238E27FC236}">
                <a16:creationId xmlns:a16="http://schemas.microsoft.com/office/drawing/2014/main" id="{678DE11B-FEB6-42EA-A6B5-718D3DD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719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Agents can retry safely</a:t>
            </a:r>
          </a:p>
        </p:txBody>
      </p:sp>
      <p:sp>
        <p:nvSpPr>
          <p:cNvPr id="19" name="a4-b">
            <a:extLst xmlns:a="http://schemas.openxmlformats.org/drawingml/2006/main">
              <a:ext uri="{FF2B5EF4-FFF2-40B4-BE49-F238E27FC236}">
                <a16:creationId xmlns:a16="http://schemas.microsoft.com/office/drawing/2014/main" id="{B6D27BA0-7276-4ADD-9207-09339F24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7200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Idempotency binds payment, request payload, and response; replayed proofs are rejected.</a:t>
            </a:r>
          </a:p>
        </p:txBody>
      </p:sp>
      <p:sp>
        <p:nvSpPr>
          <p:cNvPr id="20" name="a5-bg">
            <a:extLst xmlns:a="http://schemas.openxmlformats.org/drawingml/2006/main">
              <a:ext uri="{FF2B5EF4-FFF2-40B4-BE49-F238E27FC236}">
                <a16:creationId xmlns:a16="http://schemas.microsoft.com/office/drawing/2014/main" id="{0E66E36B-1B98-471C-A2D5-71E1377E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5-a">
            <a:extLst xmlns:a="http://schemas.openxmlformats.org/drawingml/2006/main">
              <a:ext uri="{FF2B5EF4-FFF2-40B4-BE49-F238E27FC236}">
                <a16:creationId xmlns:a16="http://schemas.microsoft.com/office/drawing/2014/main" id="{1F0BC976-11AC-4A04-B3E2-7E9735A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5-t">
            <a:extLst xmlns:a="http://schemas.openxmlformats.org/drawingml/2006/main">
              <a:ext uri="{FF2B5EF4-FFF2-40B4-BE49-F238E27FC236}">
                <a16:creationId xmlns:a16="http://schemas.microsoft.com/office/drawing/2014/main" id="{868E7F0F-1238-4E53-89CB-6A43D48D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719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Humans approve value transfer</a:t>
            </a:r>
          </a:p>
        </p:txBody>
      </p:sp>
      <p:sp>
        <p:nvSpPr>
          <p:cNvPr id="23" name="a5-b">
            <a:extLst xmlns:a="http://schemas.openxmlformats.org/drawingml/2006/main">
              <a:ext uri="{FF2B5EF4-FFF2-40B4-BE49-F238E27FC236}">
                <a16:creationId xmlns:a16="http://schemas.microsoft.com/office/drawing/2014/main" id="{A2F530FD-DB30-490E-B8C1-ACE616EE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7200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Autonomy handles research; the user still signs the final purchase commitment.</a:t>
            </a:r>
          </a:p>
        </p:txBody>
      </p:sp>
      <p:sp>
        <p:nvSpPr>
          <p:cNvPr id="24" name="foot">
            <a:extLst xmlns:a="http://schemas.openxmlformats.org/drawingml/2006/main">
              <a:ext uri="{FF2B5EF4-FFF2-40B4-BE49-F238E27FC236}">
                <a16:creationId xmlns:a16="http://schemas.microsoft.com/office/drawing/2014/main" id="{10C3C875-5E48-4D27-90A8-115E592B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3022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1BCACEF6-6724-4E8A-B10B-ED85A91F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03EC04-BE3E-4DE8-9DBD-EBD2B6B7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Traditional marketplace vs. MerchantMesh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D9CBA3C-585A-44F9-BA5C-AFA2D835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h">
            <a:extLst xmlns:a="http://schemas.openxmlformats.org/drawingml/2006/main">
              <a:ext uri="{FF2B5EF4-FFF2-40B4-BE49-F238E27FC236}">
                <a16:creationId xmlns:a16="http://schemas.microsoft.com/office/drawing/2014/main" id="{49D4A92D-B9C3-447F-A8B7-ED89B03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0">
            <a:extLst xmlns:a="http://schemas.openxmlformats.org/drawingml/2006/main">
              <a:ext uri="{FF2B5EF4-FFF2-40B4-BE49-F238E27FC236}">
                <a16:creationId xmlns:a16="http://schemas.microsoft.com/office/drawing/2014/main" id="{7142A235-30A1-4A18-89D0-657F1713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6" name="h1">
            <a:extLst xmlns:a="http://schemas.openxmlformats.org/drawingml/2006/main">
              <a:ext uri="{FF2B5EF4-FFF2-40B4-BE49-F238E27FC236}">
                <a16:creationId xmlns:a16="http://schemas.microsoft.com/office/drawing/2014/main" id="{096B038C-3173-48F9-9515-4253344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33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TRADITIONAL</a:t>
            </a:r>
          </a:p>
        </p:txBody>
      </p:sp>
      <p:sp>
        <p:nvSpPr>
          <p:cNvPr id="7" name="h2">
            <a:extLst xmlns:a="http://schemas.openxmlformats.org/drawingml/2006/main">
              <a:ext uri="{FF2B5EF4-FFF2-40B4-BE49-F238E27FC236}">
                <a16:creationId xmlns:a16="http://schemas.microsoft.com/office/drawing/2014/main" id="{72C6AE72-6708-4B08-A19B-AAA5A876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MERCHANTMESH</a:t>
            </a:r>
          </a:p>
        </p:txBody>
      </p:sp>
      <p:sp>
        <p:nvSpPr>
          <p:cNvPr id="8" name="row0">
            <a:extLst xmlns:a="http://schemas.openxmlformats.org/drawingml/2006/main">
              <a:ext uri="{FF2B5EF4-FFF2-40B4-BE49-F238E27FC236}">
                <a16:creationId xmlns:a16="http://schemas.microsoft.com/office/drawing/2014/main" id="{EBFED980-6F9F-4F9C-8EB1-0FA4AD8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00">
            <a:extLst xmlns:a="http://schemas.openxmlformats.org/drawingml/2006/main">
              <a:ext uri="{FF2B5EF4-FFF2-40B4-BE49-F238E27FC236}">
                <a16:creationId xmlns:a16="http://schemas.microsoft.com/office/drawing/2014/main" id="{19213E69-6A2C-4C0D-B9DC-D059955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Discovery</a:t>
            </a:r>
          </a:p>
        </p:txBody>
      </p:sp>
      <p:sp>
        <p:nvSpPr>
          <p:cNvPr id="10" name="c10">
            <a:extLst xmlns:a="http://schemas.openxmlformats.org/drawingml/2006/main">
              <a:ext uri="{FF2B5EF4-FFF2-40B4-BE49-F238E27FC236}">
                <a16:creationId xmlns:a16="http://schemas.microsoft.com/office/drawing/2014/main" id="{4FF851E4-11EB-4D29-88CB-11317C59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574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Static catalog or manual search</a:t>
            </a:r>
          </a:p>
        </p:txBody>
      </p:sp>
      <p:sp>
        <p:nvSpPr>
          <p:cNvPr id="11" name="c20">
            <a:extLst xmlns:a="http://schemas.openxmlformats.org/drawingml/2006/main">
              <a:ext uri="{FF2B5EF4-FFF2-40B4-BE49-F238E27FC236}">
                <a16:creationId xmlns:a16="http://schemas.microsoft.com/office/drawing/2014/main" id="{59D081A1-D0F5-467E-BB6E-AB76FBDD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D12"/>
                </a:solidFill>
              </a:defRPr>
            </a:pPr>
            <a:r>
              <a:rPr sz="1200" b="1" i="0">
                <a:solidFill>
                  <a:srgbClr val="0A0D12"/>
                </a:solidFill>
              </a:rPr>
              <a:t>Live requests to nearby merchant agents</a:t>
            </a:r>
          </a:p>
        </p:txBody>
      </p:sp>
      <p:sp>
        <p:nvSpPr>
          <p:cNvPr id="12" name="row1">
            <a:extLst xmlns:a="http://schemas.openxmlformats.org/drawingml/2006/main">
              <a:ext uri="{FF2B5EF4-FFF2-40B4-BE49-F238E27FC236}">
                <a16:creationId xmlns:a16="http://schemas.microsoft.com/office/drawing/2014/main" id="{706D3EDE-762C-4FB4-8DB3-84E134D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01">
            <a:extLst xmlns:a="http://schemas.openxmlformats.org/drawingml/2006/main">
              <a:ext uri="{FF2B5EF4-FFF2-40B4-BE49-F238E27FC236}">
                <a16:creationId xmlns:a16="http://schemas.microsoft.com/office/drawing/2014/main" id="{E13BAFA1-4C6B-4CA6-ADD4-ACF51534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Integration</a:t>
            </a:r>
          </a:p>
        </p:txBody>
      </p:sp>
      <p:sp>
        <p:nvSpPr>
          <p:cNvPr id="14" name="c11">
            <a:extLst xmlns:a="http://schemas.openxmlformats.org/drawingml/2006/main">
              <a:ext uri="{FF2B5EF4-FFF2-40B4-BE49-F238E27FC236}">
                <a16:creationId xmlns:a16="http://schemas.microsoft.com/office/drawing/2014/main" id="{8506D99F-9047-402F-AC3C-97F3263C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860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Platform-specific backend workflows</a:t>
            </a:r>
          </a:p>
        </p:txBody>
      </p:sp>
      <p:sp>
        <p:nvSpPr>
          <p:cNvPr id="15" name="c21">
            <a:extLst xmlns:a="http://schemas.openxmlformats.org/drawingml/2006/main">
              <a:ext uri="{FF2B5EF4-FFF2-40B4-BE49-F238E27FC236}">
                <a16:creationId xmlns:a16="http://schemas.microsoft.com/office/drawing/2014/main" id="{3840DEA7-FEEF-4E4E-BD35-E154A9C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860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D12"/>
                </a:solidFill>
              </a:defRPr>
            </a:pPr>
            <a:r>
              <a:rPr sz="1200" b="1" i="0">
                <a:solidFill>
                  <a:srgbClr val="0A0D12"/>
                </a:solidFill>
              </a:rPr>
              <a:t>Paid capability endpoints with a standard handshake</a:t>
            </a:r>
          </a:p>
        </p:txBody>
      </p:sp>
      <p:sp>
        <p:nvSpPr>
          <p:cNvPr id="16" name="row2">
            <a:extLst xmlns:a="http://schemas.openxmlformats.org/drawingml/2006/main">
              <a:ext uri="{FF2B5EF4-FFF2-40B4-BE49-F238E27FC236}">
                <a16:creationId xmlns:a16="http://schemas.microsoft.com/office/drawing/2014/main" id="{4ABD7E3C-0D1C-40F4-8B57-9F03C668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02">
            <a:extLst xmlns:a="http://schemas.openxmlformats.org/drawingml/2006/main">
              <a:ext uri="{FF2B5EF4-FFF2-40B4-BE49-F238E27FC236}">
                <a16:creationId xmlns:a16="http://schemas.microsoft.com/office/drawing/2014/main" id="{35EAFC0A-6D58-4D35-881E-5FA7E7BA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Pricing authority</a:t>
            </a:r>
          </a:p>
        </p:txBody>
      </p:sp>
      <p:sp>
        <p:nvSpPr>
          <p:cNvPr id="18" name="c12">
            <a:extLst xmlns:a="http://schemas.openxmlformats.org/drawingml/2006/main">
              <a:ext uri="{FF2B5EF4-FFF2-40B4-BE49-F238E27FC236}">
                <a16:creationId xmlns:a16="http://schemas.microsoft.com/office/drawing/2014/main" id="{3C5F699F-7532-4F2B-8987-EF4256A3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147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Platform database or merchant UI</a:t>
            </a:r>
          </a:p>
        </p:txBody>
      </p:sp>
      <p:sp>
        <p:nvSpPr>
          <p:cNvPr id="19" name="c22">
            <a:extLst xmlns:a="http://schemas.openxmlformats.org/drawingml/2006/main">
              <a:ext uri="{FF2B5EF4-FFF2-40B4-BE49-F238E27FC236}">
                <a16:creationId xmlns:a16="http://schemas.microsoft.com/office/drawing/2014/main" id="{1E1CF6C5-8AEB-4E6A-A224-CAD5AE1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147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D12"/>
                </a:solidFill>
              </a:defRPr>
            </a:pPr>
            <a:r>
              <a:rPr sz="1200" b="1" i="0">
                <a:solidFill>
                  <a:srgbClr val="0A0D12"/>
                </a:solidFill>
              </a:rPr>
              <a:t>Inventory data + deterministic policy + signed quote</a:t>
            </a:r>
          </a:p>
        </p:txBody>
      </p:sp>
      <p:sp>
        <p:nvSpPr>
          <p:cNvPr id="20" name="row3">
            <a:extLst xmlns:a="http://schemas.openxmlformats.org/drawingml/2006/main">
              <a:ext uri="{FF2B5EF4-FFF2-40B4-BE49-F238E27FC236}">
                <a16:creationId xmlns:a16="http://schemas.microsoft.com/office/drawing/2014/main" id="{5DE8E38B-E124-451A-8E22-BF318CE3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03">
            <a:extLst xmlns:a="http://schemas.openxmlformats.org/drawingml/2006/main">
              <a:ext uri="{FF2B5EF4-FFF2-40B4-BE49-F238E27FC236}">
                <a16:creationId xmlns:a16="http://schemas.microsoft.com/office/drawing/2014/main" id="{52FF32D6-529C-463B-A603-4EB76159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Payment</a:t>
            </a:r>
          </a:p>
        </p:txBody>
      </p:sp>
      <p:sp>
        <p:nvSpPr>
          <p:cNvPr id="22" name="c13">
            <a:extLst xmlns:a="http://schemas.openxmlformats.org/drawingml/2006/main">
              <a:ext uri="{FF2B5EF4-FFF2-40B4-BE49-F238E27FC236}">
                <a16:creationId xmlns:a16="http://schemas.microsoft.com/office/drawing/2014/main" id="{F55E47B9-6B74-4266-BA51-C6B33F86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433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Central platform capture and ledger</a:t>
            </a:r>
          </a:p>
        </p:txBody>
      </p:sp>
      <p:sp>
        <p:nvSpPr>
          <p:cNvPr id="23" name="c23">
            <a:extLst xmlns:a="http://schemas.openxmlformats.org/drawingml/2006/main">
              <a:ext uri="{FF2B5EF4-FFF2-40B4-BE49-F238E27FC236}">
                <a16:creationId xmlns:a16="http://schemas.microsoft.com/office/drawing/2014/main" id="{207C36AE-85A1-44F4-9BA8-A1F3C999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D12"/>
                </a:solidFill>
              </a:defRPr>
            </a:pPr>
            <a:r>
              <a:rPr sz="1200" b="1" i="0">
                <a:solidFill>
                  <a:srgbClr val="0A0D12"/>
                </a:solidFill>
              </a:rPr>
              <a:t>SPL USDC micropayments + buyer-funded escrow</a:t>
            </a:r>
          </a:p>
        </p:txBody>
      </p:sp>
      <p:sp>
        <p:nvSpPr>
          <p:cNvPr id="24" name="row4">
            <a:extLst xmlns:a="http://schemas.openxmlformats.org/drawingml/2006/main">
              <a:ext uri="{FF2B5EF4-FFF2-40B4-BE49-F238E27FC236}">
                <a16:creationId xmlns:a16="http://schemas.microsoft.com/office/drawing/2014/main" id="{EC350ACF-7BEA-43BA-BCB9-B31C8006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04">
            <a:extLst xmlns:a="http://schemas.openxmlformats.org/drawingml/2006/main">
              <a:ext uri="{FF2B5EF4-FFF2-40B4-BE49-F238E27FC236}">
                <a16:creationId xmlns:a16="http://schemas.microsoft.com/office/drawing/2014/main" id="{413373B8-61B7-46BF-B61A-85BC0A58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Settlement</a:t>
            </a:r>
          </a:p>
        </p:txBody>
      </p:sp>
      <p:sp>
        <p:nvSpPr>
          <p:cNvPr id="26" name="c14">
            <a:extLst xmlns:a="http://schemas.openxmlformats.org/drawingml/2006/main">
              <a:ext uri="{FF2B5EF4-FFF2-40B4-BE49-F238E27FC236}">
                <a16:creationId xmlns:a16="http://schemas.microsoft.com/office/drawing/2014/main" id="{D8FB07D3-BA19-48DF-9C21-659C2229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720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Platform-controlled release</a:t>
            </a:r>
          </a:p>
        </p:txBody>
      </p:sp>
      <p:sp>
        <p:nvSpPr>
          <p:cNvPr id="27" name="c24">
            <a:extLst xmlns:a="http://schemas.openxmlformats.org/drawingml/2006/main">
              <a:ext uri="{FF2B5EF4-FFF2-40B4-BE49-F238E27FC236}">
                <a16:creationId xmlns:a16="http://schemas.microsoft.com/office/drawing/2014/main" id="{DB028A34-25A2-44FD-B06D-36EDF8C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720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D12"/>
                </a:solidFill>
              </a:defRPr>
            </a:pPr>
            <a:r>
              <a:rPr sz="1200" b="1" i="0">
                <a:solidFill>
                  <a:srgbClr val="0A0D12"/>
                </a:solidFill>
              </a:rPr>
              <a:t>Program-enforced pickup, refund, and dispute states</a:t>
            </a:r>
          </a:p>
        </p:txBody>
      </p:sp>
      <p:sp>
        <p:nvSpPr>
          <p:cNvPr id="28" name="row5">
            <a:extLst xmlns:a="http://schemas.openxmlformats.org/drawingml/2006/main">
              <a:ext uri="{FF2B5EF4-FFF2-40B4-BE49-F238E27FC236}">
                <a16:creationId xmlns:a16="http://schemas.microsoft.com/office/drawing/2014/main" id="{A2606875-DD53-439D-8BE2-827AD607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05">
            <a:extLst xmlns:a="http://schemas.openxmlformats.org/drawingml/2006/main">
              <a:ext uri="{FF2B5EF4-FFF2-40B4-BE49-F238E27FC236}">
                <a16:creationId xmlns:a16="http://schemas.microsoft.com/office/drawing/2014/main" id="{3619539A-633A-4A3A-B15C-C449B99F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Audit trail</a:t>
            </a:r>
          </a:p>
        </p:txBody>
      </p:sp>
      <p:sp>
        <p:nvSpPr>
          <p:cNvPr id="30" name="c15">
            <a:extLst xmlns:a="http://schemas.openxmlformats.org/drawingml/2006/main">
              <a:ext uri="{FF2B5EF4-FFF2-40B4-BE49-F238E27FC236}">
                <a16:creationId xmlns:a16="http://schemas.microsoft.com/office/drawing/2014/main" id="{21877F1A-69F4-4015-9BF2-1F4BD26F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006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70"/>
                </a:solidFill>
              </a:defRPr>
            </a:pPr>
            <a:r>
              <a:rPr sz="1200" b="0" i="0">
                <a:solidFill>
                  <a:srgbClr val="596170"/>
                </a:solidFill>
              </a:rPr>
              <a:t>Internal logs</a:t>
            </a:r>
          </a:p>
        </p:txBody>
      </p:sp>
      <p:sp>
        <p:nvSpPr>
          <p:cNvPr id="31" name="c25">
            <a:extLst xmlns:a="http://schemas.openxmlformats.org/drawingml/2006/main">
              <a:ext uri="{FF2B5EF4-FFF2-40B4-BE49-F238E27FC236}">
                <a16:creationId xmlns:a16="http://schemas.microsoft.com/office/drawing/2014/main" id="{D8B542FB-BF58-45B7-9DA6-30B5F3E6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006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D12"/>
                </a:solidFill>
              </a:defRPr>
            </a:pPr>
            <a:r>
              <a:rPr sz="1200" b="1" i="0">
                <a:solidFill>
                  <a:srgbClr val="0A0D12"/>
                </a:solidFill>
              </a:rPr>
              <a:t>Signed quotes, payment proofs, and on-chain receipts</a:t>
            </a:r>
          </a:p>
        </p:txBody>
      </p:sp>
      <p:sp>
        <p:nvSpPr>
          <p:cNvPr id="32" name="foot">
            <a:extLst xmlns:a="http://schemas.openxmlformats.org/drawingml/2006/main">
              <a:ext uri="{FF2B5EF4-FFF2-40B4-BE49-F238E27FC236}">
                <a16:creationId xmlns:a16="http://schemas.microsoft.com/office/drawing/2014/main" id="{62E8CCC3-8F67-4629-93D2-B8E3EB82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026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6F44070E-E1EE-41FC-AA64-47AE8AF4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3C793-EB14-49ED-AC90-CD7109D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Acceptance before funding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EA36428-47B7-4B08-A7B5-0952420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7ad5892174e41"/>
          <a:stretch xmlns:a="http://schemas.openxmlformats.org/drawingml/2006/main"/>
        </p:blipFill>
        <p:spPr>
          <a:xfrm xmlns:a="http://schemas.openxmlformats.org/drawingml/2006/main">
            <a:off x="571500" y="2363436"/>
            <a:ext cx="5286375" cy="1035753"/>
          </a:xfrm>
          <a:prstGeom xmlns:a="http://schemas.openxmlformats.org/drawingml/2006/main" prst="rect">
            <a:avLst/>
          </a:prstGeom>
        </p:spPr>
      </p:pic>
      <p:sp>
        <p:nvSpPr>
          <p:cNvPr id="5" name="between-line">
            <a:extLst xmlns:a="http://schemas.openxmlformats.org/drawingml/2006/main">
              <a:ext uri="{FF2B5EF4-FFF2-40B4-BE49-F238E27FC236}">
                <a16:creationId xmlns:a16="http://schemas.microsoft.com/office/drawing/2014/main" id="{FC2F03CB-B750-446A-B37D-8B7AB781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28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etween-head">
            <a:extLst xmlns:a="http://schemas.openxmlformats.org/drawingml/2006/main">
              <a:ext uri="{FF2B5EF4-FFF2-40B4-BE49-F238E27FC236}">
                <a16:creationId xmlns:a16="http://schemas.microsoft.com/office/drawing/2014/main" id="{958ED5E6-13AB-4ED7-AF7E-4AF0BCB6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22f4025c74c38"/>
          <a:stretch xmlns:a="http://schemas.openxmlformats.org/drawingml/2006/main"/>
        </p:blipFill>
        <p:spPr>
          <a:xfrm xmlns:a="http://schemas.openxmlformats.org/drawingml/2006/main">
            <a:off x="6572250" y="1897133"/>
            <a:ext cx="5048250" cy="2587484"/>
          </a:xfrm>
          <a:prstGeom xmlns:a="http://schemas.openxmlformats.org/drawingml/2006/main" prst="rect">
            <a:avLst/>
          </a:prstGeom>
        </p:spPr>
      </p:pic>
      <p:sp>
        <p:nvSpPr>
          <p:cNvPr id="8" name="l1">
            <a:extLst xmlns:a="http://schemas.openxmlformats.org/drawingml/2006/main">
              <a:ext uri="{FF2B5EF4-FFF2-40B4-BE49-F238E27FC236}">
                <a16:creationId xmlns:a16="http://schemas.microsoft.com/office/drawing/2014/main" id="{6BD0D6A0-1282-42DE-A587-3478B4B9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1 · Merchant confirmation</a:t>
            </a:r>
          </a:p>
        </p:txBody>
      </p:sp>
      <p:sp>
        <p:nvSpPr>
          <p:cNvPr id="9" name="lb">
            <a:extLst xmlns:a="http://schemas.openxmlformats.org/drawingml/2006/main">
              <a:ext uri="{FF2B5EF4-FFF2-40B4-BE49-F238E27FC236}">
                <a16:creationId xmlns:a16="http://schemas.microsoft.com/office/drawing/2014/main" id="{FE919258-6FA9-4E6B-909B-D29D5955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Selected merchants explicitly accept or reject the order before escrow exists.</a:t>
            </a:r>
          </a:p>
        </p:txBody>
      </p:sp>
      <p:sp>
        <p:nvSpPr>
          <p:cNvPr id="10" name="l2">
            <a:extLst xmlns:a="http://schemas.openxmlformats.org/drawingml/2006/main">
              <a:ext uri="{FF2B5EF4-FFF2-40B4-BE49-F238E27FC236}">
                <a16:creationId xmlns:a16="http://schemas.microsoft.com/office/drawing/2014/main" id="{25F4EC53-A593-42E1-98D5-C8EF295F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2 · Final payment approval</a:t>
            </a:r>
          </a:p>
        </p:txBody>
      </p:sp>
      <p:sp>
        <p:nvSpPr>
          <p:cNvPr id="11" name="rb">
            <a:extLst xmlns:a="http://schemas.openxmlformats.org/drawingml/2006/main">
              <a:ext uri="{FF2B5EF4-FFF2-40B4-BE49-F238E27FC236}">
                <a16:creationId xmlns:a16="http://schemas.microsoft.com/office/drawing/2014/main" id="{1931B2BB-0EB3-42C9-BB8A-4472D47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01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After every merchant confirms, Phantom opens for buyer-signed escrow funding.</a:t>
            </a:r>
          </a:p>
        </p:txBody>
      </p:sp>
      <p:sp>
        <p:nvSpPr>
          <p:cNvPr id="12" name="rule-bg">
            <a:extLst xmlns:a="http://schemas.openxmlformats.org/drawingml/2006/main">
              <a:ext uri="{FF2B5EF4-FFF2-40B4-BE49-F238E27FC236}">
                <a16:creationId xmlns:a16="http://schemas.microsoft.com/office/drawing/2014/main" id="{700CD938-5500-4530-8386-F470360F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3125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tx">
            <a:extLst xmlns:a="http://schemas.openxmlformats.org/drawingml/2006/main">
              <a:ext uri="{FF2B5EF4-FFF2-40B4-BE49-F238E27FC236}">
                <a16:creationId xmlns:a16="http://schemas.microsoft.com/office/drawing/2014/main" id="{271BDDAF-A9B3-4859-9C40-DAA0CAF0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912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Escrow cannot advance to pickup release unless funding succeeds on-chain.</a:t>
            </a:r>
          </a:p>
        </p:txBody>
      </p:sp>
      <p:sp>
        <p:nvSpPr>
          <p:cNvPr id="14" name="foot">
            <a:extLst xmlns:a="http://schemas.openxmlformats.org/drawingml/2006/main">
              <a:ext uri="{FF2B5EF4-FFF2-40B4-BE49-F238E27FC236}">
                <a16:creationId xmlns:a16="http://schemas.microsoft.com/office/drawing/2014/main" id="{233A7942-D71B-47AB-9C12-F696406D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7787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4B1C2F4B-D671-414A-BFD5-3809236D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E8DBF2-BB02-4496-BF0C-AD11FBC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System architecture: AI proposes, services verify, Solana settles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4EDA80C-5148-40B3-BC09-4D5FF198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1-line">
            <a:extLst xmlns:a="http://schemas.openxmlformats.org/drawingml/2006/main">
              <a:ext uri="{FF2B5EF4-FFF2-40B4-BE49-F238E27FC236}">
                <a16:creationId xmlns:a16="http://schemas.microsoft.com/office/drawing/2014/main" id="{B8416C72-610B-4D2C-8787-C8F556C6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1-head">
            <a:extLst xmlns:a="http://schemas.openxmlformats.org/drawingml/2006/main">
              <a:ext uri="{FF2B5EF4-FFF2-40B4-BE49-F238E27FC236}">
                <a16:creationId xmlns:a16="http://schemas.microsoft.com/office/drawing/2014/main" id="{5B4E1D03-969D-4B2C-A994-169FAE8F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52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2-line">
            <a:extLst xmlns:a="http://schemas.openxmlformats.org/drawingml/2006/main">
              <a:ext uri="{FF2B5EF4-FFF2-40B4-BE49-F238E27FC236}">
                <a16:creationId xmlns:a16="http://schemas.microsoft.com/office/drawing/2014/main" id="{0E0596A7-5651-41B2-A728-C62D6A42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2-head">
            <a:extLst xmlns:a="http://schemas.openxmlformats.org/drawingml/2006/main">
              <a:ext uri="{FF2B5EF4-FFF2-40B4-BE49-F238E27FC236}">
                <a16:creationId xmlns:a16="http://schemas.microsoft.com/office/drawing/2014/main" id="{A09A84E2-C93A-4B52-A525-24C62400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3-line">
            <a:extLst xmlns:a="http://schemas.openxmlformats.org/drawingml/2006/main">
              <a:ext uri="{FF2B5EF4-FFF2-40B4-BE49-F238E27FC236}">
                <a16:creationId xmlns:a16="http://schemas.microsoft.com/office/drawing/2014/main" id="{921F5107-6871-422C-A3BF-47EDA06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3-head">
            <a:extLst xmlns:a="http://schemas.openxmlformats.org/drawingml/2006/main">
              <a:ext uri="{FF2B5EF4-FFF2-40B4-BE49-F238E27FC236}">
                <a16:creationId xmlns:a16="http://schemas.microsoft.com/office/drawing/2014/main" id="{5A32DED2-B5DB-4388-BE6A-207AE68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52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1">
            <a:extLst xmlns:a="http://schemas.openxmlformats.org/drawingml/2006/main">
              <a:ext uri="{FF2B5EF4-FFF2-40B4-BE49-F238E27FC236}">
                <a16:creationId xmlns:a16="http://schemas.microsoft.com/office/drawing/2014/main" id="{8B7D0455-1A2B-4963-833D-78EF25FD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8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2">
            <a:extLst xmlns:a="http://schemas.openxmlformats.org/drawingml/2006/main">
              <a:ext uri="{FF2B5EF4-FFF2-40B4-BE49-F238E27FC236}">
                <a16:creationId xmlns:a16="http://schemas.microsoft.com/office/drawing/2014/main" id="{61FFE965-E306-4B49-A99F-00BF7EAF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8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bchain-line">
            <a:extLst xmlns:a="http://schemas.openxmlformats.org/drawingml/2006/main">
              <a:ext uri="{FF2B5EF4-FFF2-40B4-BE49-F238E27FC236}">
                <a16:creationId xmlns:a16="http://schemas.microsoft.com/office/drawing/2014/main" id="{42A93CBC-E5B5-4B87-BBB2-985C94C7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147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bchain-head">
            <a:extLst xmlns:a="http://schemas.openxmlformats.org/drawingml/2006/main">
              <a:ext uri="{FF2B5EF4-FFF2-40B4-BE49-F238E27FC236}">
                <a16:creationId xmlns:a16="http://schemas.microsoft.com/office/drawing/2014/main" id="{2F1E6E54-5D81-445B-9601-608FB9E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0">
            <a:extLst xmlns:a="http://schemas.openxmlformats.org/drawingml/2006/main">
              <a:ext uri="{FF2B5EF4-FFF2-40B4-BE49-F238E27FC236}">
                <a16:creationId xmlns:a16="http://schemas.microsoft.com/office/drawing/2014/main" id="{754718A0-BB44-46BE-99AE-5C8C7DBA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t0">
            <a:extLst xmlns:a="http://schemas.openxmlformats.org/drawingml/2006/main">
              <a:ext uri="{FF2B5EF4-FFF2-40B4-BE49-F238E27FC236}">
                <a16:creationId xmlns:a16="http://schemas.microsoft.com/office/drawing/2014/main" id="{238CC359-2E7B-4F69-BCAC-3B7B1532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NEXT.JS WEB</a:t>
            </a:r>
          </a:p>
        </p:txBody>
      </p:sp>
      <p:sp>
        <p:nvSpPr>
          <p:cNvPr id="16" name="nb0">
            <a:extLst xmlns:a="http://schemas.openxmlformats.org/drawingml/2006/main">
              <a:ext uri="{FF2B5EF4-FFF2-40B4-BE49-F238E27FC236}">
                <a16:creationId xmlns:a16="http://schemas.microsoft.com/office/drawing/2014/main" id="{7EF7F6A2-F88E-4E6E-86D1-FFE19D3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69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Wallet, shopping, task UI</a:t>
            </a:r>
          </a:p>
        </p:txBody>
      </p:sp>
      <p:sp>
        <p:nvSpPr>
          <p:cNvPr id="17" name="n1">
            <a:extLst xmlns:a="http://schemas.openxmlformats.org/drawingml/2006/main">
              <a:ext uri="{FF2B5EF4-FFF2-40B4-BE49-F238E27FC236}">
                <a16:creationId xmlns:a16="http://schemas.microsoft.com/office/drawing/2014/main" id="{9C4CED46-49DF-4B55-A40A-BC19C8E1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t1">
            <a:extLst xmlns:a="http://schemas.openxmlformats.org/drawingml/2006/main">
              <a:ext uri="{FF2B5EF4-FFF2-40B4-BE49-F238E27FC236}">
                <a16:creationId xmlns:a16="http://schemas.microsoft.com/office/drawing/2014/main" id="{59D50135-B7DB-4D2D-A8EA-AEA15D2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669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PERSONAL AGENT</a:t>
            </a:r>
          </a:p>
        </p:txBody>
      </p:sp>
      <p:sp>
        <p:nvSpPr>
          <p:cNvPr id="19" name="nb1">
            <a:extLst xmlns:a="http://schemas.openxmlformats.org/drawingml/2006/main">
              <a:ext uri="{FF2B5EF4-FFF2-40B4-BE49-F238E27FC236}">
                <a16:creationId xmlns:a16="http://schemas.microsoft.com/office/drawing/2014/main" id="{04C44C2A-140D-49FF-AF47-AF65115F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907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LLM plan, orchestration, ranking</a:t>
            </a:r>
          </a:p>
        </p:txBody>
      </p:sp>
      <p:sp>
        <p:nvSpPr>
          <p:cNvPr id="20" name="n2">
            <a:extLst xmlns:a="http://schemas.openxmlformats.org/drawingml/2006/main">
              <a:ext uri="{FF2B5EF4-FFF2-40B4-BE49-F238E27FC236}">
                <a16:creationId xmlns:a16="http://schemas.microsoft.com/office/drawing/2014/main" id="{8EE1D0A3-2473-440E-BC0C-5FD1DB9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t2">
            <a:extLst xmlns:a="http://schemas.openxmlformats.org/drawingml/2006/main">
              <a:ext uri="{FF2B5EF4-FFF2-40B4-BE49-F238E27FC236}">
                <a16:creationId xmlns:a16="http://schemas.microsoft.com/office/drawing/2014/main" id="{A1D6ED84-A105-4765-96E1-12F00796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669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MERCHANT AGENTS</a:t>
            </a:r>
          </a:p>
        </p:txBody>
      </p:sp>
      <p:sp>
        <p:nvSpPr>
          <p:cNvPr id="22" name="nb2">
            <a:extLst xmlns:a="http://schemas.openxmlformats.org/drawingml/2006/main">
              <a:ext uri="{FF2B5EF4-FFF2-40B4-BE49-F238E27FC236}">
                <a16:creationId xmlns:a16="http://schemas.microsoft.com/office/drawing/2014/main" id="{7CFFAEC2-0560-410B-B05E-94E0221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x402 gate, inventory, signed quotes</a:t>
            </a:r>
          </a:p>
        </p:txBody>
      </p:sp>
      <p:sp>
        <p:nvSpPr>
          <p:cNvPr id="23" name="n3">
            <a:extLst xmlns:a="http://schemas.openxmlformats.org/drawingml/2006/main">
              <a:ext uri="{FF2B5EF4-FFF2-40B4-BE49-F238E27FC236}">
                <a16:creationId xmlns:a16="http://schemas.microsoft.com/office/drawing/2014/main" id="{FB3B051C-AD08-4435-BBE0-0CC8B55E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t3">
            <a:extLst xmlns:a="http://schemas.openxmlformats.org/drawingml/2006/main">
              <a:ext uri="{FF2B5EF4-FFF2-40B4-BE49-F238E27FC236}">
                <a16:creationId xmlns:a16="http://schemas.microsoft.com/office/drawing/2014/main" id="{A3CF1EC3-C32F-4AAE-A279-FFF32FC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669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PLATFORM API</a:t>
            </a:r>
          </a:p>
        </p:txBody>
      </p:sp>
      <p:sp>
        <p:nvSpPr>
          <p:cNvPr id="25" name="nb3">
            <a:extLst xmlns:a="http://schemas.openxmlformats.org/drawingml/2006/main">
              <a:ext uri="{FF2B5EF4-FFF2-40B4-BE49-F238E27FC236}">
                <a16:creationId xmlns:a16="http://schemas.microsoft.com/office/drawing/2014/main" id="{53E89135-58C2-431B-9B2A-76B816E8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90775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A0D12"/>
                </a:solidFill>
              </a:defRPr>
            </a:pPr>
            <a:r>
              <a:rPr sz="1125" b="0" i="0">
                <a:solidFill>
                  <a:srgbClr val="0A0D12"/>
                </a:solidFill>
              </a:rPr>
              <a:t>Auth, onboarding, admin</a:t>
            </a:r>
          </a:p>
        </p:txBody>
      </p:sp>
      <p:sp>
        <p:nvSpPr>
          <p:cNvPr id="26" name="n4">
            <a:extLst xmlns:a="http://schemas.openxmlformats.org/drawingml/2006/main">
              <a:ext uri="{FF2B5EF4-FFF2-40B4-BE49-F238E27FC236}">
                <a16:creationId xmlns:a16="http://schemas.microsoft.com/office/drawing/2014/main" id="{CF88A8EB-3C59-4347-AD4C-67750DC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29125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t4">
            <a:extLst xmlns:a="http://schemas.openxmlformats.org/drawingml/2006/main">
              <a:ext uri="{FF2B5EF4-FFF2-40B4-BE49-F238E27FC236}">
                <a16:creationId xmlns:a16="http://schemas.microsoft.com/office/drawing/2014/main" id="{0CCADAE6-E26D-4446-B32C-DB1B518D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591050"/>
            <a:ext cx="2124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POSTGRES + REDIS</a:t>
            </a:r>
          </a:p>
        </p:txBody>
      </p:sp>
      <p:sp>
        <p:nvSpPr>
          <p:cNvPr id="28" name="nb4">
            <a:extLst xmlns:a="http://schemas.openxmlformats.org/drawingml/2006/main">
              <a:ext uri="{FF2B5EF4-FFF2-40B4-BE49-F238E27FC236}">
                <a16:creationId xmlns:a16="http://schemas.microsoft.com/office/drawing/2014/main" id="{812B6048-3321-4641-BE6D-2513C576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14900"/>
            <a:ext cx="2124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A0D12"/>
                </a:solidFill>
              </a:defRPr>
            </a:pPr>
            <a:r>
              <a:rPr sz="1125" b="0" i="0">
                <a:solidFill>
                  <a:srgbClr val="0A0D12"/>
                </a:solidFill>
              </a:rPr>
              <a:t>Accounts, catalogs, tasks, locks</a:t>
            </a:r>
          </a:p>
        </p:txBody>
      </p:sp>
      <p:sp>
        <p:nvSpPr>
          <p:cNvPr id="29" name="n5">
            <a:extLst xmlns:a="http://schemas.openxmlformats.org/drawingml/2006/main">
              <a:ext uri="{FF2B5EF4-FFF2-40B4-BE49-F238E27FC236}">
                <a16:creationId xmlns:a16="http://schemas.microsoft.com/office/drawing/2014/main" id="{01F4A0A1-F173-477B-A008-CAC8970E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29125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nt5">
            <a:extLst xmlns:a="http://schemas.openxmlformats.org/drawingml/2006/main">
              <a:ext uri="{FF2B5EF4-FFF2-40B4-BE49-F238E27FC236}">
                <a16:creationId xmlns:a16="http://schemas.microsoft.com/office/drawing/2014/main" id="{7B6F9A36-8FE0-4236-94D1-09B0BE5F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591050"/>
            <a:ext cx="2124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D12"/>
                </a:solidFill>
              </a:defRPr>
            </a:pPr>
            <a:r>
              <a:rPr sz="1275" b="1" i="0">
                <a:solidFill>
                  <a:srgbClr val="0A0D12"/>
                </a:solidFill>
              </a:rPr>
              <a:t>SOLANA DEVNET</a:t>
            </a:r>
          </a:p>
        </p:txBody>
      </p:sp>
      <p:sp>
        <p:nvSpPr>
          <p:cNvPr id="31" name="nb5">
            <a:extLst xmlns:a="http://schemas.openxmlformats.org/drawingml/2006/main">
              <a:ext uri="{FF2B5EF4-FFF2-40B4-BE49-F238E27FC236}">
                <a16:creationId xmlns:a16="http://schemas.microsoft.com/office/drawing/2014/main" id="{6A241270-8693-4735-A21C-CE36D135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914900"/>
            <a:ext cx="2124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A0D12"/>
                </a:solidFill>
              </a:defRPr>
            </a:pPr>
            <a:r>
              <a:rPr sz="1125" b="0" i="0">
                <a:solidFill>
                  <a:srgbClr val="0A0D12"/>
                </a:solidFill>
              </a:rPr>
              <a:t>Directory, escrow, receipt</a:t>
            </a:r>
          </a:p>
        </p:txBody>
      </p:sp>
      <p:sp>
        <p:nvSpPr>
          <p:cNvPr id="32" name="ports">
            <a:extLst xmlns:a="http://schemas.openxmlformats.org/drawingml/2006/main">
              <a:ext uri="{FF2B5EF4-FFF2-40B4-BE49-F238E27FC236}">
                <a16:creationId xmlns:a16="http://schemas.microsoft.com/office/drawing/2014/main" id="{229CC05E-9596-4554-AE95-E60B285F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9055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96170"/>
                </a:solidFill>
              </a:defRPr>
            </a:pPr>
            <a:r>
              <a:rPr sz="1200" b="1" i="0">
                <a:solidFill>
                  <a:srgbClr val="596170"/>
                </a:solidFill>
              </a:rPr>
              <a:t>localhost:3000     :3001     :4000     :3002</a:t>
            </a:r>
          </a:p>
        </p:txBody>
      </p:sp>
      <p:sp>
        <p:nvSpPr>
          <p:cNvPr id="33" name="foot">
            <a:extLst xmlns:a="http://schemas.openxmlformats.org/drawingml/2006/main">
              <a:ext uri="{FF2B5EF4-FFF2-40B4-BE49-F238E27FC236}">
                <a16:creationId xmlns:a16="http://schemas.microsoft.com/office/drawing/2014/main" id="{3375B3A3-B3C3-4498-9103-2F913CD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47180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4E76723-55BE-43AC-AC72-0B7EDB1E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B0F1CD-9E31-422F-9CB3-70B334FA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A deliberate on-chain / off-chain boundary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11EAA1F-B9BA-4714-BE70-DD3C9CD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ff">
            <a:extLst xmlns:a="http://schemas.openxmlformats.org/drawingml/2006/main">
              <a:ext uri="{FF2B5EF4-FFF2-40B4-BE49-F238E27FC236}">
                <a16:creationId xmlns:a16="http://schemas.microsoft.com/office/drawing/2014/main" id="{954250DB-87C7-465C-AA56-3FD5321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095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ffh">
            <a:extLst xmlns:a="http://schemas.openxmlformats.org/drawingml/2006/main">
              <a:ext uri="{FF2B5EF4-FFF2-40B4-BE49-F238E27FC236}">
                <a16:creationId xmlns:a16="http://schemas.microsoft.com/office/drawing/2014/main" id="{8BE14E5E-E628-4287-8A71-1E3FD7CA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878FF"/>
                </a:solidFill>
              </a:defRPr>
            </a:pPr>
            <a:r>
              <a:rPr sz="1425" b="1" i="0">
                <a:solidFill>
                  <a:srgbClr val="2878FF"/>
                </a:solidFill>
              </a:rPr>
              <a:t>OFF-CHAIN · MUTABLE + QUERY-HEAVY</a:t>
            </a:r>
          </a:p>
        </p:txBody>
      </p:sp>
      <p:sp>
        <p:nvSpPr>
          <p:cNvPr id="6" name="offb">
            <a:extLst xmlns:a="http://schemas.openxmlformats.org/drawingml/2006/main">
              <a:ext uri="{FF2B5EF4-FFF2-40B4-BE49-F238E27FC236}">
                <a16:creationId xmlns:a16="http://schemas.microsoft.com/office/drawing/2014/main" id="{E46C5454-F0D0-4A9C-AF32-4F1FBF78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381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Natural-language conversation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Catalog, stock, price, and merchant availability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Search, ranking, and quote collection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Task state, SSE timeline, and reservations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A0D12"/>
                </a:solidFill>
              </a:defRPr>
            </a:pPr>
            <a:r>
              <a:rPr sz="1425" b="0" i="0">
                <a:solidFill>
                  <a:srgbClr val="0A0D12"/>
                </a:solidFill>
              </a:rPr>
              <a:t>• LLM discount proposal before deterministic clipping</a:t>
            </a:r>
          </a:p>
        </p:txBody>
      </p:sp>
      <p:sp>
        <p:nvSpPr>
          <p:cNvPr id="7" name="offn">
            <a:extLst xmlns:a="http://schemas.openxmlformats.org/drawingml/2006/main">
              <a:ext uri="{FF2B5EF4-FFF2-40B4-BE49-F238E27FC236}">
                <a16:creationId xmlns:a16="http://schemas.microsoft.com/office/drawing/2014/main" id="{A594FA33-2EC5-4822-99DC-D7CC2597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96170"/>
                </a:solidFill>
              </a:defRPr>
            </a:pPr>
            <a:r>
              <a:rPr sz="1275" b="1" i="0">
                <a:solidFill>
                  <a:srgbClr val="596170"/>
                </a:solidFill>
              </a:rPr>
              <a:t>Fast iteration and rich queries</a:t>
            </a:r>
          </a:p>
        </p:txBody>
      </p:sp>
      <p:sp>
        <p:nvSpPr>
          <p:cNvPr id="8" name="on">
            <a:extLst xmlns:a="http://schemas.openxmlformats.org/drawingml/2006/main">
              <a:ext uri="{FF2B5EF4-FFF2-40B4-BE49-F238E27FC236}">
                <a16:creationId xmlns:a16="http://schemas.microsoft.com/office/drawing/2014/main" id="{F84228DF-FAD1-4B2A-A92D-66E4D4F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5095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nh">
            <a:extLst xmlns:a="http://schemas.openxmlformats.org/drawingml/2006/main">
              <a:ext uri="{FF2B5EF4-FFF2-40B4-BE49-F238E27FC236}">
                <a16:creationId xmlns:a16="http://schemas.microsoft.com/office/drawing/2014/main" id="{DB4170BB-6B87-4A59-AFD6-695CD6B3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526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7D5EA"/>
                </a:solidFill>
              </a:defRPr>
            </a:pPr>
            <a:r>
              <a:rPr sz="1425" b="1" i="0">
                <a:solidFill>
                  <a:srgbClr val="67D5EA"/>
                </a:solidFill>
              </a:rPr>
              <a:t>ON-CHAIN · VALUE + PROOF</a:t>
            </a:r>
          </a:p>
        </p:txBody>
      </p:sp>
      <p:sp>
        <p:nvSpPr>
          <p:cNvPr id="10" name="onb">
            <a:extLst xmlns:a="http://schemas.openxmlformats.org/drawingml/2006/main">
              <a:ext uri="{FF2B5EF4-FFF2-40B4-BE49-F238E27FC236}">
                <a16:creationId xmlns:a16="http://schemas.microsoft.com/office/drawing/2014/main" id="{907C6126-A285-49CF-8B6C-4BBC2547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76500"/>
            <a:ext cx="4333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• Merchant directory identity pointer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• Buyer-funded SPL USDC escrow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• Preparing, ready, release, refund, dispute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• Receipt and settlement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• Pickup-code hash verification</a:t>
            </a:r>
          </a:p>
        </p:txBody>
      </p:sp>
      <p:sp>
        <p:nvSpPr>
          <p:cNvPr id="11" name="onn">
            <a:extLst xmlns:a="http://schemas.openxmlformats.org/drawingml/2006/main">
              <a:ext uri="{FF2B5EF4-FFF2-40B4-BE49-F238E27FC236}">
                <a16:creationId xmlns:a16="http://schemas.microsoft.com/office/drawing/2014/main" id="{383472BF-CFF1-4DC2-A79A-9985F0E3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958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7D5EA"/>
                </a:solidFill>
              </a:defRPr>
            </a:pPr>
            <a:r>
              <a:rPr sz="1275" b="1" i="0">
                <a:solidFill>
                  <a:srgbClr val="67D5EA"/>
                </a:solidFill>
              </a:rPr>
              <a:t>Irreversible rules where trust matters</a:t>
            </a:r>
          </a:p>
        </p:txBody>
      </p:sp>
      <p:sp>
        <p:nvSpPr>
          <p:cNvPr id="12" name="foot">
            <a:extLst xmlns:a="http://schemas.openxmlformats.org/drawingml/2006/main">
              <a:ext uri="{FF2B5EF4-FFF2-40B4-BE49-F238E27FC236}">
                <a16:creationId xmlns:a16="http://schemas.microsoft.com/office/drawing/2014/main" id="{0314AAFA-4080-4CAD-BB51-4A9116A8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498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01E6216-AE7F-4E49-9283-0E48EBD2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25DF37-F10C-4178-A250-E150876B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Three Anchor programs divide on-chain responsibility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58D6A2C-FF94-47C7-B135-9D72828A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1-bg">
            <a:extLst xmlns:a="http://schemas.openxmlformats.org/drawingml/2006/main">
              <a:ext uri="{FF2B5EF4-FFF2-40B4-BE49-F238E27FC236}">
                <a16:creationId xmlns:a16="http://schemas.microsoft.com/office/drawing/2014/main" id="{76C31D49-0745-4DDA-8D11-D193BDFD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1-a">
            <a:extLst xmlns:a="http://schemas.openxmlformats.org/drawingml/2006/main">
              <a:ext uri="{FF2B5EF4-FFF2-40B4-BE49-F238E27FC236}">
                <a16:creationId xmlns:a16="http://schemas.microsoft.com/office/drawing/2014/main" id="{9F7B9E3F-FBF9-4344-84AB-7F3031AF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66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1-t">
            <a:extLst xmlns:a="http://schemas.openxmlformats.org/drawingml/2006/main">
              <a:ext uri="{FF2B5EF4-FFF2-40B4-BE49-F238E27FC236}">
                <a16:creationId xmlns:a16="http://schemas.microsoft.com/office/drawing/2014/main" id="{7B0ED27E-7B77-4E19-891A-7F0F145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merchant_directory</a:t>
            </a:r>
          </a:p>
        </p:txBody>
      </p:sp>
      <p:sp>
        <p:nvSpPr>
          <p:cNvPr id="7" name="pr1-b">
            <a:extLst xmlns:a="http://schemas.openxmlformats.org/drawingml/2006/main">
              <a:ext uri="{FF2B5EF4-FFF2-40B4-BE49-F238E27FC236}">
                <a16:creationId xmlns:a16="http://schemas.microsoft.com/office/drawing/2014/main" id="{E8C977EB-C9C9-4EAB-98D7-3DD47F11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051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Lists merchant identity, active status, service URL hash, metadata hash, and authority.</a:t>
            </a:r>
          </a:p>
        </p:txBody>
      </p:sp>
      <p:sp>
        <p:nvSpPr>
          <p:cNvPr id="8" name="pr2-bg">
            <a:extLst xmlns:a="http://schemas.openxmlformats.org/drawingml/2006/main">
              <a:ext uri="{FF2B5EF4-FFF2-40B4-BE49-F238E27FC236}">
                <a16:creationId xmlns:a16="http://schemas.microsoft.com/office/drawing/2014/main" id="{F6991CDF-C4D7-47F8-823D-9A1034A2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2-a">
            <a:extLst xmlns:a="http://schemas.openxmlformats.org/drawingml/2006/main">
              <a:ext uri="{FF2B5EF4-FFF2-40B4-BE49-F238E27FC236}">
                <a16:creationId xmlns:a16="http://schemas.microsoft.com/office/drawing/2014/main" id="{6A99B923-9DBD-4B2F-B62C-989BAC03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666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2-t">
            <a:extLst xmlns:a="http://schemas.openxmlformats.org/drawingml/2006/main">
              <a:ext uri="{FF2B5EF4-FFF2-40B4-BE49-F238E27FC236}">
                <a16:creationId xmlns:a16="http://schemas.microsoft.com/office/drawing/2014/main" id="{429857A4-7DDC-49C6-A0D5-B929431E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order_escrow</a:t>
            </a:r>
          </a:p>
        </p:txBody>
      </p:sp>
      <p:sp>
        <p:nvSpPr>
          <p:cNvPr id="11" name="pr2-b">
            <a:extLst xmlns:a="http://schemas.openxmlformats.org/drawingml/2006/main">
              <a:ext uri="{FF2B5EF4-FFF2-40B4-BE49-F238E27FC236}">
                <a16:creationId xmlns:a16="http://schemas.microsoft.com/office/drawing/2014/main" id="{9EEE2F5F-7ADE-43A1-900F-4754739B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9051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Funds merchant-specific USDC escrow; enforces preparing, ready, pickup release, refund, dispute, and resolution.</a:t>
            </a:r>
          </a:p>
        </p:txBody>
      </p:sp>
      <p:sp>
        <p:nvSpPr>
          <p:cNvPr id="12" name="pr3-bg">
            <a:extLst xmlns:a="http://schemas.openxmlformats.org/drawingml/2006/main">
              <a:ext uri="{FF2B5EF4-FFF2-40B4-BE49-F238E27FC236}">
                <a16:creationId xmlns:a16="http://schemas.microsoft.com/office/drawing/2014/main" id="{993BFA35-7794-4C48-B350-236698CE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3-a">
            <a:extLst xmlns:a="http://schemas.openxmlformats.org/drawingml/2006/main">
              <a:ext uri="{FF2B5EF4-FFF2-40B4-BE49-F238E27FC236}">
                <a16:creationId xmlns:a16="http://schemas.microsoft.com/office/drawing/2014/main" id="{9030A32D-B028-431B-9B44-EDE62FD8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666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3-t">
            <a:extLst xmlns:a="http://schemas.openxmlformats.org/drawingml/2006/main">
              <a:ext uri="{FF2B5EF4-FFF2-40B4-BE49-F238E27FC236}">
                <a16:creationId xmlns:a16="http://schemas.microsoft.com/office/drawing/2014/main" id="{AC5EFCBD-CA66-4F91-B8AA-DD785AAF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D12"/>
                </a:solidFill>
              </a:defRPr>
            </a:pPr>
            <a:r>
              <a:rPr sz="1650" b="1" i="0">
                <a:solidFill>
                  <a:srgbClr val="0A0D12"/>
                </a:solidFill>
              </a:rPr>
              <a:t>order_receipt</a:t>
            </a:r>
          </a:p>
        </p:txBody>
      </p:sp>
      <p:sp>
        <p:nvSpPr>
          <p:cNvPr id="15" name="pr3-b">
            <a:extLst xmlns:a="http://schemas.openxmlformats.org/drawingml/2006/main">
              <a:ext uri="{FF2B5EF4-FFF2-40B4-BE49-F238E27FC236}">
                <a16:creationId xmlns:a16="http://schemas.microsoft.com/office/drawing/2014/main" id="{762736C1-1C01-4EEB-869D-FA06D26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9051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Creates task-level settlement evidence and records release/refund totals for the purchase lifecycle.</a:t>
            </a:r>
          </a:p>
        </p:txBody>
      </p:sp>
      <p:sp>
        <p:nvSpPr>
          <p:cNvPr id="16" name="pda">
            <a:extLst xmlns:a="http://schemas.openxmlformats.org/drawingml/2006/main">
              <a:ext uri="{FF2B5EF4-FFF2-40B4-BE49-F238E27FC236}">
                <a16:creationId xmlns:a16="http://schemas.microsoft.com/office/drawing/2014/main" id="{124A936E-ED6C-458F-8722-0DA1BA6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A0D12"/>
                </a:solidFill>
              </a:defRPr>
            </a:pPr>
            <a:r>
              <a:rPr sz="1725" b="1" i="0">
                <a:solidFill>
                  <a:srgbClr val="0A0D12"/>
                </a:solidFill>
              </a:rPr>
              <a:t>Program Derived Addresses isolate merchants, orders, vault authority, and receipts without a central custody account.</a:t>
            </a:r>
          </a:p>
        </p:txBody>
      </p:sp>
      <p:sp>
        <p:nvSpPr>
          <p:cNvPr id="17" name="foot">
            <a:extLst xmlns:a="http://schemas.openxmlformats.org/drawingml/2006/main">
              <a:ext uri="{FF2B5EF4-FFF2-40B4-BE49-F238E27FC236}">
                <a16:creationId xmlns:a16="http://schemas.microsoft.com/office/drawing/2014/main" id="{065520BA-25DE-4778-B903-B736BE11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05034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0A750322-B8D2-4D46-8485-229E397D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AEE1D7-3E3A-43D6-A453-90E202B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Deterministic commerce guardrails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B269319-A7E3-44C6-B14A-285C9251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00">
            <a:extLst xmlns:a="http://schemas.openxmlformats.org/drawingml/2006/main">
              <a:ext uri="{FF2B5EF4-FFF2-40B4-BE49-F238E27FC236}">
                <a16:creationId xmlns:a16="http://schemas.microsoft.com/office/drawing/2014/main" id="{5BE46DD7-C417-4194-A71D-5012AFA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8FF"/>
                </a:solidFill>
              </a:defRPr>
            </a:pPr>
            <a:r>
              <a:rPr sz="1125" b="1" i="0">
                <a:solidFill>
                  <a:srgbClr val="2878FF"/>
                </a:solidFill>
              </a:rPr>
              <a:t>PLANNING</a:t>
            </a:r>
          </a:p>
        </p:txBody>
      </p:sp>
      <p:sp>
        <p:nvSpPr>
          <p:cNvPr id="5" name="r10">
            <a:extLst xmlns:a="http://schemas.openxmlformats.org/drawingml/2006/main">
              <a:ext uri="{FF2B5EF4-FFF2-40B4-BE49-F238E27FC236}">
                <a16:creationId xmlns:a16="http://schemas.microsoft.com/office/drawing/2014/main" id="{E7016B99-F97E-4FEF-8CC3-8515AA01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19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0D12"/>
                </a:solidFill>
              </a:defRPr>
            </a:pPr>
            <a:r>
              <a:rPr sz="1425" b="1" i="0">
                <a:solidFill>
                  <a:srgbClr val="0A0D12"/>
                </a:solidFill>
              </a:rPr>
              <a:t>Zod + canonical SKUs</a:t>
            </a:r>
          </a:p>
        </p:txBody>
      </p:sp>
      <p:sp>
        <p:nvSpPr>
          <p:cNvPr id="6" name="r20">
            <a:extLst xmlns:a="http://schemas.openxmlformats.org/drawingml/2006/main">
              <a:ext uri="{FF2B5EF4-FFF2-40B4-BE49-F238E27FC236}">
                <a16:creationId xmlns:a16="http://schemas.microsoft.com/office/drawing/2014/main" id="{A653EBAF-7326-4165-9B10-AF38D928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Unsupported products are rejected before quote collection.</a:t>
            </a:r>
          </a:p>
        </p:txBody>
      </p:sp>
      <p:sp>
        <p:nvSpPr>
          <p:cNvPr id="7" name="rl0">
            <a:extLst xmlns:a="http://schemas.openxmlformats.org/drawingml/2006/main">
              <a:ext uri="{FF2B5EF4-FFF2-40B4-BE49-F238E27FC236}">
                <a16:creationId xmlns:a16="http://schemas.microsoft.com/office/drawing/2014/main" id="{6534903C-0B44-46B8-ABEB-A406557C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01">
            <a:extLst xmlns:a="http://schemas.openxmlformats.org/drawingml/2006/main">
              <a:ext uri="{FF2B5EF4-FFF2-40B4-BE49-F238E27FC236}">
                <a16:creationId xmlns:a16="http://schemas.microsoft.com/office/drawing/2014/main" id="{0C2A944C-41CB-4D40-B7F7-E46DE641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8FF"/>
                </a:solidFill>
              </a:defRPr>
            </a:pPr>
            <a:r>
              <a:rPr sz="1125" b="1" i="0">
                <a:solidFill>
                  <a:srgbClr val="2878FF"/>
                </a:solidFill>
              </a:rPr>
              <a:t>MONEY</a:t>
            </a:r>
          </a:p>
        </p:txBody>
      </p:sp>
      <p:sp>
        <p:nvSpPr>
          <p:cNvPr id="9" name="r11">
            <a:extLst xmlns:a="http://schemas.openxmlformats.org/drawingml/2006/main">
              <a:ext uri="{FF2B5EF4-FFF2-40B4-BE49-F238E27FC236}">
                <a16:creationId xmlns:a16="http://schemas.microsoft.com/office/drawing/2014/main" id="{BF9C3E7B-63CD-403C-B2C4-B05442C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43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0D12"/>
                </a:solidFill>
              </a:defRPr>
            </a:pPr>
            <a:r>
              <a:rPr sz="1425" b="1" i="0">
                <a:solidFill>
                  <a:srgbClr val="0A0D12"/>
                </a:solidFill>
              </a:rPr>
              <a:t>Integer micro-USDC</a:t>
            </a:r>
          </a:p>
        </p:txBody>
      </p:sp>
      <p:sp>
        <p:nvSpPr>
          <p:cNvPr id="10" name="r21">
            <a:extLst xmlns:a="http://schemas.openxmlformats.org/drawingml/2006/main">
              <a:ext uri="{FF2B5EF4-FFF2-40B4-BE49-F238E27FC236}">
                <a16:creationId xmlns:a16="http://schemas.microsoft.com/office/drawing/2014/main" id="{0DA47BBD-CE9D-402E-912D-4B78678F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No floating-point arithmetic anywhere in the payment path.</a:t>
            </a:r>
          </a:p>
        </p:txBody>
      </p:sp>
      <p:sp>
        <p:nvSpPr>
          <p:cNvPr id="11" name="rl1">
            <a:extLst xmlns:a="http://schemas.openxmlformats.org/drawingml/2006/main">
              <a:ext uri="{FF2B5EF4-FFF2-40B4-BE49-F238E27FC236}">
                <a16:creationId xmlns:a16="http://schemas.microsoft.com/office/drawing/2014/main" id="{4917E630-5B9F-4030-8ABC-C6319037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02">
            <a:extLst xmlns:a="http://schemas.openxmlformats.org/drawingml/2006/main">
              <a:ext uri="{FF2B5EF4-FFF2-40B4-BE49-F238E27FC236}">
                <a16:creationId xmlns:a16="http://schemas.microsoft.com/office/drawing/2014/main" id="{0BEC0335-D83A-4CE9-AE00-AEB63226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8FF"/>
                </a:solidFill>
              </a:defRPr>
            </a:pPr>
            <a:r>
              <a:rPr sz="1125" b="1" i="0">
                <a:solidFill>
                  <a:srgbClr val="2878FF"/>
                </a:solidFill>
              </a:rPr>
              <a:t>PRICE + STOCK</a:t>
            </a:r>
          </a:p>
        </p:txBody>
      </p:sp>
      <p:sp>
        <p:nvSpPr>
          <p:cNvPr id="13" name="r12">
            <a:extLst xmlns:a="http://schemas.openxmlformats.org/drawingml/2006/main">
              <a:ext uri="{FF2B5EF4-FFF2-40B4-BE49-F238E27FC236}">
                <a16:creationId xmlns:a16="http://schemas.microsoft.com/office/drawing/2014/main" id="{84CB38CD-C393-4666-994B-4621BE1D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7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0D12"/>
                </a:solidFill>
              </a:defRPr>
            </a:pPr>
            <a:r>
              <a:rPr sz="1425" b="1" i="0">
                <a:solidFill>
                  <a:srgbClr val="0A0D12"/>
                </a:solidFill>
              </a:rPr>
              <a:t>Merchant DB + pricing policy</a:t>
            </a:r>
          </a:p>
        </p:txBody>
      </p:sp>
      <p:sp>
        <p:nvSpPr>
          <p:cNvPr id="14" name="r22">
            <a:extLst xmlns:a="http://schemas.openxmlformats.org/drawingml/2006/main">
              <a:ext uri="{FF2B5EF4-FFF2-40B4-BE49-F238E27FC236}">
                <a16:creationId xmlns:a16="http://schemas.microsoft.com/office/drawing/2014/main" id="{81CCD20D-1E09-4469-9C2C-1F41EF8B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LLM suggestions are clipped; final numbers remain deterministic.</a:t>
            </a:r>
          </a:p>
        </p:txBody>
      </p:sp>
      <p:sp>
        <p:nvSpPr>
          <p:cNvPr id="15" name="rl2">
            <a:extLst xmlns:a="http://schemas.openxmlformats.org/drawingml/2006/main">
              <a:ext uri="{FF2B5EF4-FFF2-40B4-BE49-F238E27FC236}">
                <a16:creationId xmlns:a16="http://schemas.microsoft.com/office/drawing/2014/main" id="{C4736824-B838-4C08-9735-33662A4B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03">
            <a:extLst xmlns:a="http://schemas.openxmlformats.org/drawingml/2006/main">
              <a:ext uri="{FF2B5EF4-FFF2-40B4-BE49-F238E27FC236}">
                <a16:creationId xmlns:a16="http://schemas.microsoft.com/office/drawing/2014/main" id="{853F160C-2EC1-49CC-A3BD-B7CCA64B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8FF"/>
                </a:solidFill>
              </a:defRPr>
            </a:pPr>
            <a:r>
              <a:rPr sz="1125" b="1" i="0">
                <a:solidFill>
                  <a:srgbClr val="2878FF"/>
                </a:solidFill>
              </a:rPr>
              <a:t>QUOTE</a:t>
            </a:r>
          </a:p>
        </p:txBody>
      </p:sp>
      <p:sp>
        <p:nvSpPr>
          <p:cNvPr id="17" name="r13">
            <a:extLst xmlns:a="http://schemas.openxmlformats.org/drawingml/2006/main">
              <a:ext uri="{FF2B5EF4-FFF2-40B4-BE49-F238E27FC236}">
                <a16:creationId xmlns:a16="http://schemas.microsoft.com/office/drawing/2014/main" id="{9F4AE0F8-685C-4924-8FDB-E79C3A0E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90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0D12"/>
                </a:solidFill>
              </a:defRPr>
            </a:pPr>
            <a:r>
              <a:rPr sz="1425" b="1" i="0">
                <a:solidFill>
                  <a:srgbClr val="0A0D12"/>
                </a:solidFill>
              </a:rPr>
              <a:t>Ed25519 merchant signature</a:t>
            </a:r>
          </a:p>
        </p:txBody>
      </p:sp>
      <p:sp>
        <p:nvSpPr>
          <p:cNvPr id="18" name="r23">
            <a:extLst xmlns:a="http://schemas.openxmlformats.org/drawingml/2006/main">
              <a:ext uri="{FF2B5EF4-FFF2-40B4-BE49-F238E27FC236}">
                <a16:creationId xmlns:a16="http://schemas.microsoft.com/office/drawing/2014/main" id="{32378E86-B202-4944-AC1B-760761F6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Every accepted commercial offer is verified twice.</a:t>
            </a:r>
          </a:p>
        </p:txBody>
      </p:sp>
      <p:sp>
        <p:nvSpPr>
          <p:cNvPr id="19" name="rl3">
            <a:extLst xmlns:a="http://schemas.openxmlformats.org/drawingml/2006/main">
              <a:ext uri="{FF2B5EF4-FFF2-40B4-BE49-F238E27FC236}">
                <a16:creationId xmlns:a16="http://schemas.microsoft.com/office/drawing/2014/main" id="{2377429D-E339-45A7-85A2-EE92B057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04">
            <a:extLst xmlns:a="http://schemas.openxmlformats.org/drawingml/2006/main">
              <a:ext uri="{FF2B5EF4-FFF2-40B4-BE49-F238E27FC236}">
                <a16:creationId xmlns:a16="http://schemas.microsoft.com/office/drawing/2014/main" id="{559104C1-AC69-4A22-8EE4-BB00173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8FF"/>
                </a:solidFill>
              </a:defRPr>
            </a:pPr>
            <a:r>
              <a:rPr sz="1125" b="1" i="0">
                <a:solidFill>
                  <a:srgbClr val="2878FF"/>
                </a:solidFill>
              </a:rPr>
              <a:t>PAYMENT</a:t>
            </a:r>
          </a:p>
        </p:txBody>
      </p:sp>
      <p:sp>
        <p:nvSpPr>
          <p:cNvPr id="21" name="r14">
            <a:extLst xmlns:a="http://schemas.openxmlformats.org/drawingml/2006/main">
              <a:ext uri="{FF2B5EF4-FFF2-40B4-BE49-F238E27FC236}">
                <a16:creationId xmlns:a16="http://schemas.microsoft.com/office/drawing/2014/main" id="{30F6A3FC-3E6B-4FD2-8992-C48DFE74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14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0D12"/>
                </a:solidFill>
              </a:defRPr>
            </a:pPr>
            <a:r>
              <a:rPr sz="1425" b="1" i="0">
                <a:solidFill>
                  <a:srgbClr val="0A0D12"/>
                </a:solidFill>
              </a:rPr>
              <a:t>Idempotency + proof replay protection</a:t>
            </a:r>
          </a:p>
        </p:txBody>
      </p:sp>
      <p:sp>
        <p:nvSpPr>
          <p:cNvPr id="22" name="r24">
            <a:extLst xmlns:a="http://schemas.openxmlformats.org/drawingml/2006/main">
              <a:ext uri="{FF2B5EF4-FFF2-40B4-BE49-F238E27FC236}">
                <a16:creationId xmlns:a16="http://schemas.microsoft.com/office/drawing/2014/main" id="{894CCDB8-F5CE-427E-AF42-CB842B0E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One transfer cannot purchase two agent responses.</a:t>
            </a:r>
          </a:p>
        </p:txBody>
      </p:sp>
      <p:sp>
        <p:nvSpPr>
          <p:cNvPr id="23" name="rl4">
            <a:extLst xmlns:a="http://schemas.openxmlformats.org/drawingml/2006/main">
              <a:ext uri="{FF2B5EF4-FFF2-40B4-BE49-F238E27FC236}">
                <a16:creationId xmlns:a16="http://schemas.microsoft.com/office/drawing/2014/main" id="{B0EFD9A3-FFC9-4882-B4CC-6928C8B3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05">
            <a:extLst xmlns:a="http://schemas.openxmlformats.org/drawingml/2006/main">
              <a:ext uri="{FF2B5EF4-FFF2-40B4-BE49-F238E27FC236}">
                <a16:creationId xmlns:a16="http://schemas.microsoft.com/office/drawing/2014/main" id="{6B3BACF1-BB78-4F1B-B546-377BF409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8FF"/>
                </a:solidFill>
              </a:defRPr>
            </a:pPr>
            <a:r>
              <a:rPr sz="1125" b="1" i="0">
                <a:solidFill>
                  <a:srgbClr val="2878FF"/>
                </a:solidFill>
              </a:rPr>
              <a:t>ORDER</a:t>
            </a:r>
          </a:p>
        </p:txBody>
      </p:sp>
      <p:sp>
        <p:nvSpPr>
          <p:cNvPr id="25" name="r15">
            <a:extLst xmlns:a="http://schemas.openxmlformats.org/drawingml/2006/main">
              <a:ext uri="{FF2B5EF4-FFF2-40B4-BE49-F238E27FC236}">
                <a16:creationId xmlns:a16="http://schemas.microsoft.com/office/drawing/2014/main" id="{F186A24C-91F6-48C0-AFD3-22B31BF7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38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0D12"/>
                </a:solidFill>
              </a:defRPr>
            </a:pPr>
            <a:r>
              <a:rPr sz="1425" b="1" i="0">
                <a:solidFill>
                  <a:srgbClr val="0A0D12"/>
                </a:solidFill>
              </a:rPr>
              <a:t>Explicit state machine</a:t>
            </a:r>
          </a:p>
        </p:txBody>
      </p:sp>
      <p:sp>
        <p:nvSpPr>
          <p:cNvPr id="26" name="r25">
            <a:extLst xmlns:a="http://schemas.openxmlformats.org/drawingml/2006/main">
              <a:ext uri="{FF2B5EF4-FFF2-40B4-BE49-F238E27FC236}">
                <a16:creationId xmlns:a16="http://schemas.microsoft.com/office/drawing/2014/main" id="{8E367D9D-FD7D-4433-A08A-AD828761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Funding only follows merchant confirmation; release only follows pickup.</a:t>
            </a:r>
          </a:p>
        </p:txBody>
      </p:sp>
      <p:sp>
        <p:nvSpPr>
          <p:cNvPr id="27" name="foot">
            <a:extLst xmlns:a="http://schemas.openxmlformats.org/drawingml/2006/main">
              <a:ext uri="{FF2B5EF4-FFF2-40B4-BE49-F238E27FC236}">
                <a16:creationId xmlns:a16="http://schemas.microsoft.com/office/drawing/2014/main" id="{CA0517CA-D6AC-446D-983C-D753638E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5852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B90570BC-108B-4D52-BB49-EDB84DC4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DA5B5B-D852-4FCE-8231-E4B16CF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The MVP already behaves like a small merchant-agent market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314CE48-1551-4AA1-A998-FB87C8C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bb0e060784583"/>
          <a:stretch xmlns:a="http://schemas.openxmlformats.org/drawingml/2006/main"/>
        </p:blipFill>
        <p:spPr>
          <a:xfrm xmlns:a="http://schemas.openxmlformats.org/drawingml/2006/main">
            <a:off x="906946" y="1714500"/>
            <a:ext cx="5520359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market">
            <a:extLst xmlns:a="http://schemas.openxmlformats.org/drawingml/2006/main">
              <a:ext uri="{FF2B5EF4-FFF2-40B4-BE49-F238E27FC236}">
                <a16:creationId xmlns:a16="http://schemas.microsoft.com/office/drawing/2014/main" id="{55123468-7649-45A5-96C8-6983C297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4429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h">
            <a:extLst xmlns:a="http://schemas.openxmlformats.org/drawingml/2006/main">
              <a:ext uri="{FF2B5EF4-FFF2-40B4-BE49-F238E27FC236}">
                <a16:creationId xmlns:a16="http://schemas.microsoft.com/office/drawing/2014/main" id="{271FCAE5-F008-47D7-957B-1208A23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A276"/>
                </a:solidFill>
              </a:defRPr>
            </a:pPr>
            <a:r>
              <a:rPr sz="1275" b="1" i="0">
                <a:solidFill>
                  <a:srgbClr val="13A276"/>
                </a:solidFill>
              </a:rPr>
              <a:t>CURRENT MVP</a:t>
            </a:r>
          </a:p>
        </p:txBody>
      </p:sp>
      <p:sp>
        <p:nvSpPr>
          <p:cNvPr id="7" name="mb">
            <a:extLst xmlns:a="http://schemas.openxmlformats.org/drawingml/2006/main">
              <a:ext uri="{FF2B5EF4-FFF2-40B4-BE49-F238E27FC236}">
                <a16:creationId xmlns:a16="http://schemas.microsoft.com/office/drawing/2014/main" id="{617C07BB-2D63-4408-94D5-0747650F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762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A0D12"/>
                </a:solidFill>
              </a:defRPr>
            </a:pPr>
            <a:r>
              <a:rPr sz="1350" b="0" i="0">
                <a:solidFill>
                  <a:srgbClr val="0A0D12"/>
                </a:solidFill>
              </a:rPr>
              <a:t>• Merchant onboarding and wallet identity</a:t>
            </a:r>
          </a:p>
          <a:p xmlns:a="http://schemas.openxmlformats.org/drawingml/2006/main">
            <a:pPr algn="l">
              <a:defRPr sz="1350" b="0" i="0">
                <a:solidFill>
                  <a:srgbClr val="0A0D12"/>
                </a:solidFill>
              </a:defRPr>
            </a:pPr>
            <a:r>
              <a:rPr sz="1350" b="0" i="0">
                <a:solidFill>
                  <a:srgbClr val="0A0D12"/>
                </a:solidFill>
              </a:rPr>
              <a:t>• Catalog and inventory management</a:t>
            </a:r>
          </a:p>
          <a:p xmlns:a="http://schemas.openxmlformats.org/drawingml/2006/main">
            <a:pPr algn="l">
              <a:defRPr sz="1350" b="0" i="0">
                <a:solidFill>
                  <a:srgbClr val="0A0D12"/>
                </a:solidFill>
              </a:defRPr>
            </a:pPr>
            <a:r>
              <a:rPr sz="1350" b="0" i="0">
                <a:solidFill>
                  <a:srgbClr val="0A0D12"/>
                </a:solidFill>
              </a:rPr>
              <a:t>• Paid quote endpoint</a:t>
            </a:r>
          </a:p>
          <a:p xmlns:a="http://schemas.openxmlformats.org/drawingml/2006/main">
            <a:pPr algn="l">
              <a:defRPr sz="1350" b="0" i="0">
                <a:solidFill>
                  <a:srgbClr val="0A0D12"/>
                </a:solidFill>
              </a:defRPr>
            </a:pPr>
            <a:r>
              <a:rPr sz="1350" b="0" i="0">
                <a:solidFill>
                  <a:srgbClr val="0A0D12"/>
                </a:solidFill>
              </a:rPr>
              <a:t>• Signed merchant offers</a:t>
            </a:r>
          </a:p>
          <a:p xmlns:a="http://schemas.openxmlformats.org/drawingml/2006/main">
            <a:pPr algn="l">
              <a:defRPr sz="1350" b="0" i="0">
                <a:solidFill>
                  <a:srgbClr val="0A0D12"/>
                </a:solidFill>
              </a:defRPr>
            </a:pPr>
            <a:r>
              <a:rPr sz="1350" b="0" i="0">
                <a:solidFill>
                  <a:srgbClr val="0A0D12"/>
                </a:solidFill>
              </a:rPr>
              <a:t>• Acceptance / rejection workflow</a:t>
            </a:r>
          </a:p>
          <a:p xmlns:a="http://schemas.openxmlformats.org/drawingml/2006/main">
            <a:pPr algn="l">
              <a:defRPr sz="1350" b="0" i="0">
                <a:solidFill>
                  <a:srgbClr val="0A0D12"/>
                </a:solidFill>
              </a:defRPr>
            </a:pPr>
            <a:r>
              <a:rPr sz="1350" b="0" i="0">
                <a:solidFill>
                  <a:srgbClr val="0A0D12"/>
                </a:solidFill>
              </a:rPr>
              <a:t>• Merchant dashboard and disputes</a:t>
            </a:r>
          </a:p>
        </p:txBody>
      </p:sp>
      <p:sp>
        <p:nvSpPr>
          <p:cNvPr id="8" name="nh">
            <a:extLst xmlns:a="http://schemas.openxmlformats.org/drawingml/2006/main">
              <a:ext uri="{FF2B5EF4-FFF2-40B4-BE49-F238E27FC236}">
                <a16:creationId xmlns:a16="http://schemas.microsoft.com/office/drawing/2014/main" id="{96E605FF-70EB-4B66-A908-D8362B3C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62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878FF"/>
                </a:solidFill>
              </a:defRPr>
            </a:pPr>
            <a:r>
              <a:rPr sz="1275" b="1" i="0">
                <a:solidFill>
                  <a:srgbClr val="2878FF"/>
                </a:solidFill>
              </a:rPr>
              <a:t>NEXT MARKET LAYER</a:t>
            </a:r>
          </a:p>
        </p:txBody>
      </p:sp>
      <p:sp>
        <p:nvSpPr>
          <p:cNvPr id="9" name="nb">
            <a:extLst xmlns:a="http://schemas.openxmlformats.org/drawingml/2006/main">
              <a:ext uri="{FF2B5EF4-FFF2-40B4-BE49-F238E27FC236}">
                <a16:creationId xmlns:a16="http://schemas.microsoft.com/office/drawing/2014/main" id="{F6810947-EA6F-433B-B951-498105E7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95875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Public catalog, manifest standard, reputation service, search/ranking API, SDK, isolation, and later stake/slashing.</a:t>
            </a:r>
          </a:p>
        </p:txBody>
      </p:sp>
      <p:sp>
        <p:nvSpPr>
          <p:cNvPr id="10" name="foot">
            <a:extLst xmlns:a="http://schemas.openxmlformats.org/drawingml/2006/main">
              <a:ext uri="{FF2B5EF4-FFF2-40B4-BE49-F238E27FC236}">
                <a16:creationId xmlns:a16="http://schemas.microsoft.com/office/drawing/2014/main" id="{E35A0DEB-7A40-4D5A-BD39-D57FD0A5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676683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AD2B07B1-C5F9-4DBD-9D85-C800112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9F325B-3532-45FC-9155-5EC50BB0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Each merchant controls an autonomous storefront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D46BFDA-8A98-412B-A4D8-51916780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49d950c9e427b"/>
          <a:stretch xmlns:a="http://schemas.openxmlformats.org/drawingml/2006/main"/>
        </p:blipFill>
        <p:spPr>
          <a:xfrm xmlns:a="http://schemas.openxmlformats.org/drawingml/2006/main">
            <a:off x="848362" y="1714500"/>
            <a:ext cx="6209026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console-side">
            <a:extLst xmlns:a="http://schemas.openxmlformats.org/drawingml/2006/main">
              <a:ext uri="{FF2B5EF4-FFF2-40B4-BE49-F238E27FC236}">
                <a16:creationId xmlns:a16="http://schemas.microsoft.com/office/drawing/2014/main" id="{95FC9007-3748-45D7-8815-0420A91A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3857625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sole-1h">
            <a:extLst xmlns:a="http://schemas.openxmlformats.org/drawingml/2006/main">
              <a:ext uri="{FF2B5EF4-FFF2-40B4-BE49-F238E27FC236}">
                <a16:creationId xmlns:a16="http://schemas.microsoft.com/office/drawing/2014/main" id="{41DF2422-4BA2-4C1C-B66B-39490F63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878FF"/>
                </a:solidFill>
              </a:defRPr>
            </a:pPr>
            <a:r>
              <a:rPr sz="1275" b="1" i="0">
                <a:solidFill>
                  <a:srgbClr val="2878FF"/>
                </a:solidFill>
              </a:rPr>
              <a:t>CONFIGURE THE AGENT</a:t>
            </a:r>
          </a:p>
        </p:txBody>
      </p:sp>
      <p:sp>
        <p:nvSpPr>
          <p:cNvPr id="7" name="console-1b">
            <a:extLst xmlns:a="http://schemas.openxmlformats.org/drawingml/2006/main">
              <a:ext uri="{FF2B5EF4-FFF2-40B4-BE49-F238E27FC236}">
                <a16:creationId xmlns:a16="http://schemas.microsoft.com/office/drawing/2014/main" id="{1BDB1E02-BFB5-4DC9-8402-9B889CD4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8600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A0D12"/>
                </a:solidFill>
              </a:defRPr>
            </a:pPr>
            <a:r>
              <a:rPr sz="1275" b="0" i="0">
                <a:solidFill>
                  <a:srgbClr val="0A0D12"/>
                </a:solidFill>
              </a:rPr>
              <a:t>Choose its commercial strategy, pricing policies, campaigns, and operating limits.</a:t>
            </a:r>
          </a:p>
        </p:txBody>
      </p:sp>
      <p:sp>
        <p:nvSpPr>
          <p:cNvPr id="8" name="console-2h">
            <a:extLst xmlns:a="http://schemas.openxmlformats.org/drawingml/2006/main">
              <a:ext uri="{FF2B5EF4-FFF2-40B4-BE49-F238E27FC236}">
                <a16:creationId xmlns:a16="http://schemas.microsoft.com/office/drawing/2014/main" id="{9A2035DF-D6D8-4477-A94B-8956D46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956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A276"/>
                </a:solidFill>
              </a:defRPr>
            </a:pPr>
            <a:r>
              <a:rPr sz="1275" b="1" i="0">
                <a:solidFill>
                  <a:srgbClr val="13A276"/>
                </a:solidFill>
              </a:rPr>
              <a:t>OPERATE THE STOREFRONT</a:t>
            </a:r>
          </a:p>
        </p:txBody>
      </p:sp>
      <p:sp>
        <p:nvSpPr>
          <p:cNvPr id="9" name="console-2b">
            <a:extLst xmlns:a="http://schemas.openxmlformats.org/drawingml/2006/main">
              <a:ext uri="{FF2B5EF4-FFF2-40B4-BE49-F238E27FC236}">
                <a16:creationId xmlns:a16="http://schemas.microsoft.com/office/drawing/2014/main" id="{E8863703-CC4A-4377-85AA-BFBA8ED6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A0D12"/>
                </a:solidFill>
              </a:defRPr>
            </a:pPr>
            <a:r>
              <a:rPr sz="1275" b="0" i="0">
                <a:solidFill>
                  <a:srgbClr val="0A0D12"/>
                </a:solidFill>
              </a:rPr>
              <a:t>Add products, update inventory, review pricing decisions, and handle disputes.</a:t>
            </a:r>
          </a:p>
        </p:txBody>
      </p:sp>
      <p:sp>
        <p:nvSpPr>
          <p:cNvPr id="10" name="console-3h">
            <a:extLst xmlns:a="http://schemas.openxmlformats.org/drawingml/2006/main">
              <a:ext uri="{FF2B5EF4-FFF2-40B4-BE49-F238E27FC236}">
                <a16:creationId xmlns:a16="http://schemas.microsoft.com/office/drawing/2014/main" id="{BD905311-CF0D-473C-A561-2AE3AA27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7D5EA"/>
                </a:solidFill>
              </a:defRPr>
            </a:pPr>
            <a:r>
              <a:rPr sz="1275" b="1" i="0">
                <a:solidFill>
                  <a:srgbClr val="67D5EA"/>
                </a:solidFill>
              </a:rPr>
              <a:t>PUBLISH ITS IDENTITY</a:t>
            </a:r>
          </a:p>
        </p:txBody>
      </p:sp>
      <p:sp>
        <p:nvSpPr>
          <p:cNvPr id="11" name="console-3b">
            <a:extLst xmlns:a="http://schemas.openxmlformats.org/drawingml/2006/main">
              <a:ext uri="{FF2B5EF4-FFF2-40B4-BE49-F238E27FC236}">
                <a16:creationId xmlns:a16="http://schemas.microsoft.com/office/drawing/2014/main" id="{26092FF7-1D75-4ADA-8DD4-883C3334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72000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A0D12"/>
                </a:solidFill>
              </a:defRPr>
            </a:pPr>
            <a:r>
              <a:rPr sz="1275" b="0" i="0">
                <a:solidFill>
                  <a:srgbClr val="0A0D12"/>
                </a:solidFill>
              </a:rPr>
              <a:t>After platform verification, register the merchant identity and settlement wallet on Solana.</a:t>
            </a:r>
          </a:p>
        </p:txBody>
      </p:sp>
      <p:sp>
        <p:nvSpPr>
          <p:cNvPr id="12" name="console-note">
            <a:extLst xmlns:a="http://schemas.openxmlformats.org/drawingml/2006/main">
              <a:ext uri="{FF2B5EF4-FFF2-40B4-BE49-F238E27FC236}">
                <a16:creationId xmlns:a16="http://schemas.microsoft.com/office/drawing/2014/main" id="{AA437573-38F1-481F-AA2A-D269CA6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D94A4A"/>
                </a:solidFill>
              </a:defRPr>
            </a:pPr>
            <a:r>
              <a:rPr sz="1275" b="1" i="1">
                <a:solidFill>
                  <a:srgbClr val="D94A4A"/>
                </a:solidFill>
              </a:rPr>
              <a:t>The LLM may negotiate, but the merchant always defines its economic boundaries.</a:t>
            </a:r>
          </a:p>
        </p:txBody>
      </p:sp>
      <p:sp>
        <p:nvSpPr>
          <p:cNvPr id="13" name="foot">
            <a:extLst xmlns:a="http://schemas.openxmlformats.org/drawingml/2006/main">
              <a:ext uri="{FF2B5EF4-FFF2-40B4-BE49-F238E27FC236}">
                <a16:creationId xmlns:a16="http://schemas.microsoft.com/office/drawing/2014/main" id="{2F679F9F-755C-428B-8F54-9311ED23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780313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6E696D62-B08A-4BF8-8F85-266D9B6D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F10A12-D56B-4F61-8B7C-454160D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Expansion roadmap: one rail, more local markets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88DACC4-E944-4F69-AAF2-5A1E2AE8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0-line">
            <a:extLst xmlns:a="http://schemas.openxmlformats.org/drawingml/2006/main">
              <a:ext uri="{FF2B5EF4-FFF2-40B4-BE49-F238E27FC236}">
                <a16:creationId xmlns:a16="http://schemas.microsoft.com/office/drawing/2014/main" id="{7A0C1E72-00B6-4967-A742-72A40D34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0-head">
            <a:extLst xmlns:a="http://schemas.openxmlformats.org/drawingml/2006/main">
              <a:ext uri="{FF2B5EF4-FFF2-40B4-BE49-F238E27FC236}">
                <a16:creationId xmlns:a16="http://schemas.microsoft.com/office/drawing/2014/main" id="{E4351F29-090B-4AC8-8AC7-E74EBDB2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b0">
            <a:extLst xmlns:a="http://schemas.openxmlformats.org/drawingml/2006/main">
              <a:ext uri="{FF2B5EF4-FFF2-40B4-BE49-F238E27FC236}">
                <a16:creationId xmlns:a16="http://schemas.microsoft.com/office/drawing/2014/main" id="{47993968-44A5-453F-B1D8-5CFFD4B6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0-b">
            <a:extLst xmlns:a="http://schemas.openxmlformats.org/drawingml/2006/main">
              <a:ext uri="{FF2B5EF4-FFF2-40B4-BE49-F238E27FC236}">
                <a16:creationId xmlns:a16="http://schemas.microsoft.com/office/drawing/2014/main" id="{4123692D-FC42-4947-AF05-10BDD8E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g0-t">
            <a:extLst xmlns:a="http://schemas.openxmlformats.org/drawingml/2006/main">
              <a:ext uri="{FF2B5EF4-FFF2-40B4-BE49-F238E27FC236}">
                <a16:creationId xmlns:a16="http://schemas.microsoft.com/office/drawing/2014/main" id="{AC7FA012-FDF7-41BB-82B3-370BD4F4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9" name="rt0">
            <a:extLst xmlns:a="http://schemas.openxmlformats.org/drawingml/2006/main">
              <a:ext uri="{FF2B5EF4-FFF2-40B4-BE49-F238E27FC236}">
                <a16:creationId xmlns:a16="http://schemas.microsoft.com/office/drawing/2014/main" id="{92919460-6282-4E3F-B631-1D0C8655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LOCAL SHOPPING</a:t>
            </a:r>
          </a:p>
        </p:txBody>
      </p:sp>
      <p:sp>
        <p:nvSpPr>
          <p:cNvPr id="10" name="rd0">
            <a:extLst xmlns:a="http://schemas.openxmlformats.org/drawingml/2006/main">
              <a:ext uri="{FF2B5EF4-FFF2-40B4-BE49-F238E27FC236}">
                <a16:creationId xmlns:a16="http://schemas.microsoft.com/office/drawing/2014/main" id="{77F1D4F4-3C5D-4BE5-9934-298B4681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Product discovery, merchant quotes, escrow, pickup</a:t>
            </a:r>
          </a:p>
        </p:txBody>
      </p:sp>
      <p:sp>
        <p:nvSpPr>
          <p:cNvPr id="11" name="ra1-line">
            <a:extLst xmlns:a="http://schemas.openxmlformats.org/drawingml/2006/main">
              <a:ext uri="{FF2B5EF4-FFF2-40B4-BE49-F238E27FC236}">
                <a16:creationId xmlns:a16="http://schemas.microsoft.com/office/drawing/2014/main" id="{E99D9E33-2748-4C23-8F9E-DF8DDE20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09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1-head">
            <a:extLst xmlns:a="http://schemas.openxmlformats.org/drawingml/2006/main">
              <a:ext uri="{FF2B5EF4-FFF2-40B4-BE49-F238E27FC236}">
                <a16:creationId xmlns:a16="http://schemas.microsoft.com/office/drawing/2014/main" id="{FC63FC9B-DADB-4341-B4B5-62A517F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b1">
            <a:extLst xmlns:a="http://schemas.openxmlformats.org/drawingml/2006/main">
              <a:ext uri="{FF2B5EF4-FFF2-40B4-BE49-F238E27FC236}">
                <a16:creationId xmlns:a16="http://schemas.microsoft.com/office/drawing/2014/main" id="{D845BE44-ED31-40EA-9E90-C2C4AA0B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g1-b">
            <a:extLst xmlns:a="http://schemas.openxmlformats.org/drawingml/2006/main">
              <a:ext uri="{FF2B5EF4-FFF2-40B4-BE49-F238E27FC236}">
                <a16:creationId xmlns:a16="http://schemas.microsoft.com/office/drawing/2014/main" id="{F7D2538D-DCCF-4F33-9E09-AB75D8D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g1-t">
            <a:extLst xmlns:a="http://schemas.openxmlformats.org/drawingml/2006/main">
              <a:ext uri="{FF2B5EF4-FFF2-40B4-BE49-F238E27FC236}">
                <a16:creationId xmlns:a16="http://schemas.microsoft.com/office/drawing/2014/main" id="{E99E91D4-F0A5-409C-A6A5-EA807A3D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6" name="rt1">
            <a:extLst xmlns:a="http://schemas.openxmlformats.org/drawingml/2006/main">
              <a:ext uri="{FF2B5EF4-FFF2-40B4-BE49-F238E27FC236}">
                <a16:creationId xmlns:a16="http://schemas.microsoft.com/office/drawing/2014/main" id="{00BB1444-EA3E-403E-B195-5D64B077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COURIER MODE</a:t>
            </a:r>
          </a:p>
        </p:txBody>
      </p:sp>
      <p:sp>
        <p:nvSpPr>
          <p:cNvPr id="17" name="rd1">
            <a:extLst xmlns:a="http://schemas.openxmlformats.org/drawingml/2006/main">
              <a:ext uri="{FF2B5EF4-FFF2-40B4-BE49-F238E27FC236}">
                <a16:creationId xmlns:a16="http://schemas.microsoft.com/office/drawing/2014/main" id="{81193907-873C-4BA7-9C32-2794814E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Quote delivery jobs by distance, capacity, SLA, and route</a:t>
            </a:r>
          </a:p>
        </p:txBody>
      </p:sp>
      <p:sp>
        <p:nvSpPr>
          <p:cNvPr id="18" name="ra2-line">
            <a:extLst xmlns:a="http://schemas.openxmlformats.org/drawingml/2006/main">
              <a:ext uri="{FF2B5EF4-FFF2-40B4-BE49-F238E27FC236}">
                <a16:creationId xmlns:a16="http://schemas.microsoft.com/office/drawing/2014/main" id="{9FED3893-84B9-46BB-A1A3-5A7B53E3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2-head">
            <a:extLst xmlns:a="http://schemas.openxmlformats.org/drawingml/2006/main">
              <a:ext uri="{FF2B5EF4-FFF2-40B4-BE49-F238E27FC236}">
                <a16:creationId xmlns:a16="http://schemas.microsoft.com/office/drawing/2014/main" id="{A4C5BBBC-98F5-46BE-88BF-CC87AA9C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b2">
            <a:extLst xmlns:a="http://schemas.openxmlformats.org/drawingml/2006/main">
              <a:ext uri="{FF2B5EF4-FFF2-40B4-BE49-F238E27FC236}">
                <a16:creationId xmlns:a16="http://schemas.microsoft.com/office/drawing/2014/main" id="{A5ED57C4-5601-4BFA-BA63-3499D32C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g2-b">
            <a:extLst xmlns:a="http://schemas.openxmlformats.org/drawingml/2006/main">
              <a:ext uri="{FF2B5EF4-FFF2-40B4-BE49-F238E27FC236}">
                <a16:creationId xmlns:a16="http://schemas.microsoft.com/office/drawing/2014/main" id="{9BC62AC0-7D26-45FC-A2A2-9602866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AD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g2-t">
            <a:extLst xmlns:a="http://schemas.openxmlformats.org/drawingml/2006/main">
              <a:ext uri="{FF2B5EF4-FFF2-40B4-BE49-F238E27FC236}">
                <a16:creationId xmlns:a16="http://schemas.microsoft.com/office/drawing/2014/main" id="{A2F7A6B6-2959-4E4A-AAC0-2669BFF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LATER</a:t>
            </a:r>
          </a:p>
        </p:txBody>
      </p:sp>
      <p:sp>
        <p:nvSpPr>
          <p:cNvPr id="23" name="rt2">
            <a:extLst xmlns:a="http://schemas.openxmlformats.org/drawingml/2006/main">
              <a:ext uri="{FF2B5EF4-FFF2-40B4-BE49-F238E27FC236}">
                <a16:creationId xmlns:a16="http://schemas.microsoft.com/office/drawing/2014/main" id="{ACEE7729-1A59-414A-A050-A409A5E8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TAXI MODE</a:t>
            </a:r>
          </a:p>
        </p:txBody>
      </p:sp>
      <p:sp>
        <p:nvSpPr>
          <p:cNvPr id="24" name="rd2">
            <a:extLst xmlns:a="http://schemas.openxmlformats.org/drawingml/2006/main">
              <a:ext uri="{FF2B5EF4-FFF2-40B4-BE49-F238E27FC236}">
                <a16:creationId xmlns:a16="http://schemas.microsoft.com/office/drawing/2014/main" id="{AB5DD2DA-628B-4D2B-B2B3-7457905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Request rides, compare driver-agent offers, escrow and settle</a:t>
            </a:r>
          </a:p>
        </p:txBody>
      </p:sp>
      <p:sp>
        <p:nvSpPr>
          <p:cNvPr id="25" name="rb3">
            <a:extLst xmlns:a="http://schemas.openxmlformats.org/drawingml/2006/main">
              <a:ext uri="{FF2B5EF4-FFF2-40B4-BE49-F238E27FC236}">
                <a16:creationId xmlns:a16="http://schemas.microsoft.com/office/drawing/2014/main" id="{72F69281-8C1A-4CA4-AD0E-B071B762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g3-b">
            <a:extLst xmlns:a="http://schemas.openxmlformats.org/drawingml/2006/main">
              <a:ext uri="{FF2B5EF4-FFF2-40B4-BE49-F238E27FC236}">
                <a16:creationId xmlns:a16="http://schemas.microsoft.com/office/drawing/2014/main" id="{EE2E3DC3-706B-467C-AE64-664762C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g3-t">
            <a:extLst xmlns:a="http://schemas.openxmlformats.org/drawingml/2006/main">
              <a:ext uri="{FF2B5EF4-FFF2-40B4-BE49-F238E27FC236}">
                <a16:creationId xmlns:a16="http://schemas.microsoft.com/office/drawing/2014/main" id="{010E8518-071B-48E1-88E9-CB47ED7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A0D12"/>
                </a:solidFill>
              </a:defRPr>
            </a:pPr>
            <a:r>
              <a:rPr sz="1050" b="1" i="0">
                <a:solidFill>
                  <a:srgbClr val="0A0D12"/>
                </a:solidFill>
              </a:rPr>
              <a:t>LATER</a:t>
            </a:r>
          </a:p>
        </p:txBody>
      </p:sp>
      <p:sp>
        <p:nvSpPr>
          <p:cNvPr id="28" name="rt3">
            <a:extLst xmlns:a="http://schemas.openxmlformats.org/drawingml/2006/main">
              <a:ext uri="{FF2B5EF4-FFF2-40B4-BE49-F238E27FC236}">
                <a16:creationId xmlns:a16="http://schemas.microsoft.com/office/drawing/2014/main" id="{05E281FD-673A-4780-A495-88D99943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LOCAL SERVICES</a:t>
            </a:r>
          </a:p>
        </p:txBody>
      </p:sp>
      <p:sp>
        <p:nvSpPr>
          <p:cNvPr id="29" name="rd3">
            <a:extLst xmlns:a="http://schemas.openxmlformats.org/drawingml/2006/main">
              <a:ext uri="{FF2B5EF4-FFF2-40B4-BE49-F238E27FC236}">
                <a16:creationId xmlns:a16="http://schemas.microsoft.com/office/drawing/2014/main" id="{9136CD35-0324-42C5-9F41-B2C26F50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Repair, cleaning, appointments, and task-based providers</a:t>
            </a:r>
          </a:p>
        </p:txBody>
      </p:sp>
      <p:sp>
        <p:nvSpPr>
          <p:cNvPr id="30" name="mobile">
            <a:extLst xmlns:a="http://schemas.openxmlformats.org/drawingml/2006/main">
              <a:ext uri="{FF2B5EF4-FFF2-40B4-BE49-F238E27FC236}">
                <a16:creationId xmlns:a16="http://schemas.microsoft.com/office/drawing/2014/main" id="{CC08B0F9-24C7-459E-8EBA-3D25722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625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78FF"/>
                </a:solidFill>
              </a:defRPr>
            </a:pPr>
            <a:r>
              <a:rPr sz="1350" b="1" i="0">
                <a:solidFill>
                  <a:srgbClr val="2878FF"/>
                </a:solidFill>
              </a:rPr>
              <a:t>MOBILE APP · NEXT CLIENT LAYER ACROSS EVERY MODE</a:t>
            </a:r>
          </a:p>
        </p:txBody>
      </p:sp>
      <p:sp>
        <p:nvSpPr>
          <p:cNvPr id="31" name="roadnote-bg">
            <a:extLst xmlns:a="http://schemas.openxmlformats.org/drawingml/2006/main">
              <a:ext uri="{FF2B5EF4-FFF2-40B4-BE49-F238E27FC236}">
                <a16:creationId xmlns:a16="http://schemas.microsoft.com/office/drawing/2014/main" id="{15F2B491-9FD7-4623-A503-679466C6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oadnote-tx">
            <a:extLst xmlns:a="http://schemas.openxmlformats.org/drawingml/2006/main">
              <a:ext uri="{FF2B5EF4-FFF2-40B4-BE49-F238E27FC236}">
                <a16:creationId xmlns:a16="http://schemas.microsoft.com/office/drawing/2014/main" id="{90C184BA-5890-4DF2-841E-B08D1FB4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Shared primitive: discover an agent → pay for a quote → accept an offer → escrow value → release on verified completion.</a:t>
            </a:r>
          </a:p>
        </p:txBody>
      </p:sp>
      <p:sp>
        <p:nvSpPr>
          <p:cNvPr id="33" name="future">
            <a:extLst xmlns:a="http://schemas.openxmlformats.org/drawingml/2006/main">
              <a:ext uri="{FF2B5EF4-FFF2-40B4-BE49-F238E27FC236}">
                <a16:creationId xmlns:a16="http://schemas.microsoft.com/office/drawing/2014/main" id="{927A0A57-D523-4C73-BCA3-87CB44C5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4A4A"/>
                </a:solidFill>
              </a:defRPr>
            </a:pPr>
            <a:r>
              <a:rPr sz="1200" b="1" i="0">
                <a:solidFill>
                  <a:srgbClr val="D94A4A"/>
                </a:solidFill>
              </a:rPr>
              <a:t>Courier, taxi, services, and mobile are product direction — not part of the current MVP claim.</a:t>
            </a:r>
          </a:p>
        </p:txBody>
      </p:sp>
      <p:sp>
        <p:nvSpPr>
          <p:cNvPr id="34" name="foot">
            <a:extLst xmlns:a="http://schemas.openxmlformats.org/drawingml/2006/main">
              <a:ext uri="{FF2B5EF4-FFF2-40B4-BE49-F238E27FC236}">
                <a16:creationId xmlns:a16="http://schemas.microsoft.com/office/drawing/2014/main" id="{1CE4C5E7-471C-4D35-8205-51C1090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82070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3CEFEC1D-641F-45DC-AE09-88E2829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61CD80-6A8E-4148-8A62-23D3FE1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A deliberate web-first choice, not a mobile gap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D3159C6-BF8E-484B-AAA3-D28782E3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f-bg0">
            <a:extLst xmlns:a="http://schemas.openxmlformats.org/drawingml/2006/main">
              <a:ext uri="{FF2B5EF4-FFF2-40B4-BE49-F238E27FC236}">
                <a16:creationId xmlns:a16="http://schemas.microsoft.com/office/drawing/2014/main" id="{6571086E-077B-4D53-9D65-3EA23C06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f-a0">
            <a:extLst xmlns:a="http://schemas.openxmlformats.org/drawingml/2006/main">
              <a:ext uri="{FF2B5EF4-FFF2-40B4-BE49-F238E27FC236}">
                <a16:creationId xmlns:a16="http://schemas.microsoft.com/office/drawing/2014/main" id="{6C020886-2428-41E4-8BEC-63F2A80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f-n0">
            <a:extLst xmlns:a="http://schemas.openxmlformats.org/drawingml/2006/main">
              <a:ext uri="{FF2B5EF4-FFF2-40B4-BE49-F238E27FC236}">
                <a16:creationId xmlns:a16="http://schemas.microsoft.com/office/drawing/2014/main" id="{A653B1F1-1D1E-4002-A3EC-BE88430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878FF"/>
                </a:solidFill>
              </a:defRPr>
            </a:pPr>
            <a:r>
              <a:rPr sz="1875" b="1" i="0">
                <a:solidFill>
                  <a:srgbClr val="2878FF"/>
                </a:solidFill>
              </a:rPr>
              <a:t>01</a:t>
            </a:r>
          </a:p>
        </p:txBody>
      </p:sp>
      <p:sp>
        <p:nvSpPr>
          <p:cNvPr id="7" name="wf-h0">
            <a:extLst xmlns:a="http://schemas.openxmlformats.org/drawingml/2006/main">
              <a:ext uri="{FF2B5EF4-FFF2-40B4-BE49-F238E27FC236}">
                <a16:creationId xmlns:a16="http://schemas.microsoft.com/office/drawing/2014/main" id="{8B74904A-5CED-4A3F-8CCD-7B885EC7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0D12"/>
                </a:solidFill>
              </a:defRPr>
            </a:pPr>
            <a:r>
              <a:rPr sz="1500" b="1" i="0">
                <a:solidFill>
                  <a:srgbClr val="0A0D12"/>
                </a:solidFill>
              </a:rPr>
              <a:t>WHY WEB FIRST</a:t>
            </a:r>
          </a:p>
        </p:txBody>
      </p:sp>
      <p:sp>
        <p:nvSpPr>
          <p:cNvPr id="8" name="wf-b0">
            <a:extLst xmlns:a="http://schemas.openxmlformats.org/drawingml/2006/main">
              <a:ext uri="{FF2B5EF4-FFF2-40B4-BE49-F238E27FC236}">
                <a16:creationId xmlns:a16="http://schemas.microsoft.com/office/drawing/2014/main" id="{A3C99221-8F3F-4972-9597-B8343BF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Fastest path to a real, end-to-end Solana Devnet demo within the hackathon window. Wallet Adapter and browser Phantom integration are mature, and judges can review it from one URL with zero install.</a:t>
            </a:r>
          </a:p>
        </p:txBody>
      </p:sp>
      <p:sp>
        <p:nvSpPr>
          <p:cNvPr id="9" name="wf-bg1">
            <a:extLst xmlns:a="http://schemas.openxmlformats.org/drawingml/2006/main">
              <a:ext uri="{FF2B5EF4-FFF2-40B4-BE49-F238E27FC236}">
                <a16:creationId xmlns:a16="http://schemas.microsoft.com/office/drawing/2014/main" id="{BC19A823-1658-48DA-A193-F1F3FD58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f-a1">
            <a:extLst xmlns:a="http://schemas.openxmlformats.org/drawingml/2006/main">
              <a:ext uri="{FF2B5EF4-FFF2-40B4-BE49-F238E27FC236}">
                <a16:creationId xmlns:a16="http://schemas.microsoft.com/office/drawing/2014/main" id="{6ED1F0E9-04AC-4688-A61F-DFECBD9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f-n1">
            <a:extLst xmlns:a="http://schemas.openxmlformats.org/drawingml/2006/main">
              <a:ext uri="{FF2B5EF4-FFF2-40B4-BE49-F238E27FC236}">
                <a16:creationId xmlns:a16="http://schemas.microsoft.com/office/drawing/2014/main" id="{2FAE4300-9E65-4FA3-81FB-9B1C1B5C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478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3A276"/>
                </a:solidFill>
              </a:defRPr>
            </a:pPr>
            <a:r>
              <a:rPr sz="1875" b="1" i="0">
                <a:solidFill>
                  <a:srgbClr val="13A276"/>
                </a:solidFill>
              </a:rPr>
              <a:t>02</a:t>
            </a:r>
          </a:p>
        </p:txBody>
      </p:sp>
      <p:sp>
        <p:nvSpPr>
          <p:cNvPr id="12" name="wf-h1">
            <a:extLst xmlns:a="http://schemas.openxmlformats.org/drawingml/2006/main">
              <a:ext uri="{FF2B5EF4-FFF2-40B4-BE49-F238E27FC236}">
                <a16:creationId xmlns:a16="http://schemas.microsoft.com/office/drawing/2014/main" id="{DEA5FB06-0B1E-4BDE-93BC-A8564D25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717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0D12"/>
                </a:solidFill>
              </a:defRPr>
            </a:pPr>
            <a:r>
              <a:rPr sz="1500" b="1" i="0">
                <a:solidFill>
                  <a:srgbClr val="0A0D12"/>
                </a:solidFill>
              </a:rPr>
              <a:t>THE PROBLEM IS MOBILE-NATIVE</a:t>
            </a:r>
          </a:p>
        </p:txBody>
      </p:sp>
      <p:sp>
        <p:nvSpPr>
          <p:cNvPr id="13" name="wf-b1">
            <a:extLst xmlns:a="http://schemas.openxmlformats.org/drawingml/2006/main">
              <a:ext uri="{FF2B5EF4-FFF2-40B4-BE49-F238E27FC236}">
                <a16:creationId xmlns:a16="http://schemas.microsoft.com/office/drawing/2014/main" id="{FB9BE006-703F-4940-A5CA-73EB858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861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Discovering nearby merchants, approving a pickup in person, and walking to the shop belong on a phone in the user’s hand — not a desktop.</a:t>
            </a:r>
          </a:p>
        </p:txBody>
      </p:sp>
      <p:sp>
        <p:nvSpPr>
          <p:cNvPr id="14" name="wf-bg2">
            <a:extLst xmlns:a="http://schemas.openxmlformats.org/drawingml/2006/main">
              <a:ext uri="{FF2B5EF4-FFF2-40B4-BE49-F238E27FC236}">
                <a16:creationId xmlns:a16="http://schemas.microsoft.com/office/drawing/2014/main" id="{1FD8062B-12BB-42E7-8BE5-8D9B0BAE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f-a2">
            <a:extLst xmlns:a="http://schemas.openxmlformats.org/drawingml/2006/main">
              <a:ext uri="{FF2B5EF4-FFF2-40B4-BE49-F238E27FC236}">
                <a16:creationId xmlns:a16="http://schemas.microsoft.com/office/drawing/2014/main" id="{E5113101-F828-4E84-B6B4-3B666462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f-n2">
            <a:extLst xmlns:a="http://schemas.openxmlformats.org/drawingml/2006/main">
              <a:ext uri="{FF2B5EF4-FFF2-40B4-BE49-F238E27FC236}">
                <a16:creationId xmlns:a16="http://schemas.microsoft.com/office/drawing/2014/main" id="{34B76163-02DE-4A72-B2DF-3E45BC3D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478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67D5EA"/>
                </a:solidFill>
              </a:defRPr>
            </a:pPr>
            <a:r>
              <a:rPr sz="1875" b="1" i="0">
                <a:solidFill>
                  <a:srgbClr val="67D5EA"/>
                </a:solidFill>
              </a:rPr>
              <a:t>03</a:t>
            </a:r>
          </a:p>
        </p:txBody>
      </p:sp>
      <p:sp>
        <p:nvSpPr>
          <p:cNvPr id="17" name="wf-h2">
            <a:extLst xmlns:a="http://schemas.openxmlformats.org/drawingml/2006/main">
              <a:ext uri="{FF2B5EF4-FFF2-40B4-BE49-F238E27FC236}">
                <a16:creationId xmlns:a16="http://schemas.microsoft.com/office/drawing/2014/main" id="{DD43A65E-C248-428C-9796-01AF54C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0D12"/>
                </a:solidFill>
              </a:defRPr>
            </a:pPr>
            <a:r>
              <a:rPr sz="1500" b="1" i="0">
                <a:solidFill>
                  <a:srgbClr val="0A0D12"/>
                </a:solidFill>
              </a:rPr>
              <a:t>WHAT PORTS DIRECTLY</a:t>
            </a:r>
          </a:p>
        </p:txBody>
      </p:sp>
      <p:sp>
        <p:nvSpPr>
          <p:cNvPr id="18" name="wf-b2">
            <a:extLst xmlns:a="http://schemas.openxmlformats.org/drawingml/2006/main">
              <a:ext uri="{FF2B5EF4-FFF2-40B4-BE49-F238E27FC236}">
                <a16:creationId xmlns:a16="http://schemas.microsoft.com/office/drawing/2014/main" id="{3299B107-6823-4E01-A4DA-4B3625A2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861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70"/>
                </a:solidFill>
              </a:defRPr>
            </a:pPr>
            <a:r>
              <a:rPr sz="1275" b="0" i="0">
                <a:solidFill>
                  <a:srgbClr val="596170"/>
                </a:solidFill>
              </a:rPr>
              <a:t>The same personal-agent and merchant-agent APIs and the same Wallet Adapter pattern remain. A React Native / Expo client reuses the backend as-is: a new client, not a rewrite.</a:t>
            </a:r>
          </a:p>
        </p:txBody>
      </p:sp>
      <p:sp>
        <p:nvSpPr>
          <p:cNvPr id="19" name="mobile-note">
            <a:extLst xmlns:a="http://schemas.openxmlformats.org/drawingml/2006/main">
              <a:ext uri="{FF2B5EF4-FFF2-40B4-BE49-F238E27FC236}">
                <a16:creationId xmlns:a16="http://schemas.microsoft.com/office/drawing/2014/main" id="{D0288F74-2AC8-4DB4-B894-AEAFBE72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1025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D94A4A"/>
                </a:solidFill>
              </a:defRPr>
            </a:pPr>
            <a:r>
              <a:rPr sz="1275" b="1" i="1">
                <a:solidFill>
                  <a:srgbClr val="D94A4A"/>
                </a:solidFill>
              </a:rPr>
              <a:t>Mobile is the next client target — not part of the current MVP claim.</a:t>
            </a:r>
          </a:p>
        </p:txBody>
      </p:sp>
      <p:sp>
        <p:nvSpPr>
          <p:cNvPr id="20" name="foot">
            <a:extLst xmlns:a="http://schemas.openxmlformats.org/drawingml/2006/main">
              <a:ext uri="{FF2B5EF4-FFF2-40B4-BE49-F238E27FC236}">
                <a16:creationId xmlns:a16="http://schemas.microsoft.com/office/drawing/2014/main" id="{1DFCBA88-C5D1-4D71-A234-C8AB781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5168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04C5E583-C780-4218-A6F1-2F10AAAF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8FF"/>
                </a:solidFill>
              </a:defRPr>
            </a:pPr>
            <a:r>
              <a:rPr sz="975" b="1" i="0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28CFC2-D445-45A3-B14E-FCDE4862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0D12"/>
                </a:solidFill>
              </a:defRPr>
            </a:pPr>
            <a:r>
              <a:rPr sz="2850" b="1" i="0">
                <a:solidFill>
                  <a:srgbClr val="0A0D12"/>
                </a:solidFill>
              </a:rPr>
              <a:t>GitHub-ready MVP today; public pilot after deployment hardening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4F2DBD8-2B99-4118-A693-054301E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y">
            <a:extLst xmlns:a="http://schemas.openxmlformats.org/drawingml/2006/main">
              <a:ext uri="{FF2B5EF4-FFF2-40B4-BE49-F238E27FC236}">
                <a16:creationId xmlns:a16="http://schemas.microsoft.com/office/drawing/2014/main" id="{E08D6726-F6EE-4DE1-9543-C5D731FC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A276"/>
                </a:solidFill>
              </a:defRPr>
            </a:pPr>
            <a:r>
              <a:rPr sz="1275" b="1" i="0">
                <a:solidFill>
                  <a:srgbClr val="13A276"/>
                </a:solidFill>
              </a:rPr>
              <a:t>WORKING TODAY</a:t>
            </a:r>
          </a:p>
        </p:txBody>
      </p:sp>
      <p:sp>
        <p:nvSpPr>
          <p:cNvPr id="5" name="rb">
            <a:extLst xmlns:a="http://schemas.openxmlformats.org/drawingml/2006/main">
              <a:ext uri="{FF2B5EF4-FFF2-40B4-BE49-F238E27FC236}">
                <a16:creationId xmlns:a16="http://schemas.microsoft.com/office/drawing/2014/main" id="{D521D1FF-52DF-4904-8AFB-717F87FC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Solana wallet sign-in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Merchant onboarding + inventory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Agent-assisted basket planning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x402-style paid quote collection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Signed quote comparison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Merchant acceptance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Buyer-funded Devnet escrow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✓ Pickup release + refund/dispute paths</a:t>
            </a:r>
          </a:p>
        </p:txBody>
      </p:sp>
      <p:sp>
        <p:nvSpPr>
          <p:cNvPr id="6" name="publish">
            <a:extLst xmlns:a="http://schemas.openxmlformats.org/drawingml/2006/main">
              <a:ext uri="{FF2B5EF4-FFF2-40B4-BE49-F238E27FC236}">
                <a16:creationId xmlns:a16="http://schemas.microsoft.com/office/drawing/2014/main" id="{66BCC30B-AA06-4770-8D05-73DFDFA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878FF"/>
                </a:solidFill>
              </a:defRPr>
            </a:pPr>
            <a:r>
              <a:rPr sz="1275" b="1" i="0">
                <a:solidFill>
                  <a:srgbClr val="2878FF"/>
                </a:solidFill>
              </a:rPr>
              <a:t>TO PUBLISH AS A PUBLIC PILOT</a:t>
            </a:r>
          </a:p>
        </p:txBody>
      </p:sp>
      <p:sp>
        <p:nvSpPr>
          <p:cNvPr id="7" name="pb">
            <a:extLst xmlns:a="http://schemas.openxmlformats.org/drawingml/2006/main">
              <a:ext uri="{FF2B5EF4-FFF2-40B4-BE49-F238E27FC236}">
                <a16:creationId xmlns:a16="http://schemas.microsoft.com/office/drawing/2014/main" id="{8C21A7FC-8C31-471D-BD12-166BA0B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1. Deploy web + three APIs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2. Provision Postgres and Redis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3. Configure Devnet RPC, USDC mint, and secrets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4. Run external-wallet smoke tests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5. Add monitoring and rate limits</a:t>
            </a:r>
          </a:p>
          <a:p xmlns:a="http://schemas.openxmlformats.org/drawingml/2006/main">
            <a:pPr algn="l">
              <a:defRPr sz="1575" b="1" i="0">
                <a:solidFill>
                  <a:srgbClr val="0A0D12"/>
                </a:solidFill>
              </a:defRPr>
            </a:pPr>
            <a:r>
              <a:rPr sz="1575" b="1" i="0">
                <a:solidFill>
                  <a:srgbClr val="0A0D12"/>
                </a:solidFill>
              </a:rPr>
              <a:t>6. Record a short fallback demo</a:t>
            </a:r>
          </a:p>
        </p:txBody>
      </p:sp>
      <p:sp>
        <p:nvSpPr>
          <p:cNvPr id="8" name="cta">
            <a:extLst xmlns:a="http://schemas.openxmlformats.org/drawingml/2006/main">
              <a:ext uri="{FF2B5EF4-FFF2-40B4-BE49-F238E27FC236}">
                <a16:creationId xmlns:a16="http://schemas.microsoft.com/office/drawing/2014/main" id="{02CBB4B0-6B9F-4E61-A199-EAB84DE0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tat">
            <a:extLst xmlns:a="http://schemas.openxmlformats.org/drawingml/2006/main">
              <a:ext uri="{FF2B5EF4-FFF2-40B4-BE49-F238E27FC236}">
                <a16:creationId xmlns:a16="http://schemas.microsoft.com/office/drawing/2014/main" id="{AB2ABACE-31EB-4599-A0C5-6DA52A2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054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MerchantMesh turns local businesses into autonomous, payable commerce agents.</a:t>
            </a:r>
          </a:p>
        </p:txBody>
      </p:sp>
      <p:sp>
        <p:nvSpPr>
          <p:cNvPr id="10" name="foot">
            <a:extLst xmlns:a="http://schemas.openxmlformats.org/drawingml/2006/main">
              <a:ext uri="{FF2B5EF4-FFF2-40B4-BE49-F238E27FC236}">
                <a16:creationId xmlns:a16="http://schemas.microsoft.com/office/drawing/2014/main" id="{FEC4A80D-F4FB-43DB-B029-44FCC33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96170"/>
                </a:solidFill>
              </a:defRPr>
            </a:pPr>
            <a:r>
              <a:rPr sz="975" b="1" i="0">
                <a:solidFill>
                  <a:srgbClr val="59617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66588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2026-08-13T16:57:37.3300000Z</dcterms:created>
  <dcterms:modified xsi:type="dcterms:W3CDTF">2026-08-13T16:57:37.3300000Z</dcterms:modified>
</coreProperties>
</file>